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5.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70"/>
  </p:notesMasterIdLst>
  <p:handoutMasterIdLst>
    <p:handoutMasterId r:id="rId71"/>
  </p:handoutMasterIdLst>
  <p:sldIdLst>
    <p:sldId id="257" r:id="rId2"/>
    <p:sldId id="314" r:id="rId3"/>
    <p:sldId id="271" r:id="rId4"/>
    <p:sldId id="316" r:id="rId5"/>
    <p:sldId id="272" r:id="rId6"/>
    <p:sldId id="273" r:id="rId7"/>
    <p:sldId id="274" r:id="rId8"/>
    <p:sldId id="275"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4" r:id="rId53"/>
    <p:sldId id="365" r:id="rId54"/>
    <p:sldId id="366" r:id="rId55"/>
    <p:sldId id="367" r:id="rId56"/>
    <p:sldId id="368" r:id="rId57"/>
    <p:sldId id="369" r:id="rId58"/>
    <p:sldId id="370" r:id="rId59"/>
    <p:sldId id="371" r:id="rId60"/>
    <p:sldId id="372" r:id="rId61"/>
    <p:sldId id="373" r:id="rId62"/>
    <p:sldId id="374" r:id="rId63"/>
    <p:sldId id="375" r:id="rId64"/>
    <p:sldId id="360" r:id="rId65"/>
    <p:sldId id="361" r:id="rId66"/>
    <p:sldId id="362" r:id="rId67"/>
    <p:sldId id="363" r:id="rId68"/>
    <p:sldId id="269"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invertIfNegative val="1"/>
          <c:dPt>
            <c:idx val="0"/>
            <c:invertIfNegative val="1"/>
            <c:bubble3D val="0"/>
            <c:spPr>
              <a:solidFill>
                <a:srgbClr val="BFBFBF"/>
              </a:solidFill>
            </c:spPr>
            <c:extLst>
              <c:ext xmlns:c16="http://schemas.microsoft.com/office/drawing/2014/chart" uri="{C3380CC4-5D6E-409C-BE32-E72D297353CC}">
                <c16:uniqueId val="{00000001-2CC3-40E0-9FA2-474B8F05B19B}"/>
              </c:ext>
            </c:extLst>
          </c:dPt>
          <c:dPt>
            <c:idx val="1"/>
            <c:invertIfNegative val="1"/>
            <c:bubble3D val="0"/>
            <c:spPr>
              <a:solidFill>
                <a:srgbClr val="BFBFBF"/>
              </a:solidFill>
            </c:spPr>
            <c:extLst>
              <c:ext xmlns:c16="http://schemas.microsoft.com/office/drawing/2014/chart" uri="{C3380CC4-5D6E-409C-BE32-E72D297353CC}">
                <c16:uniqueId val="{00000003-2CC3-40E0-9FA2-474B8F05B19B}"/>
              </c:ext>
            </c:extLst>
          </c:dPt>
          <c:dPt>
            <c:idx val="2"/>
            <c:invertIfNegative val="1"/>
            <c:bubble3D val="0"/>
            <c:spPr>
              <a:solidFill>
                <a:srgbClr val="C02034"/>
              </a:solidFill>
            </c:spPr>
            <c:extLst>
              <c:ext xmlns:c16="http://schemas.microsoft.com/office/drawing/2014/chart" uri="{C3380CC4-5D6E-409C-BE32-E72D297353CC}">
                <c16:uniqueId val="{00000005-2CC3-40E0-9FA2-474B8F05B19B}"/>
              </c:ext>
            </c:extLst>
          </c:dPt>
          <c:dLbls>
            <c:dLbl>
              <c:idx val="0"/>
              <c:tx>
                <c:rich>
                  <a:bodyPr/>
                  <a:lstStyle/>
                  <a:p>
                    <a:r>
                      <a:rPr lang="en-US" sz="1600" b="1">
                        <a:solidFill>
                          <a:srgbClr val="7F7F7F"/>
                        </a:solidFill>
                        <a:latin typeface="Lato"/>
                      </a:rPr>
                      <a:t>+2.84pp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CC3-40E0-9FA2-474B8F05B19B}"/>
                </c:ext>
              </c:extLst>
            </c:dLbl>
            <c:dLbl>
              <c:idx val="1"/>
              <c:tx>
                <c:rich>
                  <a:bodyPr/>
                  <a:lstStyle/>
                  <a:p>
                    <a:r>
                      <a:rPr lang="en-US" sz="1600" b="1">
                        <a:solidFill>
                          <a:srgbClr val="7F7F7F"/>
                        </a:solidFill>
                        <a:latin typeface="Lato"/>
                      </a:rPr>
                      <a:t>+2.50pp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CC3-40E0-9FA2-474B8F05B19B}"/>
                </c:ext>
              </c:extLst>
            </c:dLbl>
            <c:dLbl>
              <c:idx val="2"/>
              <c:tx>
                <c:rich>
                  <a:bodyPr/>
                  <a:lstStyle/>
                  <a:p>
                    <a:r>
                      <a:rPr lang="en-US" sz="1600" b="1">
                        <a:solidFill>
                          <a:srgbClr val="C02034"/>
                        </a:solidFill>
                        <a:latin typeface="Lato"/>
                      </a:rPr>
                      <a:t>+0.34pp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CC3-40E0-9FA2-474B8F05B1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Cải thiện khi thêm slope</c:v>
                </c:pt>
                <c:pt idx="1">
                  <c:v>Control: slope trên chuỗi đã xáo thứ tự rep</c:v>
                </c:pt>
                <c:pt idx="2">
                  <c:v>Phần thật</c:v>
                </c:pt>
              </c:strCache>
            </c:strRef>
          </c:cat>
          <c:val>
            <c:numRef>
              <c:f>Sheet1!$B$2:$B$4</c:f>
              <c:numCache>
                <c:formatCode>General</c:formatCode>
                <c:ptCount val="3"/>
                <c:pt idx="0">
                  <c:v>2.84</c:v>
                </c:pt>
                <c:pt idx="1">
                  <c:v>2.5</c:v>
                </c:pt>
                <c:pt idx="2">
                  <c:v>0.34</c:v>
                </c:pt>
              </c:numCache>
            </c:numRef>
          </c:val>
          <c:extLst>
            <c:ext xmlns:c16="http://schemas.microsoft.com/office/drawing/2014/chart" uri="{C3380CC4-5D6E-409C-BE32-E72D297353CC}">
              <c16:uniqueId val="{00000006-2CC3-40E0-9FA2-474B8F05B19B}"/>
            </c:ext>
          </c:extLst>
        </c:ser>
        <c:dLbls>
          <c:showLegendKey val="0"/>
          <c:showVal val="0"/>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5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3.6"/>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invertIfNegative val="1"/>
          <c:dPt>
            <c:idx val="0"/>
            <c:invertIfNegative val="1"/>
            <c:bubble3D val="0"/>
            <c:spPr>
              <a:solidFill>
                <a:srgbClr val="BFBFBF"/>
              </a:solidFill>
            </c:spPr>
            <c:extLst>
              <c:ext xmlns:c16="http://schemas.microsoft.com/office/drawing/2014/chart" uri="{C3380CC4-5D6E-409C-BE32-E72D297353CC}">
                <c16:uniqueId val="{00000001-D0AA-4C27-876C-EE82FE5ECDBC}"/>
              </c:ext>
            </c:extLst>
          </c:dPt>
          <c:dPt>
            <c:idx val="1"/>
            <c:invertIfNegative val="1"/>
            <c:bubble3D val="0"/>
            <c:spPr>
              <a:solidFill>
                <a:srgbClr val="BFBFBF"/>
              </a:solidFill>
            </c:spPr>
            <c:extLst>
              <c:ext xmlns:c16="http://schemas.microsoft.com/office/drawing/2014/chart" uri="{C3380CC4-5D6E-409C-BE32-E72D297353CC}">
                <c16:uniqueId val="{00000003-D0AA-4C27-876C-EE82FE5ECDBC}"/>
              </c:ext>
            </c:extLst>
          </c:dPt>
          <c:dPt>
            <c:idx val="2"/>
            <c:invertIfNegative val="1"/>
            <c:bubble3D val="0"/>
            <c:spPr>
              <a:solidFill>
                <a:srgbClr val="C02034"/>
              </a:solidFill>
            </c:spPr>
            <c:extLst>
              <c:ext xmlns:c16="http://schemas.microsoft.com/office/drawing/2014/chart" uri="{C3380CC4-5D6E-409C-BE32-E72D297353CC}">
                <c16:uniqueId val="{00000005-D0AA-4C27-876C-EE82FE5ECDBC}"/>
              </c:ext>
            </c:extLst>
          </c:dPt>
          <c:dPt>
            <c:idx val="3"/>
            <c:invertIfNegative val="1"/>
            <c:bubble3D val="0"/>
            <c:spPr>
              <a:solidFill>
                <a:srgbClr val="BFBFBF"/>
              </a:solidFill>
            </c:spPr>
            <c:extLst>
              <c:ext xmlns:c16="http://schemas.microsoft.com/office/drawing/2014/chart" uri="{C3380CC4-5D6E-409C-BE32-E72D297353CC}">
                <c16:uniqueId val="{00000007-D0AA-4C27-876C-EE82FE5ECDBC}"/>
              </c:ext>
            </c:extLst>
          </c:dPt>
          <c:dPt>
            <c:idx val="4"/>
            <c:invertIfNegative val="1"/>
            <c:bubble3D val="0"/>
            <c:spPr>
              <a:solidFill>
                <a:srgbClr val="1F3864"/>
              </a:solidFill>
            </c:spPr>
            <c:extLst>
              <c:ext xmlns:c16="http://schemas.microsoft.com/office/drawing/2014/chart" uri="{C3380CC4-5D6E-409C-BE32-E72D297353CC}">
                <c16:uniqueId val="{00000009-D0AA-4C27-876C-EE82FE5ECDBC}"/>
              </c:ext>
            </c:extLst>
          </c:dPt>
          <c:dLbls>
            <c:dLbl>
              <c:idx val="0"/>
              <c:tx>
                <c:rich>
                  <a:bodyPr/>
                  <a:lstStyle/>
                  <a:p>
                    <a:r>
                      <a:rPr sz="1600" b="1">
                        <a:solidFill>
                          <a:srgbClr val="7F7F7F"/>
                        </a:solidFill>
                        <a:latin typeface="Lato"/>
                      </a:rPr>
                      <a:t>27.76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0AA-4C27-876C-EE82FE5ECDBC}"/>
                </c:ext>
              </c:extLst>
            </c:dLbl>
            <c:dLbl>
              <c:idx val="2"/>
              <c:tx>
                <c:rich>
                  <a:bodyPr/>
                  <a:lstStyle/>
                  <a:p>
                    <a:r>
                      <a:rPr sz="1600" b="1">
                        <a:solidFill>
                          <a:srgbClr val="C02034"/>
                        </a:solidFill>
                        <a:latin typeface="Lato"/>
                      </a:rPr>
                      <a:t>24.33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0AA-4C27-876C-EE82FE5ECDBC}"/>
                </c:ext>
              </c:extLst>
            </c:dLbl>
            <c:dLbl>
              <c:idx val="4"/>
              <c:tx>
                <c:rich>
                  <a:bodyPr/>
                  <a:lstStyle/>
                  <a:p>
                    <a:r>
                      <a:rPr sz="1600" b="1">
                        <a:solidFill>
                          <a:srgbClr val="1F3864"/>
                        </a:solidFill>
                        <a:latin typeface="Lato"/>
                      </a:rPr>
                      <a:t>19.41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0AA-4C27-876C-EE82FE5ECDB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Naive baseline</c:v>
                </c:pt>
                <c:pt idx="1">
                  <c:v>4 đặc trưng của C1, không chuẩn hoá</c:v>
                </c:pt>
                <c:pt idx="2">
                  <c:v>sEMG, cấu hình chính</c:v>
                </c:pt>
                <c:pt idx="3">
                  <c:v>Rep-count baseline (k)</c:v>
                </c:pt>
                <c:pt idx="4">
                  <c:v>Rep-count baseline (k, cơ)</c:v>
                </c:pt>
              </c:strCache>
            </c:strRef>
          </c:cat>
          <c:val>
            <c:numRef>
              <c:f>Sheet1!$B$2:$B$6</c:f>
              <c:numCache>
                <c:formatCode>General</c:formatCode>
                <c:ptCount val="5"/>
                <c:pt idx="0">
                  <c:v>27.76</c:v>
                </c:pt>
                <c:pt idx="1">
                  <c:v>27.72</c:v>
                </c:pt>
                <c:pt idx="2">
                  <c:v>24.33</c:v>
                </c:pt>
                <c:pt idx="3">
                  <c:v>21.34</c:v>
                </c:pt>
                <c:pt idx="4">
                  <c:v>19.41</c:v>
                </c:pt>
              </c:numCache>
            </c:numRef>
          </c:val>
          <c:extLst>
            <c:ext xmlns:c16="http://schemas.microsoft.com/office/drawing/2014/chart" uri="{C3380CC4-5D6E-409C-BE32-E72D297353CC}">
              <c16:uniqueId val="{0000000A-D0AA-4C27-876C-EE82FE5ECDBC}"/>
            </c:ext>
          </c:extLst>
        </c:ser>
        <c:dLbls>
          <c:showLegendKey val="0"/>
          <c:showVal val="0"/>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5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31"/>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Tốt hơn naive (%)</c:v>
                </c:pt>
              </c:strCache>
            </c:strRef>
          </c:tx>
          <c:invertIfNegative val="0"/>
          <c:dPt>
            <c:idx val="0"/>
            <c:invertIfNegative val="0"/>
            <c:bubble3D val="0"/>
            <c:spPr>
              <a:solidFill>
                <a:srgbClr val="C02034"/>
              </a:solidFill>
            </c:spPr>
            <c:extLst>
              <c:ext xmlns:c16="http://schemas.microsoft.com/office/drawing/2014/chart" uri="{C3380CC4-5D6E-409C-BE32-E72D297353CC}">
                <c16:uniqueId val="{00000001-60CB-4A77-8589-BDF7025D031F}"/>
              </c:ext>
            </c:extLst>
          </c:dPt>
          <c:dPt>
            <c:idx val="1"/>
            <c:invertIfNegative val="0"/>
            <c:bubble3D val="0"/>
            <c:spPr>
              <a:solidFill>
                <a:srgbClr val="1F3864"/>
              </a:solidFill>
            </c:spPr>
            <c:extLst>
              <c:ext xmlns:c16="http://schemas.microsoft.com/office/drawing/2014/chart" uri="{C3380CC4-5D6E-409C-BE32-E72D297353CC}">
                <c16:uniqueId val="{00000003-60CB-4A77-8589-BDF7025D031F}"/>
              </c:ext>
            </c:extLst>
          </c:dPt>
          <c:dLbls>
            <c:dLbl>
              <c:idx val="0"/>
              <c:tx>
                <c:rich>
                  <a:bodyPr/>
                  <a:lstStyle/>
                  <a:p>
                    <a:r>
                      <a:rPr sz="1600" b="1">
                        <a:solidFill>
                          <a:srgbClr val="C02034"/>
                        </a:solidFill>
                        <a:latin typeface="Lato"/>
                      </a:rPr>
                      <a:t>+9.36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0CB-4A77-8589-BDF7025D031F}"/>
                </c:ext>
              </c:extLst>
            </c:dLbl>
            <c:dLbl>
              <c:idx val="1"/>
              <c:tx>
                <c:rich>
                  <a:bodyPr/>
                  <a:lstStyle/>
                  <a:p>
                    <a:r>
                      <a:rPr sz="1600" b="1">
                        <a:solidFill>
                          <a:srgbClr val="1F3864"/>
                        </a:solidFill>
                        <a:latin typeface="Lato"/>
                      </a:rPr>
                      <a:t>−10.62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0CB-4A77-8589-BDF7025D031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sEMG, cấu hình chính</c:v>
                </c:pt>
                <c:pt idx="1">
                  <c:v>Rep-count (k, cơ)</c:v>
                </c:pt>
              </c:strCache>
            </c:strRef>
          </c:cat>
          <c:val>
            <c:numRef>
              <c:f>Sheet1!$B$2:$B$3</c:f>
              <c:numCache>
                <c:formatCode>General</c:formatCode>
                <c:ptCount val="2"/>
                <c:pt idx="0">
                  <c:v>9.36</c:v>
                </c:pt>
                <c:pt idx="1">
                  <c:v>-10.62</c:v>
                </c:pt>
              </c:numCache>
            </c:numRef>
          </c:val>
          <c:extLst>
            <c:ext xmlns:c16="http://schemas.microsoft.com/office/drawing/2014/chart" uri="{C3380CC4-5D6E-409C-BE32-E72D297353CC}">
              <c16:uniqueId val="{00000004-60CB-4A77-8589-BDF7025D031F}"/>
            </c:ext>
          </c:extLst>
        </c:ser>
        <c:dLbls>
          <c:showLegendKey val="0"/>
          <c:showVal val="0"/>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BFBFBF"/>
            </a:solidFill>
          </a:ln>
        </c:spPr>
        <c:txPr>
          <a:bodyPr/>
          <a:lstStyle/>
          <a:p>
            <a:pPr>
              <a:defRPr sz="14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14"/>
          <c:min val="-16"/>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invertIfNegative val="1"/>
          <c:dPt>
            <c:idx val="0"/>
            <c:invertIfNegative val="1"/>
            <c:bubble3D val="0"/>
            <c:spPr>
              <a:solidFill>
                <a:srgbClr val="BFBFBF"/>
              </a:solidFill>
            </c:spPr>
            <c:extLst>
              <c:ext xmlns:c16="http://schemas.microsoft.com/office/drawing/2014/chart" uri="{C3380CC4-5D6E-409C-BE32-E72D297353CC}">
                <c16:uniqueId val="{00000001-C8E7-4492-8501-3DBE29D8532D}"/>
              </c:ext>
            </c:extLst>
          </c:dPt>
          <c:dPt>
            <c:idx val="1"/>
            <c:invertIfNegative val="1"/>
            <c:bubble3D val="0"/>
            <c:spPr>
              <a:solidFill>
                <a:srgbClr val="BFBFBF"/>
              </a:solidFill>
            </c:spPr>
            <c:extLst>
              <c:ext xmlns:c16="http://schemas.microsoft.com/office/drawing/2014/chart" uri="{C3380CC4-5D6E-409C-BE32-E72D297353CC}">
                <c16:uniqueId val="{00000003-C8E7-4492-8501-3DBE29D8532D}"/>
              </c:ext>
            </c:extLst>
          </c:dPt>
          <c:dPt>
            <c:idx val="2"/>
            <c:invertIfNegative val="1"/>
            <c:bubble3D val="0"/>
            <c:spPr>
              <a:solidFill>
                <a:srgbClr val="C02034"/>
              </a:solidFill>
            </c:spPr>
            <c:extLst>
              <c:ext xmlns:c16="http://schemas.microsoft.com/office/drawing/2014/chart" uri="{C3380CC4-5D6E-409C-BE32-E72D297353CC}">
                <c16:uniqueId val="{00000005-C8E7-4492-8501-3DBE29D8532D}"/>
              </c:ext>
            </c:extLst>
          </c:dPt>
          <c:dPt>
            <c:idx val="3"/>
            <c:invertIfNegative val="1"/>
            <c:bubble3D val="0"/>
            <c:spPr>
              <a:solidFill>
                <a:srgbClr val="BFBFBF"/>
              </a:solidFill>
            </c:spPr>
            <c:extLst>
              <c:ext xmlns:c16="http://schemas.microsoft.com/office/drawing/2014/chart" uri="{C3380CC4-5D6E-409C-BE32-E72D297353CC}">
                <c16:uniqueId val="{00000007-C8E7-4492-8501-3DBE29D8532D}"/>
              </c:ext>
            </c:extLst>
          </c:dPt>
          <c:dPt>
            <c:idx val="4"/>
            <c:invertIfNegative val="1"/>
            <c:bubble3D val="0"/>
            <c:spPr>
              <a:solidFill>
                <a:srgbClr val="1F3864"/>
              </a:solidFill>
            </c:spPr>
            <c:extLst>
              <c:ext xmlns:c16="http://schemas.microsoft.com/office/drawing/2014/chart" uri="{C3380CC4-5D6E-409C-BE32-E72D297353CC}">
                <c16:uniqueId val="{00000009-C8E7-4492-8501-3DBE29D8532D}"/>
              </c:ext>
            </c:extLst>
          </c:dPt>
          <c:dLbls>
            <c:dLbl>
              <c:idx val="0"/>
              <c:tx>
                <c:rich>
                  <a:bodyPr/>
                  <a:lstStyle/>
                  <a:p>
                    <a:r>
                      <a:rPr sz="1400" b="1">
                        <a:solidFill>
                          <a:srgbClr val="7F7F7F"/>
                        </a:solidFill>
                        <a:latin typeface="Lato"/>
                      </a:rPr>
                      <a:t>27.76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8E7-4492-8501-3DBE29D8532D}"/>
                </c:ext>
              </c:extLst>
            </c:dLbl>
            <c:dLbl>
              <c:idx val="1"/>
              <c:tx>
                <c:rich>
                  <a:bodyPr/>
                  <a:lstStyle/>
                  <a:p>
                    <a:r>
                      <a:rPr sz="1400" b="1">
                        <a:solidFill>
                          <a:srgbClr val="7F7F7F"/>
                        </a:solidFill>
                        <a:latin typeface="Lato"/>
                      </a:rPr>
                      <a:t>27.17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8E7-4492-8501-3DBE29D8532D}"/>
                </c:ext>
              </c:extLst>
            </c:dLbl>
            <c:dLbl>
              <c:idx val="2"/>
              <c:tx>
                <c:rich>
                  <a:bodyPr/>
                  <a:lstStyle/>
                  <a:p>
                    <a:r>
                      <a:rPr sz="1400" b="1">
                        <a:solidFill>
                          <a:srgbClr val="C02034"/>
                        </a:solidFill>
                        <a:latin typeface="Lato"/>
                      </a:rPr>
                      <a:t>26.35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C8E7-4492-8501-3DBE29D8532D}"/>
                </c:ext>
              </c:extLst>
            </c:dLbl>
            <c:dLbl>
              <c:idx val="3"/>
              <c:tx>
                <c:rich>
                  <a:bodyPr/>
                  <a:lstStyle/>
                  <a:p>
                    <a:r>
                      <a:rPr sz="1400" b="1">
                        <a:solidFill>
                          <a:srgbClr val="7F7F7F"/>
                        </a:solidFill>
                        <a:latin typeface="Lato"/>
                      </a:rPr>
                      <a:t>24.24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8E7-4492-8501-3DBE29D8532D}"/>
                </c:ext>
              </c:extLst>
            </c:dLbl>
            <c:dLbl>
              <c:idx val="4"/>
              <c:tx>
                <c:rich>
                  <a:bodyPr/>
                  <a:lstStyle/>
                  <a:p>
                    <a:r>
                      <a:rPr sz="1400" b="1">
                        <a:solidFill>
                          <a:srgbClr val="1F3864"/>
                        </a:solidFill>
                        <a:latin typeface="Lato"/>
                      </a:rPr>
                      <a:t>19.41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C8E7-4492-8501-3DBE29D8532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Naive baseline</c:v>
                </c:pt>
                <c:pt idx="1">
                  <c:v>sEMG, không chuẩn hoá</c:v>
                </c:pt>
                <c:pt idx="2">
                  <c:v>sEMG, theo MVC</c:v>
                </c:pt>
                <c:pt idx="3">
                  <c:v>sEMG, theo 3 rep tham chiếu</c:v>
                </c:pt>
                <c:pt idx="4">
                  <c:v>Rep-count (k, cơ)</c:v>
                </c:pt>
              </c:strCache>
            </c:strRef>
          </c:cat>
          <c:val>
            <c:numRef>
              <c:f>Sheet1!$B$2:$B$6</c:f>
              <c:numCache>
                <c:formatCode>General</c:formatCode>
                <c:ptCount val="5"/>
                <c:pt idx="0">
                  <c:v>27.76</c:v>
                </c:pt>
                <c:pt idx="1">
                  <c:v>27.17</c:v>
                </c:pt>
                <c:pt idx="2">
                  <c:v>26.35</c:v>
                </c:pt>
                <c:pt idx="3">
                  <c:v>24.24</c:v>
                </c:pt>
                <c:pt idx="4">
                  <c:v>19.41</c:v>
                </c:pt>
              </c:numCache>
            </c:numRef>
          </c:val>
          <c:extLst>
            <c:ext xmlns:c16="http://schemas.microsoft.com/office/drawing/2014/chart" uri="{C3380CC4-5D6E-409C-BE32-E72D297353CC}">
              <c16:uniqueId val="{0000000A-C8E7-4492-8501-3DBE29D8532D}"/>
            </c:ext>
          </c:extLst>
        </c:ser>
        <c:dLbls>
          <c:showLegendKey val="0"/>
          <c:showVal val="0"/>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3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33"/>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Naive baseline</c:v>
                </c:pt>
              </c:strCache>
            </c:strRef>
          </c:tx>
          <c:spPr>
            <a:solidFill>
              <a:srgbClr val="BFBFBF"/>
            </a:solidFill>
          </c:spPr>
          <c:invertIfNegative val="1"/>
          <c:cat>
            <c:strRef>
              <c:f>Sheet1!$A$2:$A$5</c:f>
              <c:strCache>
                <c:ptCount val="4"/>
                <c:pt idx="0">
                  <c:v>Zenodo, bình thường</c:v>
                </c:pt>
                <c:pt idx="1">
                  <c:v>Zenodo, độ dài set mới</c:v>
                </c:pt>
                <c:pt idx="2">
                  <c:v>WSD, bình thường</c:v>
                </c:pt>
                <c:pt idx="3">
                  <c:v>WSD, tải chưa gặp</c:v>
                </c:pt>
              </c:strCache>
            </c:strRef>
          </c:cat>
          <c:val>
            <c:numRef>
              <c:f>Sheet1!$B$2:$B$5</c:f>
              <c:numCache>
                <c:formatCode>General</c:formatCode>
                <c:ptCount val="4"/>
                <c:pt idx="0">
                  <c:v>27.76</c:v>
                </c:pt>
                <c:pt idx="1">
                  <c:v>27.88</c:v>
                </c:pt>
                <c:pt idx="2">
                  <c:v>24.8</c:v>
                </c:pt>
                <c:pt idx="3">
                  <c:v>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E4A-4FA0-A367-33157366DF7B}"/>
            </c:ext>
          </c:extLst>
        </c:ser>
        <c:ser>
          <c:idx val="1"/>
          <c:order val="1"/>
          <c:tx>
            <c:strRef>
              <c:f>Sheet1!$C$1</c:f>
              <c:strCache>
                <c:ptCount val="1"/>
                <c:pt idx="0">
                  <c:v>Rep-count baseline tốt nhất</c:v>
                </c:pt>
              </c:strCache>
            </c:strRef>
          </c:tx>
          <c:spPr>
            <a:solidFill>
              <a:srgbClr val="1F3864"/>
            </a:solidFill>
          </c:spPr>
          <c:invertIfNegative val="1"/>
          <c:cat>
            <c:strRef>
              <c:f>Sheet1!$A$2:$A$5</c:f>
              <c:strCache>
                <c:ptCount val="4"/>
                <c:pt idx="0">
                  <c:v>Zenodo, bình thường</c:v>
                </c:pt>
                <c:pt idx="1">
                  <c:v>Zenodo, độ dài set mới</c:v>
                </c:pt>
                <c:pt idx="2">
                  <c:v>WSD, bình thường</c:v>
                </c:pt>
                <c:pt idx="3">
                  <c:v>WSD, tải chưa gặp</c:v>
                </c:pt>
              </c:strCache>
            </c:strRef>
          </c:cat>
          <c:val>
            <c:numRef>
              <c:f>Sheet1!$C$2:$C$5</c:f>
              <c:numCache>
                <c:formatCode>General</c:formatCode>
                <c:ptCount val="4"/>
                <c:pt idx="0">
                  <c:v>19.41</c:v>
                </c:pt>
                <c:pt idx="1">
                  <c:v>30.84</c:v>
                </c:pt>
                <c:pt idx="2">
                  <c:v>12.67</c:v>
                </c:pt>
                <c:pt idx="3">
                  <c:v>13.08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E4A-4FA0-A367-33157366DF7B}"/>
            </c:ext>
          </c:extLst>
        </c:ser>
        <c:ser>
          <c:idx val="2"/>
          <c:order val="2"/>
          <c:tx>
            <c:strRef>
              <c:f>Sheet1!$D$1</c:f>
              <c:strCache>
                <c:ptCount val="1"/>
                <c:pt idx="0">
                  <c:v>sEMG, cấu hình chính</c:v>
                </c:pt>
              </c:strCache>
            </c:strRef>
          </c:tx>
          <c:spPr>
            <a:solidFill>
              <a:srgbClr val="C02034"/>
            </a:solidFill>
          </c:spPr>
          <c:invertIfNegative val="1"/>
          <c:cat>
            <c:strRef>
              <c:f>Sheet1!$A$2:$A$5</c:f>
              <c:strCache>
                <c:ptCount val="4"/>
                <c:pt idx="0">
                  <c:v>Zenodo, bình thường</c:v>
                </c:pt>
                <c:pt idx="1">
                  <c:v>Zenodo, độ dài set mới</c:v>
                </c:pt>
                <c:pt idx="2">
                  <c:v>WSD, bình thường</c:v>
                </c:pt>
                <c:pt idx="3">
                  <c:v>WSD, tải chưa gặp</c:v>
                </c:pt>
              </c:strCache>
            </c:strRef>
          </c:cat>
          <c:val>
            <c:numRef>
              <c:f>Sheet1!$D$2:$D$5</c:f>
              <c:numCache>
                <c:formatCode>General</c:formatCode>
                <c:ptCount val="4"/>
                <c:pt idx="0">
                  <c:v>24.33</c:v>
                </c:pt>
                <c:pt idx="1">
                  <c:v>25.27</c:v>
                </c:pt>
                <c:pt idx="2">
                  <c:v>23.32</c:v>
                </c:pt>
                <c:pt idx="3">
                  <c:v>22.57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E4A-4FA0-A367-33157366DF7B}"/>
            </c:ext>
          </c:extLst>
        </c:ser>
        <c:ser>
          <c:idx val="3"/>
          <c:order val="3"/>
          <c:tx>
            <c:strRef>
              <c:f>Sheet1!$E$1</c:f>
              <c:strCache>
                <c:ptCount val="1"/>
                <c:pt idx="0">
                  <c:v>sEMG, tốt nhất</c:v>
                </c:pt>
              </c:strCache>
            </c:strRef>
          </c:tx>
          <c:spPr>
            <a:solidFill>
              <a:srgbClr val="FFFFFF"/>
            </a:solidFill>
            <a:ln w="22225">
              <a:solidFill>
                <a:srgbClr val="C02034"/>
              </a:solidFill>
            </a:ln>
          </c:spPr>
          <c:invertIfNegative val="1"/>
          <c:cat>
            <c:strRef>
              <c:f>Sheet1!$A$2:$A$5</c:f>
              <c:strCache>
                <c:ptCount val="4"/>
                <c:pt idx="0">
                  <c:v>Zenodo, bình thường</c:v>
                </c:pt>
                <c:pt idx="1">
                  <c:v>Zenodo, độ dài set mới</c:v>
                </c:pt>
                <c:pt idx="2">
                  <c:v>WSD, bình thường</c:v>
                </c:pt>
                <c:pt idx="3">
                  <c:v>WSD, tải chưa gặp</c:v>
                </c:pt>
              </c:strCache>
            </c:strRef>
          </c:cat>
          <c:val>
            <c:numRef>
              <c:f>Sheet1!$E$2:$E$5</c:f>
              <c:numCache>
                <c:formatCode>General</c:formatCode>
                <c:ptCount val="4"/>
                <c:pt idx="2">
                  <c:v>20.62</c:v>
                </c:pt>
                <c:pt idx="3">
                  <c:v>19.64</c:v>
                </c:pt>
              </c:numCache>
            </c:numRef>
          </c:val>
          <c:extLst>
            <c:ext xmlns:c14="http://schemas.microsoft.com/office/drawing/2007/8/2/chart" uri="{6F2FDCE9-48DA-4B69-8628-5D25D57E5C99}">
              <c14:invertSolidFillFmt>
                <c14:spPr xmlns:c14="http://schemas.microsoft.com/office/drawing/2007/8/2/chart">
                  <a:solidFill>
                    <a:srgbClr val="FFFFFF"/>
                  </a:solidFill>
                  <a:ln w="22225">
                    <a:solidFill>
                      <a:srgbClr val="C02034"/>
                    </a:solidFill>
                  </a:ln>
                </c14:spPr>
              </c14:invertSolidFillFmt>
            </c:ext>
            <c:ext xmlns:c16="http://schemas.microsoft.com/office/drawing/2014/chart" uri="{C3380CC4-5D6E-409C-BE32-E72D297353CC}">
              <c16:uniqueId val="{00000003-4E4A-4FA0-A367-33157366DF7B}"/>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4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35"/>
          <c:min val="0"/>
        </c:scaling>
        <c:delete val="0"/>
        <c:axPos val="l"/>
        <c:majorGridlines>
          <c:spPr>
            <a:ln>
              <a:solidFill>
                <a:srgbClr val="E6E6E6"/>
              </a:solidFill>
            </a:ln>
          </c:spPr>
        </c:majorGridlines>
        <c:numFmt formatCode="General" sourceLinked="1"/>
        <c:majorTickMark val="out"/>
        <c:minorTickMark val="none"/>
        <c:tickLblPos val="nextTo"/>
        <c:spPr>
          <a:ln>
            <a:noFill/>
          </a:ln>
        </c:spPr>
        <c:txPr>
          <a:bodyPr/>
          <a:lstStyle/>
          <a:p>
            <a:pPr>
              <a:defRPr sz="1200">
                <a:solidFill>
                  <a:srgbClr val="7F7F7F"/>
                </a:solidFill>
                <a:latin typeface="Lato"/>
              </a:defRPr>
            </a:pPr>
            <a:endParaRPr lang="en-US"/>
          </a:p>
        </c:txPr>
        <c:crossAx val="-2068027336"/>
        <c:crosses val="autoZero"/>
        <c:crossBetween val="between"/>
        <c:majorUnit val="10"/>
      </c:valAx>
    </c:plotArea>
    <c:legend>
      <c:legendPos val="t"/>
      <c:overlay val="0"/>
      <c:txPr>
        <a:bodyPr/>
        <a:lstStyle/>
        <a:p>
          <a:pPr>
            <a:defRPr sz="1300">
              <a:latin typeface="Lato"/>
            </a:defRPr>
          </a:pPr>
          <a:endParaRPr lang="en-US"/>
        </a:p>
      </c:txPr>
    </c:legend>
    <c:plotVisOnly val="1"/>
    <c:dispBlanksAs val="gap"/>
    <c:showDLblsOverMax val="1"/>
  </c:chart>
  <c:txPr>
    <a:bodyPr/>
    <a:lstStyle/>
    <a:p>
      <a:pPr>
        <a:defRPr sz="1800">
          <a:latin typeface="Lato"/>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10/2/2026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10/2/2026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Báo cáo đầu tiên với thầy. Ý thầy cần mang về: tín hiệu mỏi cơ có thật, nhưng số thứ tự rep đã mang gần hết thông tin đó; nhóm phát hiện ra qua một chuỗi kiểm tra có hệ thống trên hai dataset công khai, nên đổi hướng bài báo và chuyển sang giai đoạn phần cứng. Bản v4 không có phụ lục: mọi nội dung nằm ở phần chính, thời lượng ước lượng ghi đầu notes từng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Một set minh hoạ: N_total = 19 rep. Thiết bị chỉ dùng tín hiệu tới rep hiện tại. Người tập tự ước lượng số rep còn lại kém tin cậy, huấn luyện viên cũng sai đáng kể (Remmert 2023; Halperin 2022). Hai đầu ra FCF và RIR là N2 trong kế hoạch. 'Set' trên slide tương ứng 'trial' trong code. Vì sao RIR chỉ được đánh giá dưới 10: slide riêng ở phần xử lý số liệu.</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Tiền đề sinh lý: khi cơ mỏi, tốc độ dẫn truyền trên sợi cơ giảm nên phổ sEMG dịch về tần số thấp. Biên độ thì tăng hay giảm tuỳ lực và cách tuyển mộ đơn vị vận động, nên khó dùng một mình.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F532B-600A-4058-BB2E-AC7E96A75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B0740-8824-9F1A-3849-364A3451C13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F830613-A65B-A2A2-55AB-7BD59510296E}"/>
              </a:ext>
            </a:extLst>
          </p:cNvPr>
          <p:cNvSpPr>
            <a:spLocks noGrp="1"/>
          </p:cNvSpPr>
          <p:nvPr>
            <p:ph type="body" sz="quarter" idx="3"/>
          </p:nvPr>
        </p:nvSpPr>
        <p:spPr/>
        <p:txBody>
          <a:bodyPr/>
          <a:lstStyle/>
          <a:p>
            <a:r>
              <a:t>[40 giây] Đây là H1 của kế hoạch. Hình vẽ lại: per_cycle_features_v2b.csv → filter_outlier_trials(min_reps=10) (tập phân tích, 10 741 rep, 141 set) → L BICEPS BRACHII, 13 set, mọi rep kể cả 3 rep đầu. MNF_mean chia cho trung bình 3 rep đầu cùng set chỉ để đặt thang hiển thị, không phải con số báo cáo. Đường đỏ: trung bình giữa các set theo 10 khoảng FCF; dải: ± một độ lệch chuẩn.</a:t>
            </a:r>
          </a:p>
        </p:txBody>
      </p:sp>
      <p:sp>
        <p:nvSpPr>
          <p:cNvPr id="4" name="Slide Number Placeholder 3">
            <a:extLst>
              <a:ext uri="{FF2B5EF4-FFF2-40B4-BE49-F238E27FC236}">
                <a16:creationId xmlns:a16="http://schemas.microsoft.com/office/drawing/2014/main" id="{26D16037-908C-3009-6503-21657B2564F4}"/>
              </a:ext>
            </a:extLst>
          </p:cNvPr>
          <p:cNvSpPr>
            <a:spLocks noGrp="1"/>
          </p:cNvSpPr>
          <p:nvPr>
            <p:ph type="sldNum" sz="quarter" idx="5"/>
          </p:nvPr>
        </p:nvSpPr>
        <p:spPr/>
      </p:sp>
    </p:spTree>
    <p:extLst>
      <p:ext uri="{BB962C8B-B14F-4D97-AF65-F5344CB8AC3E}">
        <p14:creationId xmlns:p14="http://schemas.microsoft.com/office/powerpoint/2010/main" val="340917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C1: arXiv:2602.15684 (Koç University). RMSE FCF: CNN 20.8 ± 4.3%, RF 23.3 ± 3.8%, XGBoost 24.8 ± 4.5%, LR 26.9 ± 6.1% (kế hoạch gốc). Điểm yếu kế hoạch khai thác: huấn luyện riêng từng người; tác vụ do robot dẫn; không nhúng. Bảng so sánh đầy đủ C1, C2, C3 ở slide 'So với các nghiên cứu liên quan' sau phần kết quả Zenodo. Không so trực tiếp RMSE của nhóm với C1: khác tác vụ, dữ liệu và cách đánh giá.</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giây] Kế hoạch gốc (KeHoach_sEMG_FCF_Wearable_Q-Journal.docx): mục tiêu RMSE(FCF) &lt; 15% (bảng chỉ tiêu); checkpoint cuối tháng 4 ở Phần 11: 'nếu WP2 không cho thấy N1 cải thiện ≥ 15% so với baseline thì xoay trục'; phản biện ở Phần 16. Câu nói miệng: 'Rep càng về sau thì càng gần kiệt sức, nên chỉ cần biết số thứ tự rep là đã đoán được một phần. Câu hỏi là tín hiệu cơ thêm được bao nhiêu so với điều đó.' N4: chỉ số hiệu quả set (SEI), đếm số rep thật sự kích thích cơ. N5: đo độ trễ, bộ nhớ, năng lượng.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Nguồn: kế hoạch gốc Phần 7 (n = 24, 2 buổi, 576 set), Phần 11 (WP1 tháng 2–3, WP2 tháng 3–4, WP4 tháng 5–8 tức bốn tháng; checkpoint cuối tháng 4), mục 7.5 (phê duyệt đạo đức bắt buộc, mất 2–3 tháng). Riêng hồ sơ đạo đức khoảng 15 triệu đồng ('Kế hoạch giai đoạn tiếp theo WSD4FEDSRM + HIL', 18/9); kế hoạch gốc không ước tính tổng chi phí WP4. Dữ liệu công khai cho làm ba việc: dựng và sửa pipeline, kiểm giả thuyết chính, có số liệu để quyết định có đáng thu dữ liệu người.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Zenodo 14182446 (protocol.xlsx, Metadata.xlsx): 13 người, 12 trial mỗi người, mỗi trial một cơ chủ vận, nghỉ 5 phút giữa các trial; sEMG 1259 Hz; nhãn mỏi tự cảm nhận 3 mức (50 Hz). Không tài liệu nào ghi mức tạ hay nhịp tập: 'dạng sức bền' là suy từ độ dài set. Trên tập phân tích (141 set, 10 741 rep): N_total trung vị 55, IQR 29–94, khoảng 12–376; chỉ 5/141 set ≤ 20 rep; bicep (24 set) trung vị khoảng 90 rep. 86% = 8 909/10 318 rep của tập đánh giá có RIR ≥ 10. Dataset có bản ghi MVIC cho 8 cơ đơn khớp (104 file); nhóm đã dùng ngày 1/10: slide 'Chuẩn hoá theo MVC' (file bên phải ghi ở 2146 / 1923 Hz, đã resample về 1259 Hz). Cách lọc 15 set: slide 'Lọc dữ liệu'.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96F7B-0D78-D004-7D7B-B8D86F0F8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B31E9-4511-9192-9D6B-BC6960C34C1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BBAC4F4-0FEA-D777-DE1D-9F6C1B7B0405}"/>
              </a:ext>
            </a:extLst>
          </p:cNvPr>
          <p:cNvSpPr>
            <a:spLocks noGrp="1"/>
          </p:cNvSpPr>
          <p:nvPr>
            <p:ph type="body" sz="quarter" idx="3"/>
          </p:nvPr>
        </p:nvSpPr>
        <p:spPr/>
        <p:txBody>
          <a:bodyPr/>
          <a:lstStyle/>
          <a:p>
            <a:r>
              <a:t>[40 giây] Hình: trial_summary_with_flags.csv (Phase A), 156 set, trước lọc IQR, ρ tính theo cửa sổ thời gian; nhãn 'trước bước lọc' có chủ đích, không tính lại ρ trên tập phân tích vì đó là phân tích mới. Delta trước trái: ρ trung vị −0.841, R² trung vị 0.693, p &lt; 0.05 ở 13/13 người; script assert cả 12 cơ có ρ trung vị âm. Bicep trái đứng thứ 3 (−0.640), bicep phải thứ 6 (−0.567). Nếu được hỏi 'sao không chỉ lấy các cơ mạnh nhất': nhóm đã thử (3 cơ có |ρ| lớn nhất cho mốc 16.8% đầu tiên) và đã loại, vì FCF tăng theo thời gian nên chọn cơ theo ρ là chọn theo chính biến mục tiêu (slide 'Con số cải thiện co lại').</a:t>
            </a:r>
          </a:p>
        </p:txBody>
      </p:sp>
      <p:sp>
        <p:nvSpPr>
          <p:cNvPr id="4" name="Slide Number Placeholder 3">
            <a:extLst>
              <a:ext uri="{FF2B5EF4-FFF2-40B4-BE49-F238E27FC236}">
                <a16:creationId xmlns:a16="http://schemas.microsoft.com/office/drawing/2014/main" id="{C6ADDED8-BDFD-4362-CBCF-4625E666BB9A}"/>
              </a:ext>
            </a:extLst>
          </p:cNvPr>
          <p:cNvSpPr>
            <a:spLocks noGrp="1"/>
          </p:cNvSpPr>
          <p:nvPr>
            <p:ph type="sldNum" sz="quarter" idx="5"/>
          </p:nvPr>
        </p:nvSpPr>
        <p:spPr/>
      </p:sp>
    </p:spTree>
    <p:extLst>
      <p:ext uri="{BB962C8B-B14F-4D97-AF65-F5344CB8AC3E}">
        <p14:creationId xmlns:p14="http://schemas.microsoft.com/office/powerpoint/2010/main" val="809574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Thuật toán: preprocessing/rep_segmentation.py (nguồn duy nhất, khớp tuyệt đối với notebook: S1T5 = 86, S5T5 = 95, S13T3 = 187 rep). Giới hạn 1.2–4.5 s đặt theo nhịp khoảng 30 BPM cộng phần chậm lại khi mỏi; đây là giả định của nhóm, tài liệu dataset không ghi nhịp. Hình dùng lại: dataset/rep_segmentation_validation_trial5.png, cắt panel subject 1 (vẽ bằng notebook nên chưa dùng font Lato). Trên WSD, rep được tách từ con quay hồi chuyển ở cánh tay, độc lập với sEMG. Rủi ro đã biết: động tác phức hợp dễ bị tách thừa rep; các set dài bất thường bị lọc ở bước sau.</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preprocessing/iqr_filter.py, filter_outlier_trials(min_reps=10), áp trên per_cycle_features_v2b.csv; script make_figures.py assert 13 546 → 10 741 rep, 141 set, rồi rep_idx &gt; 3 còn 10 318. Danh sách 15 set: quá ngắn S6T5 (5 rep), S6T9 (9), S8T8 (15); dài S3T7 (49), S11T8 (53), S12T2 (68), S11T2 (75), S13T3 (187), S12T4 (196), S11T5 (223), S1T4 (273), S1T3 (325), S8T9 (409), S8T10 (425), S13T11 (493). Lưu ý nếu bị hỏi: bỏ set dài hoặc ngắn bất thường làm tập test dễ hơn cho rep-count baseline; điều này được đo trên WSD (slide 'Kiểm tra phép so').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Slide mới theo yêu cầu 1/10. Histogram: per_cycle_features_v2b.csv → filter_outlier_trials → rep_idx &gt; 3 (tập đánh giá 10 318 rep); script assert 1 409 rep RIR_clipped &lt; 10 và 8 909 rep bằng 10 (86.34%). Con số 86.9% trong các handoff cũ là của pipeline v1, chấm cả rep tham chiếu (10 741 rep). Sai số 1.38 / 4.42 rep: MAE của Random Forest trên pipeline đời đầu, 10 741 rep (CONTEXT_HANDOFF_v4 §4.1); MAE toàn dải có R² = −0.10, tức mô hình chỉ đoán gần trần. MAE trên mọi rep của tập đánh giá hiện tại chưa được tính. Đã thử hạ trần xuống 5: tệ hơn (93.4% rep chạm trần, R² = −0.226). Trên WSD set ngắn hơn nên chỉ 44% rep có RIR ≥ 10; WSD đánh giá RIR trên toàn bộ 19 047 rep.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giây] Mã nội bộ: naive; count_k, count_k_cơ (Zenodo); count_time, count_k_load, count_k_load_mv, count_extrap (WSD). Rep-count baseline vào mọi bảng từ 13/9. Tên 'rep-count' thay cho 'IMU baseline': baseline này không đọc tín hiệu IMU, nó chỉ dùng k; IMU là cách thiết bị biết k. CÂU TRẢ LỜI SẴN nếu hỏi 'rep-count baseline có biết tổng số rep không, có phải data leakage không': không. Nó không biết N_total của set đang đoán; nó dùng trung bình học từ người khác, và đoán tốt vì trong các giao thức nhịp khoá, N_total vốn khá dễ đoán. Kiểm bằng code: xáo N_total của người test, dự đoán không đổi ở 612/612 lần (WSD).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Bộ v2b: 12 cột F0 (4 đặc trưng C1 × max/min/mean) + 42 cột EXTRA. Ngưỡng ZC/SSC/WAMP lấy từ 3 rep tham chiếu (v2b; trước đó lấy từ cả set, xem slide data leakage 3). Biến thể chuẩn hoá trong code: F1_ZSCORE, F1_RATIO (x / μ), F1_DIFF (x − μ), F1_FULL = cả ba; trên WSD thêm N1-A (theo MVIC). G12: 12 nhóm chọn bằng mRMR in-fold, mỗi nhóm 3 cột, tức 36 cột; mRMR = maximum relevance, minimum redundancy. FInsm5: tỉ số mômen phổ bậc −1 và bậc 5 (Dimitrov 2006).</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RandomForestRegressor(n_estimators=200, max_depth=10, random_state=42). RMSE theo fold, trung bình không trọng số: mỗi người nặng như nhau bất kể số rep. Hàm verdict() bắt khai chiều dự đoán, không có mặc định. 'INCONCLUSIVE' không có nghĩa là bằng nhau.</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Nguồn: data/results/ablation_A2.csv và stats_report.xlsx (A2_nemenyi): pipeline đời đầu F1_FULL_SLOPE, 37 cột, còn slope và còn đánh giá rep tham chiếu, 10 741 rep, 13 fold. RMSE [CI 95%]: RF 25.12 [24.11, 26.19]; XGB 25.67 [24.57, 26.76]; Ridge 26.78 [25.65, 27.89]. Nemenyi RF–Ridge p = 0.00057, RF–XGB p = 0.079, XGB–Ridge p = 0.26. Handoff v5 chốt 'RF thắng Ridge, RF ≈ XGB, chọn RF vì đơn giản'; v6, v7 giữ nguyên. Naive 28.87% trên cùng 10 741 rep (= 100/√12, sàn lý thuyết khi FCF gần đều trên (0, 1]). Mạng nơ-ron: v6 §7.3, Wilcoxon so với naive: CNN +2.60pp p = 0.0012; MLP +0.67pp p = 0.0005; còn lại không có ý nghĩa. GRU, LSTM không tái lập giữa CPU và GPU (lệch 0.32 và 0.87pp).</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Cách đo chung: so mức cải thiện trên dữ liệu thật với một control đã phá thông tin sinh lý; phần control vẫn 'cải thiện' được là phần giả. Phần trừ theo control là ước lượng cận trên của phần giả. Thẻ 1, 2 đo bằng % của mức cải thiện; thẻ 3, 4 bằng pp (điểm phần trăm): không đặt chung một trục. Bốn slide sau đi lần lượt từng kênh. Mã: giao thức chấm cũ GT1, đã sửa GT2.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v7 §5.2, 10 741 rep: z-score với n = 3, std ddof = 1 → Σz = 0, Σz² = 2 → |z|max = 2/√3 = 1.154701, đo được đúng 1.154701. 100% hàng k ≤ 3 thoả 'mọi |z| ≤ trần' so với 0.01% hàng k &gt; 3. Control: xáo nhãn; F0 trên control ra 28.88%, trùng naive 28.87%, nên phép xáo hợp lệ. Sau khi bỏ rep tham chiếu: +1.74pp thật so với −0.07pp control. Lỗ hổng sinh ra từ chính N1: đã dùng 3 rep đầu làm mốc thì phải bỏ chúng khỏi phần đánh giá. Tập đánh giá từ đây: 10 318 rep.</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preprocessing/n1_features.py, apply_rolling_slope: hồi quy tuyến tính MNF_mean_N1 theo rep_idx trên cửa sổ trượt w rep; cấu hình WP1 slope5/slope7, kiểm lại ở w = 7 và 11. Xử lý biên min_periods = window: w − 1 rep đầu nhận slope = 0. Phương sai ước lượng OLS slope tỉ lệ nghịch với số điểm, nên độ lớn slope mã hoá độ đầy cửa sổ (DECISION_NOTES_slope, v7 §5.1).</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DECISION_NOTES_slope, w = 11, min_periods = window, bộ 54 đặc trưng, lõi 11 đặc trưng ổn định, còn đánh giá rep tham chiếu, 10 741 rep: biểu kiến +2.84pp, control +2.50pp, thật +0.34pp. Cách xử lý biên khác cho kết quả khác: min_periods = 2 → +1.71 / +0.85 (50% giả); bỏ w − 1 rep đầu → +0.47 / +0.07, phần thật +0.40pp. Ở w = 7, phần thật +0.37pp: không tăng theo cửa sổ. Tóm tắt của v6 ghi '60–88%'; v7 chỉ giữ bảng w = 11 nên slide ghi 88%. Con số +0.72pp của WP1 bị thổi khoảng 2 lần.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Kênh 3: v7 §5.3, DECISION_NOTES_threshold_baseline. compute_trial_thresholds lấy σ toàn trial; thay bằng σ của 3 rep tham chiếu → bộ v2b. G12 24.41% (v2) → 24.33% (v2b), −0.08pp [−0.25, +0.09], cận trên dưới biên khai trước 0.30pp; H-THR-1, H-THR-2 INCONCLUSIVE. Spearman(σ_trial/σ_baseline, N_total) = +0.037 (p = 0.64): kênh yếu ngay từ đầu. 8 nhóm ổn định giống hệt giữa v2 và v2b. v2b thành bản chính vì tính được trên firmware, không phải vì tốt hơn. Kênh 4: v7 §5.4, 10 318 rep.</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Nguồn: TONG_HOP §1–§2, CONTEXT_HANDOFF_v4 §2–§3 (A7), v7 §0, DECISION_NOTES_go_denominator, DECISION_NOTES_g12_bicep. Từng bậc: 16.8% = F1_ZSCORE + slope5, đánh giá cả rep tham chiếu, 3 cơ (1 966 rep) → 20.23% = F1_FULL_SLOPE, 8 cơ đơn khớp (5 069 rep) → 12.78% = cùng cấu hình, 12 cơ (10 741 rep) → 13.46% = bộ 54 đặc trưng, bỏ slope (mẫu số F0 đổi 28.80 → 28.03) → 10.11% = bỏ rep tham chiếu khỏi đánh giá (10 318 rep) → 10.30% = G12, ngưỡng từ rep tham chiếu → 14.56% [4.6, 25.6] = Bicep L+R, 2 275 rep, post-hoc, đã loại vì F0 trên Bicep còn kém naive (28.19 so với 27.94) → 2.97% = checkpoint đo đúng như kế hoạch. Mẫu số đổi theo cột, nên không cộng trừ giữa các cột. 3 cơ: ρ trung vị −0.841, −0.721, −0.640 (Phase 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Tập: per_cycle_features_v2b.csv, GT2, 12 cơ, 10 318 rep, LOSO 13 fold. Mã: G12 = sEMG cấu hình chính; count_k = rep-count (k); count_k_cơ = rep-count (k, cơ): trên Zenodo mỗi set đúng một cơ, nên biết cơ tức là biết động tác; naive. count_k_cơ − G12 = −4.93pp [3.26, 6.54], REVERSED. G12 + k = 20.85 [19.54, 22.18]; count_k_cơ − (G12 + k) = −1.45pp REVERSED. 4 đặc trưng C1 gần bằng naive: 27.72% so với 27.76%. Phát biểu được phép: bốn đại lượng C1 dùng nằm ở hoặc sát mức naive khi đánh giá LOSO; không nói 'pipeline của C1 sụp'. Quyết định 13/9: rep-count baseline vào mọi bảng, mẫu số chính đổi thành naive.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Mã GO_lit = 2.97% [0.39, 5.22], 10 318 rep: F1_12 (z-score theo 3 rep tham chiếu trên 12 cột của 4 đại lượng C1: MNF, MDF, TP, RMS × max/min/mean) 26.90% so với F0_12 (chính 12 cột đó, không chuẩn hoá) 27.72% (DECISION_NOTES_go_criterion_scope, go_denominator). Lập luận 'checkpoint đang chấm trên sai dataset' đã bị chặn vì đoạn [386] của kế hoạch gắn mốc tháng 4 với WP2 'trên dữ liệu công khai'.</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K2 trong TONG_HOP §6, Zenodo v2b, 10 318 rep: naive 27.88, count_k_cơ 30.84 (−10.62%), G12 25.27 (+9.36%), G12 với tín hiệu xáo 27.98 (bằng naive ở mọi dải, nên phần sEMG giữ được là tín hiệu thật). Ràng buộc: trên Zenodo dịch chuyển dải N_total bị trộn với dịch chuyển cơ, và không có mức tải; vì vậy luận điểm được đem sang WSD để kiểm với mức tải có kiểm soát.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TONG_HOP §8, v2b, GT2, test cố định 1 409 hàng, không lọc train. count_k − G12 = +0.305 [+0.116, +0.490], 11/13 fold; count_k_cơ − G12 = −0.133 [−0.362, +0.094]; count_k_cơ hơn count_k 0.438 rep [0.308, 0.610]. Đây là K3. Mã: A14 = G12 4.355, A15 = count_k_cơ 4.222. Các mức lọc train FCF &gt; 0.5, &gt; 0.7 có ở TONG_HOP §8, không đưa lên slide.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Phân tích mới ngày 1/10, khai báo và khoá trước khi chạy: handoff/DECISION_NOTES_zenodo_mvc.md; script preprocessing/zenodo_mvc_p2.py. Neo: một bản ghi MVC mỗi cơ (8 cơ đơn khớp; trial phức hợp dùng MVC cùng tên cơ), cửa sổ plateau 3 s, ngưỡng ZC/SSC/WAMP của working set; file MVC bên phải ghi ở 2146 / 1923 Hz, đã resample về 1259 Hz. Ba nhánh dùng cùng 51 cột (bỏ ZC_min, SSC_min, WAMP_min vì có giá trị 0, quyết định trước khi nhìn RMSE), RF không chọn đặc trưng. Họ H-ZMVC: Z1 = theo 3 rep − theo MVC = −2.11pp [−2.88, −1.36], p = 0.0005, REVERSED; Z2 = thô − theo MVC = +0.81pp [+0.26, +1.34], p = 0.013, CONFIRMED. Control xáo của nhánh MVC: 27.84%, tức mô hình học tín hiệu thật (+1.49pp). Kiểm đại số pipeline C1: lệch tối đa 2.27e-13 trên 580 014 ô. Dự đoán khai trước 6/7 đúng. Note c1_subject_independent ghi 'không có MVC' là sai về dữ liệu; note mới là bản cập nhật. Câu trả lời nếu thầy hỏi 'sao không chuẩn hoá theo MVC như C1': nhóm đã thử trên cả hai dataset; neo MVC kém neo 3 rep tham chiếu ở cả hai.</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Ô vàng: cần mở bài gốc C2 (và bản đầy đủ C3 cho dòng cách đánh giá); abstract không nêu. C2 dùng nhãn là % thời gian đã trôi, nên đối chứng tự nhiên nhất của nó chính là một baseline theo thời gian. CẤM nói 'nhóm ngang C1'. Số dự phòng nếu bị hỏi (chỉ nói miệng): quy đổi 'hơn naive' với N ≈ 23: C1 CNN ≈ 27.9%, C1 RF ≈ 19.2% (huấn luyện riêng từng người); nhóm trên Zenodo: sEMG 12.34%, rep-count (k, cơ) 30.10%.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Năm kết luận K1–K5 của TONG_HOP §0 (14/9). K5: rủi ro không đạt trên WP4 cao, nói ra trước khi thu. Ba phát hiện đắt giá nhất theo TONG_HOP: rep-count baseline là đối thủ thật; chuẩn hoá theo rep tham chiếu phụ thuộc độ dài set; tiêu chí ban đầu không đo đúng thứ cần đo.</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Slide mới theo yêu cầu 1/10. Nguồn: DECISION_NOTES_wsd_scope §1 (ba lý do chọn WSD, độc lập với mọi con số sẽ thấy), TONG_HOP §6 ràng buộc 3 (dải N_total trộn với cơ). MVC Zenodo đã dùng ngày 1/10 (slide 'Chuẩn hoá theo MVC'): kém neo 3 rep tham chiếu 2.11pp. Điều chưa kiểm được là một neo ngoài set đo tốt hơn: Zenodo chỉ có một bản ghi MVC mỗi cơ (WSD có hai), co tĩnh trong khi set là co động. 5/141 set ≤ 20 rep: tập phân tích. Chạy lại toàn bộ pipeline của C1 (huấn luyện riêng từng người, % thay đổi so với chu kỳ đầu) vẫn chưa làm; nó không cần MVC.</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WSD4FEDSRM: xoay vai trong (IR) và ngoài (ER), 6 cơ: ngực lớn, delta trước, dưới gai, delta sau, thang trên, lưng rộng; dừng ở Borg 20 (hỏi mỗi 10 s). Rep tách từ con quay hồi chuyển ở cánh tay, độc lập với sEMG. 204 → 203 set dùng được → 182 sau lọc IQR, 19 047 rep được đánh giá. 44.0% rep có RIR ≥ 10, so với 86.3% trên tập đánh giá Zenodo. DECISION_NOTES_wsd_scope §1 ghi 53.6% / 88.5%: số tính trước khi lọc, khác tập rep.</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giây] Zenodo: tập đánh giá (v2b, lọc IQR, bỏ rep tham chiếu). WSD: bốn tập rep ở slide tiền xử lý. Hai pipeline khác nhau về lọc, ngưỡng và tần số lấy mẫu, nên không đánh giá chéo dataset.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Set bị loại: S27, task3_55i. Hàng rào IQR [10.0, 41.9] rep. Bốn tập rep: sau kiểm kênh 23 451 (naive 25.48%) · sau IQR 19 047 (24.80%) · độ nhạy, bỏ 19 lần đo MVIC nhiễu nhất, 17 770 (24.73%) · tải 55% chưa gặp 5 478 (24.00%). Mã: N1-A = theo MVIC, N1-B = theo 3 rep tham chiếu, N1-B-z = z-score theo 3 rep, F0 = không chuẩn hoá, G-sel = chọn 12 nhóm đặc trưng in-fold.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Văn bản khai báo trước: DECISION_NOTES_wsd_scope (T0), khai báo nội bộ, chưa có người duyệt ngoài. Mã: câu 1 = W1, câu 2 = W0, câu 3 = W2a/W2b, câu 4 = W3, câu 5 = W5. Câu 1 và 3 là hai câu chính (tô đỏ).</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'Rep-count baseline tốt nhất' trong từng nhóm: Zenodo = (k, cơ) (count_k_cơ; ở độ dài set mới nó kém naive, 30.84); WSD bình thường = (k, tải, động tác) (count_k_load_mv, 12.67, so sánh thứ cấp chọn sau khi thấy số); WSD tải chưa gặp = ngoại suy từ tải (count_extrap, 13.08). Baseline khai báo trước là (k, tải) (count_k_load): count_k_load − G-sel = −8.26pp [−9.38, −7.09], CONFIRMED. sEMG chính: Zenodo G12; WSD chuẩn hoá theo MVIC (N1-A; G-sel cùng 23.32). sEMG tốt nhất: chuẩn hoá theo 3 rep tham chiếu (N1-B), cấu hình tốt nhất đo được, không phải cấu hình khai báo trước. Zenodo chỉ có một cấu hình sEMG. Tập rep: Zenodo 10 318; WSD 19 047 (bình thường) và 5 478 (tải 55% chưa gặp). Các slide sau đi từng câu hỏi.</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19 047 rep, 34 fold. count_k_load − G-sel = −8.26pp [−9.38, −7.09], CONFIRMED. count_k − count_time = +0.58pp [+0.04, +1.31], ngoài khoảng tương đương ±0.5pp. Nhãn xáo − G-sel = +1.41pp [+0.82, +2.00], CONFIRMED. count_k_load_mv − G-sel = −10.65pp [−12.08, −9.05]. N1-B − count_k = −5.12pp [−6.17, −4.06]. Tỉ lệ rep phải trả về naive vì bảng tra thiếu ô: count_k 1.32%, count_k_load 2.23%, count_k_load_mv 6.62%, còn lại 0%. Rep-count (thời gian) dùng giây đã trôi; vì nhịp khoá bằng metronome, k ≈ t / 3 nên hai biến gần như là một.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Câu 2 (W0), 19 047 rep: N1-B − N1-A = −2.70pp [−3.28, −2.05], REVERSED; nhánh độ nhạy (17 770 rep) −2.63pp [−3.22, −1.97], REVERSED. F0 − N1-A = −0.33pp [−0.79, +0.12], INCONCLUSIVE. Mức khai trước +0.5pp và +1.5pp. 0.07pp là 2.6% độ lớn hiệu ứng. Với RIR (MAE): N1-A 2.861, N1-B 2.589 rep.</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giây] Câu 3 (W2a/W2b): train trên tải 35 và 45%, test trên 55%; 61 set, 33 người, 5 478 rep. Suy biến: bảng tra theo tải không có ô cho tải 55%, nên mọi rep trả về naive (count_k_load, count_k_load_mv). Họ H-LOAD (m = 5): count_extrap − G-sel = −9.49pp [−11.22, −7.72] REVERSED; count_k − G-sel = −4.57pp [−6.78, −2.22] REVERSED; L2 = +0.11pp [−0.26, +0.47] INCONCLUSIVE; L3 = −0.58pp [−0.75, −0.40] CONFIRMED. Ghép cặp theo độ dài set: L2 phẳng ở ±15, ±20, ±25% (+0.09, +0.11, +0.16pp). Câu in đậm phải đọc nguyên văn. Dòng z-score (20.43%) và tự chọn đặc trưng (22.57%) bỏ khỏi bảng cho gọn; không đổi kết luận.</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Câu 4 (W3), 19 047 rep, 54 cột chuẩn hoá theo MVIC: động tác 0.6152 so với lớp đa số 0.5797, +0.0355 [+0.0021, +0.0688]; mức tải 0.4552 so với 0.3829, +0.0722 [+0.0418, +0.1036]. Với 36 cột G-sel: động tác 0.6186 (+0.0389), mức tải 0.4531 (+0.0702). Trên Zenodo, giả thuyết 'thông tin sEMG ≈ đây là động tác nào' (K3) đến từ RIR; trên WSD nó không lặp lại ở dạng gốc.</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Câu 5 (W5), 19 047 rep, MAE của RIR giới hạn ở 10; trung vị RIR 8.0 rep, 44.01% rep chạm 10. count_k_load − G-sel = −0.349 rep [−0.458, −0.234] REVERSED; count_k − G-sel = −0.263 [−0.361, −0.160] REVERSED. Cột 'thật − xáo': MAE của mô hình huấn luyện trên nhãn xáo trừ mô hình thật, đơn vị rep. Bỏ dòng z-score (2.668) và tự chọn đặc trưng (2.861) cho gọn.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Câu 1: 19 047 rep; câu 3: 5 478 rep; câu 5: 19 047 rep. Rep-count (k, tải, động tác) là so sánh thứ cấp chọn sau khi thấy số (đối thủ khai trước là (k, tải)); vẫn in vì triển khai được y hệt. Không bỏ dòng nào, kể cả dòng suy biến. Cột RIR: baseline tốt nhất hơn sEMG chính 0.729 rep [0.539, 0.901], hơn sEMG tốt nhất 0.457 rep [0.274, 0.628].</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Câu 3 đọc nguyên văn: 'Trên dataset này không tách được hiệu ứng mức tải khỏi hiệu ứng độ dài set.' Tập rep: câu 1, 2, 4, 5 trên 19 047 rep; câu 3 trên 5 478 rep.</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Mã: K1, K2, K3 là ba dòng đầu. WSD count_k_load − G-sel = −8.26pp [−9.38, −7.09]; N1-B − count_k = −5.12pp [−6.17, −4.06]. Tải chưa gặp: sEMG chính kém count_extrap 9.49pp, sEMG tốt nhất kém 6.56pp. Zenodo RIR: sEMG hơn count_k +0.305 rep [+0.116, +0.490]; so với count_k_cơ −0.133 [−0.362, +0.094]. 'Học tín hiệu thật': huấn luyện lại với nhãn xáo luôn kém mô hình thật, ở mọi bảng.</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(1) DECISION_NOTES_wsd_scope: hàm dự đoán của baseline chỉ nhận 10 cột thiết bị biết lúc chạy; tổng số rep và nhãn bị chặn ngay trong code; xáo nhãn và N_total của fold test: 612/612 cặp (fold × nhãn × đối thủ) cho dự đoán y hệt, đủ 34 fold, dữ liệu thật. (2) Control xáo nhãn trong mỗi set, cùng một hoán vị cho mọi cột; thật − xáo = +1.41pp (MVIC, cấu hình chính) đến +4.25pp (3 rep tham chiếu), 19 047 rep; với RIR +0.220 đến +0.502 rep. Vì vậy không được viết 'sEMG không mang thông tin'. (3) N1-B − count_k = −5.12pp [−6.17, −4.06]; ở tải chưa gặp sEMG tốt nhất vẫn kém baseline ngoại suy 6.56pp. Ngoại lệ: RIR, sEMG tốt nhất gần ngang (k) (chênh 0.010 rep).</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Không cần kiểm Random Forest, chỉ cần kiểm logic 'nguy cơ nào, đã loại bằng gì'. Kiểm bất biến 612/612 chỉ áp cho rep-count baseline (fold × nhãn × đối thủ); phía sEMG, data leakage bị chặn bằng các cơ chế ở dòng 2. Với RIR, control nhãn xáo kém hơn 0.220 đến 0.502 rep.</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Khai báo nội bộ, chưa có người duyệt ngoài. Hai ngoại lệ về khai báo trước đã ghi ngay trong note: phép thử ghép cặp viết sau khi chạy thử 2 đơn vị; một phép chẩn đoán ở câu 4 chọn sau khi thấy phép trước. Dòng cuối: SoLieu, phần kết luận của note WSD và handoff 21/9 ghi 'khoảng cách đo được là cận dưới', nhưng §9.10(1) của note WSD cho thấy lọc IQR làm baseline mạnh lên, tức lợi thế đo được của baseline là cận trên. Chưa thống nhất chiều; slide dùng cách viết không phải chọn chiều.</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Bốn con số trên cùng một tập 19 047 rep. Cấu hình khai báo trước là 23.32%; 20.62% là cấu hình tốt nhất đo được sau đó; 12.67% (count_k_load_mv) là so sánh thứ cấp chọn sau khi thấy số.</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Thêm cho cột không được: không trích 7.996 rep (sai số naive trên RIR chưa giới hạn), số hai đầu ra (N2), con số 16.8% cũ; không kể phần nhúng như kết quả dương thay cho phần học máy; không nói đã loại trừ chênh lệch giữa baseline theo thời gian và theo k (+0.58pp, ngoài khoảng tương đương). Cấu hình theo 3 rep tham chiếu là tốt nhất đo được, không phải cấu hình khai báo trước.</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Chấm đỏ: Zenodo; chấm đen: WSD và phần cứng. Hai mốc đầu không kiểm được bằng git log: mọi commit trong repo đều ngày 29/9 (lần đẩy lên repo chung). 'Trước 4/9': CONTEXT_HANDOFF_v4 (ngày file 4/9). '~12/9': CONTEXT_HANDOFF_v6 và DECISION_NOTES_slope có ngày sửa file 12/9. Các mốc từ 13/9 lấy từ ngày ghi trong decision notes.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Nhánh bài phương pháp là nhánh đã viết sẵn trước khi thấy số (luật rẽ nhánh G2, ô 2), không phải nhượng bộ muộn. Năm đóng góp (handoff sau khi đóng WSD, 21/9): giao thức đánh giá (bỏ rep tham chiếu khỏi đánh giá, lọc nhân quả, rep-count baseline là đối chứng bắt buộc); chuẩn hoá ngoài set, kết quả âm nhưng sạch; độ bền phát biểu đúng mức; chi phí hệ thống của từng phương án; bảng điểm dự đoán. BSPC: Biomedical Signal Processing and Control; tra ISSN trong danh mục của trường trước khi chốt. N3: DECISION_NOTES_wsd_scope §9.1, T2b: IQR phần dư 0.34 s, cổng ≤ 0.05 s, trượt → INCONCLUSIVE theo thiết kế; không phát biểu là bác bỏ. N4: SEI = EffReps / N_total, EffReps = |{k: RIR ≤ 5}| (CONTEXT_HANDOFF_v3 §4.4); không tài liệu nào sau đó ghi trạng thái, cần điền trước khi chiếu. N2: nested LOSO chưa xác nhận nên số dual-head không vào bảng nào.</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Checkpoint G3 = hardware-in-the-loop (HIL): phát lại tín hiệu thật qua mạch thật. Chỗ thầy góp được nhiều nhất: rig phát lại, mạch chia áp xuống mức µV–mV, đo CMRR và nhiễu quy về đầu vào. Câu 'không cần hồ sơ đạo đức' chỉ đúng cho bước phát lại dữ liệu công khai; câu hỏi đạo đức cho dữ liệu tự đo nằm ở slide cuối. Mốc: PhanCong_Nhom_sEMG_FCF_GiaiDoanPhanCung.docx (cập nhật 24/9).</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Phạm vi: code local ngày 02/10/2026. MPU: dev-mpu tại d2aaa81 (finished visualization). ADS: binhdev-ads tại f7ecb98 (update data collecting), cộng các thay đổi local trong src/main.cpp về bộ lọc và dọn debug. Mốc Git: MPU firmware 20/08, thêm button 22/08, hoàn thiện visualization 27/08; ADS tích hợp 28/09, 2000 SPS và offline 30/09, SampleAcquisition 01/10. Đây là báo cáo chức năng từ repo, không xác nhận mọi chức năng đã chạy trên phần cứng. Hai firmware khác nhau, chưa có thu đồng thời. Không suy luận kết quả ML trong phần nghiên cứu cũ từ repo phần cứng này.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git show dev-mpu:src/main.cpp; dev-mpu:platformio.ini. Board esp32-s3-devkitc-1, Arduino, USB CDC on boot. Accel raw/8192; gyro raw/65.5; nhiệt độ raw/340 + 36.53 °C là nhiệt độ cảm biến. CONFIG 0x03: DLPF; SMPLRT_DIV=0 cho nhịp nội bộ 1 kHz, nhưng ESP đọc 100 Hz nên không lưu toàn bộ mẫu nội bộ. previousMicros += 10000 duy trì lịch đọc danh định. Timestamp millis được lấy sau lần đọc. Bỏ dòng nếu lỗi I²C hoặc sáu trục raw cùng bằng 0; code chưa chứng minh trường hợp bằng 0 luôn là sleep.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số liệu: dev-mpu:data/data.csv, 6066 dòng; timestamp đầu 19114 ms, cuối 79764 ms; 6065 khoảng cách đều 10 ms, 264 dòng button=1. Đây là file mẫu sẵn trong repo, không phải phép đo mới trong phiên này và không chứng minh độ jitter của thời điểm đọc thực. Ảnh: dev-mpu:data/plot_axes_xyz_breakdown.png, chỉ crop panel đầu, giữ nguyên dữ liệu của hình. CSV: timestamp_ms,acc_x,acc_y,acc_z,gyro_x,gyro_y,gyro_z,temp,button. dev-mpu:data/record_data.py tự tìm COM hoặc nhận cổng, ghi file theo thời gian. data/visualize_data.py tạo axes_xyz_breakdown, sensor_overview, distributions_correlation, 3d_trajectory_fft. data/generate_dashboard.py tạo dashboard HTML snapshot, có zoom đồng bộ, cửa sổ thời gian, auto-Y, điều hướng sự kiện, fullscreen; cần tải Plotly CDN. HTML không đọc Serial trực tiếp.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dev-mpu:src/main.cpp; include/KalmanFilter.h; data/generate_dashboard.py; data/visualize_data.py. Vai trò hỗ trợ rep-count và velocity loss là hướng phát triển gắn với kế hoạch trong deck gốc, chưa phải chức năng đã thực hiện. Không có tích phân vị trí, calibration, gravity removal hay Kalman trong main. Plotly 3D dùng trực tiếp acc_x/y/z. PNG FFT dùng NumPy rFFT nhưng chưa xử lý gap/windowing; phần 'FFT' HTML tính DFT giới hạn số bin và cần sửa để đọc phổ đầy đủ trên bản ghi dài. Các thư mục models/features/preprocessing/evaluation trong repo phần cứng còn là placeholder; không đánh đồng với pipeline nghiên cứu của slide cũ.</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src/main.cpp; src/SampleAcquisition.cpp; include/SampleAcquisition.h; lib/Ads1292R/protocentralAds1292r.cpp; platformio.ini trên binhdev-ads. Board 4d_systems_esp32s3_gen4_r8n16. Driver đang dùng là ads1292r ProtoCentral; include/ADS1292R.h + src/ADS1292R.cpp là driver khác chưa gọi trong main. CONFIG1=0x04 ở 2000 SPS, CH1SET/CH2SET=0x40 (gain4), CONFIG2=0xA0, RLDSENS=0xBC, RESP1=0x02, RESP2=0x03, LOFFSENS=0. RLD 0xBC chọn IN2P/N; comment cũ trong driver về bit7 và cả hai kênh chưa đúng. Không khẳng định RLD thực tế hoạt động tốt nếu chưa đo mạch. Tham chiếu ADS: https://www.ti.com/lit/ds/symlink/ads1292r.pdf</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include/SampleAcquisition.h; src/SampleAcquisition.cpp; src/main.cpp. Task ads_capture pinned core0, priority3, stack4096; ISR FALLING dùng esp_timer_get_time cast uint32_t và task notification. Sequence đếm cạnh ngắt ESP đã quan sát, không phải bộ đếm phần cứng bên trong ADS. Mutex dùng chung để task và lệnh reinit không cùng truy cập SPI. Frame invalid nếu driver báo lỗi hoặc có cạnh DRDY mới trong giao dịch. xQueueSend timeout0 để không block tác vụ ADC; consumer nhận mẫu timeout2 ms. Timestamp thuộc thời điểm ISR chạy, có độ trễ ISR. Bộ đếm không chứng minh tuyệt đối không mất cạnh nếu interrupt không được quan sát.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src/main.cpp local ngày 02/10/2026, makeButterworth, makeNotch, Biquad::process và các wrapper. HP/LP dùng Q=1/sqrt(2), omega=2*pi*cutoff/fs, alpha=sin(omega)/(2Q), chia cho D=1+alpha. Tham chiếu công thức HP/LP: https://www.w3.org/TR/audio-eq-cookbook/ . Biquad y[n]=b0*x[n]+b1*x[n-1]+b2*x[n-2]-a1*y[n-1]-a2*y[n-2]. Notch dùng zero trên vòng đơn vị ở ±omega, pole bán kính r: b0=b2=K,b1=-2Kcos(omega),a1=-2r*cos(omega),a2=r²; K=(1-2r*cos(omega)+r²)/(2-2*cos(omega)) để gain DC=1. Notch là thiết kế pole/zero riêng, không tuyên bố dùng công thức notch-Q của W3C. Bandpass là cascade hai tầng bậc2; cutoff không cắt đứt phổ. Người dùng báo ADS nhiều nhiễu; chưa nhận bản ghi mới để định lượng kết quả.</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src/main.cpp local. Các thay đổi mới: thay hệ số cố định HP/LP/notch bằng hàm tính hệ số; tên DC_filter_50/DC_filter_100 do người dùng yêu cầu, thực chất là tần số notch, DC 0 Hz được giảm bởi high-pass. ADC_DATA_RATE map Fs rời rạc125/250/500/1000/2000/4000/8000 vào CONFIG1. static_assert kiểm HP&lt;LP&lt;Nyquist, tần số notch trong (0,Nyquist), r trong (0,1) và Fs hỗ trợ. Bỏ cachedDeviceId, đọc/in DeviceID khi setup, dumpRegisters, lệnh d, thông báo chờ DRDY và lỗi init Serial; bỏ include ecgRespirationAlgo không dùng. Vẫn giữ ADC init, cơ chế thu mẫu, guard init và telemetry hoạt động. EMA/adaptive còn là hệ số theo mẫu, đổi Fs không tự giữ thời gian đáp ứng. Chưa commit, chưa push và chưa flash thay đổi này vào ESP trong phiên.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record_emg_csv.py; sample_timing.py; live_emg_visualizer.py; data/record_data.py hiện là wrapper tới recorder ADS. Firmware: $D,sequence,timestampUs,ch1_raw24,ch2_raw24,ch2_raw16,filtered16,leadOff. Recorder CSV: sample_idx,timestamp_us,ch1_raw24,ch2_raw24,ch2_raw16,filtered16,lead_off,time_s; web CSV tên cột ch2_filtered16. Serial2M, buffer ESP8192, đọc chunk Python, flush recorder500dòng. SampleClock modulo32 bit, timestamp wrap khoảng71.6phút; reboot tạo segment mới, recorder đóng bản ghi cũ. SPS tính từ timestamp thiết bị, không từ nhịp đến host. Web SSE + canvas; preview không bảo đảm giữ mọi đỉnh ngắn. QC hiện coi1960..2040SPS khỏe khi không drop/lead-off; target này không tự đổi khi Fs firmware đổi. LOFFSENS=0 nên lead_off=0 chưa chứng minh tiếp xúc điện cực tốt. Dashboard HTML EMG cũ dùng schema/gain/nhịp khác, cần cập nhật trước khi dùng với CSV mới.</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src/main.cpp và analyze_semg.py. Envelope EMA0.993356old+0.006644new, xấp xỉ75ms tại2kHz. Lệnh c đặt baseline=max(env,1), peak=baseline+80 khi DSPon hoặc+400 khioff, gate25%baseline clamp2.5..20, sensitivity1; state bộ lọc không reset. Adaptive baseline/gate/peak có hệ số theo mẫu. Mức0..100 chuẩn hóa envelope-baseline-gate theo span và sensitivity, không có hiệu chuẩn MVC/lực. DSPoff vẫn trừDC bằng EMA, không phải raw pass-through. Offline dùng lọc IIR hai chiều, có thể dùng tương lai; không tương đương lọc causal firmware. Fs offline fixed2000, bỏ qua timestamp/gap khi dựngtime; DFT và MDF/MNF chưa có validation phổ/window, thresholdMDFslope -0.5Hz/s heuristic. Không gọi thông báo 'phát hiện mỏi' của script là classifier đã kiểm định. Kalman chưa tích hợp; không có bằng chứng cần bổ sung Kalman để giải quyết nguồn nhiễu ADS.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log build trong các lượt làm việc trước, đọc repo đã tổng hợp docs/TONG_HOP_DU_AN.md; ADS gần nhất build SUCCESS3.95s RAM19652/327680, flash288893/6553600. MPU build SUCCESS12.45s RAM18928/327680, flash271937/3342336. Không quy các số firmware acquisition thành cost của RandomForest, rep-count hay các phương án ML: chúng chưa deploy trong firmware. Test được chạy lại ngày02/10/2026: python -m unittest discover -s test -p test_*.py -v,7/7OK. Test host biquad alternateFs1000, HP30, LP350, notch60/120 đã PASS trong phiên trước; testhostdefault bịWindowsAppControl chặn nên không tuyên bố defaulthosttestpassed. CompileSUCCESS không xác nhận board đã nạp hoặc ADC đã đo đúng. Không mới flash trong phiên cập nhật PowerPoint.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Phần này là việc đề xuất, không ghi nhận đã hoàn thành. Nguồn trạng thái: repo và yêu cầu người dùng ADS nhiều nhiễu; phần kế hoạch G3 từ slide51 deck gốc. Đối chiếu hướng kiểm nhiễu với datasheet TI ADS1292R https://www.ti.com/lit/ds/symlink/ads1292r.pdf và Delsys Signal Quality Monitor https://delsys.com/support/emgworks/signal-quality-monitor/ . Notch giảm cả tín hiệu trong vùng chặn, phải xem phổ trước/sau và ảnh hưởng tới đặc trưng. Không tự thêm Kalman vào EMG raw; chỉ thử xử lý envelope/RMS nếu có mục tiêu độ trễ/độ ổn định và dữ liệu đối chiếu. G3 chưa tiến hành; không xác nhận mạch đã đạt ngưỡng. Tài liệu chi tiết đã có: docs/TONG_HOP_DU_AN.md (một số nội dung main cũ cần đối chiếu với cập nhật local). Không phát sinh thay đổi code, git commit hay push do tác vụ PPT.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Nguồn: handoff sau khi đóng WSD (21/9), đóng góp 4. RMSE và RIR (MAE, rep) trên 19 047 rep. Đo: Bình đo độ trễ, bộ nhớ, năng lượng mỗi lần suy luận cho mọi dòng, kể cả rep-count baseline; Moi đo năng lượng thu và giờ pin. Thao tác người dùng là chi phí thật, không nằm trong mJ hay KB. Mã dòng: naive, count_k, count_time, count_k_load, count_extrap, count_k_load_mv, N1-A, N1-B.</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Nguồn: PhanCong_Nhom_sEMG_FCF_GiaiDoanPhanCung.docx (cập nhật 24/9). Chi tiết từng việc (M1–M6, B1–B5, T1–T8), sản phẩm, tiêu chí đạt nằm trong file phân công. Nếu trượt mốc: 4/10 → tuần 3 cả nhóm dồn gỡ lỗi phần cứng; 18/10 → không phát lại khi G3 chưa khoá; 8/11 → bảng chi phí rút gọn; 29/11 → chốt ngày nộp mới, ghi lý do trễ.</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Zenodo (sơ bộ): agent 9 đúng / 15 sai trên 24 dự đoán, trưởng nhóm 2 đúng / 3 sai trên 5. Chờ phép đếm chính thức từ các note đã khoá (hạn 11/10). Hai cơ chế khác: tái lập từng fold khớp tới 1e-9 (sinh ra từ lỗi so từng bit vì bộ đọc CSV lệch 1 ulp); bảng điểm dự đoán ghi cả người khai.</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Câu 2: kế hoạch tự thu 24 người, khoảng bốn tháng, hồ sơ đạo đức khoảng 15 triệu. Căn cứ vật lý duy nhất để kỳ vọng kết quả khác ở tải cao là phổ dịch mạnh hơn khi mỏi ở tải cao, nhưng đó vẫn là giả thuyết chưa đo; nên đề xuất thử nhỏ trước. Câu 3: email hội đồng đạo đức ba câu (handoff 21/9). Câu hỏi dự phòng: giữ chuẩn hoá theo MVIC làm cấu hình chính có hợp lý không, khi theo 3 rep tham chiếu tốt hơn 2.70pp? Cách xử lý góp ý: chỉ ra lỗi trong lập luận hoặc code thì nhóm mở lại đúng chỗ đó; gợi ý phân tích mới thì đưa vào hạn chế và hướng tiếp theo, vì cả hai dataset đã đóng theo quy tắc dừng khai báo trước.</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31338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4" r:id="rId4"/>
    <p:sldLayoutId id="2147483675" r:id="rId5"/>
    <p:sldLayoutId id="2147483683" r:id="rId6"/>
    <p:sldLayoutId id="2147483676" r:id="rId7"/>
    <p:sldLayoutId id="2147483679" r:id="rId8"/>
    <p:sldLayoutId id="2147483680" r:id="rId9"/>
    <p:sldLayoutId id="2147483681" r:id="rId10"/>
    <p:sldLayoutId id="2147483682" r:id="rId11"/>
    <p:sldLayoutId id="214748367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2148839" y="2064301"/>
            <a:ext cx="5476911" cy="2145390"/>
          </a:xfrm>
          <a:prstGeom prst="rect">
            <a:avLst/>
          </a:prstGeom>
        </p:spPr>
        <p:txBody>
          <a:bodyPr wrap="square"/>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spcAft>
                <a:spcPts val="400"/>
              </a:spcAft>
            </a:pPr>
            <a:r>
              <a:rPr lang="vi-VN" sz="3600">
                <a:latin typeface="Lato"/>
              </a:rPr>
              <a:t>THIẾT BỊ ĐEO SEMG ƯỚC LƯỢNG TIẾN TRÌNH MỎI CƠ TRONG </a:t>
            </a:r>
            <a:r>
              <a:rPr lang="en-US" sz="3600">
                <a:latin typeface="Lato"/>
              </a:rPr>
              <a:t>BÀI </a:t>
            </a:r>
            <a:r>
              <a:rPr lang="vi-VN" sz="3600">
                <a:latin typeface="Lato"/>
              </a:rPr>
              <a:t>TẬP KHÁNG LỰC</a:t>
            </a:r>
          </a:p>
        </p:txBody>
      </p:sp>
      <p:sp>
        <p:nvSpPr>
          <p:cNvPr id="12" name="TextBox 11"/>
          <p:cNvSpPr txBox="1"/>
          <p:nvPr/>
        </p:nvSpPr>
        <p:spPr>
          <a:xfrm>
            <a:off x="2794528" y="4284739"/>
            <a:ext cx="4599432" cy="915122"/>
          </a:xfrm>
          <a:prstGeom prst="rect">
            <a:avLst/>
          </a:prstGeom>
          <a:noFill/>
        </p:spPr>
        <p:txBody>
          <a:bodyPr wrap="square" lIns="36576" tIns="36576" rIns="36576" bIns="36576" anchor="t">
            <a:spAutoFit/>
          </a:bodyPr>
          <a:lstStyle/>
          <a:p>
            <a:pPr algn="r">
              <a:spcAft>
                <a:spcPts val="400"/>
              </a:spcAft>
            </a:pPr>
            <a:r>
              <a:rPr lang="en-US" sz="1600" b="1" i="0">
                <a:solidFill>
                  <a:srgbClr val="C00000"/>
                </a:solidFill>
                <a:latin typeface="Lato" panose="020F0502020204030203" pitchFamily="34" charset="0"/>
                <a:ea typeface="Lato" panose="020F0502020204030203" pitchFamily="34" charset="0"/>
                <a:cs typeface="Lato" panose="020F0502020204030203" pitchFamily="34" charset="0"/>
              </a:rPr>
              <a:t>TRẦN ĐỨC TRÍ</a:t>
            </a:r>
          </a:p>
          <a:p>
            <a:pPr algn="r">
              <a:spcAft>
                <a:spcPts val="400"/>
              </a:spcAft>
            </a:pPr>
            <a:r>
              <a:rPr lang="en-US" sz="1600" b="1">
                <a:solidFill>
                  <a:srgbClr val="C00000"/>
                </a:solidFill>
                <a:latin typeface="Lato" panose="020F0502020204030203" pitchFamily="34" charset="0"/>
                <a:ea typeface="Lato" panose="020F0502020204030203" pitchFamily="34" charset="0"/>
                <a:cs typeface="Lato" panose="020F0502020204030203" pitchFamily="34" charset="0"/>
              </a:rPr>
              <a:t>TRẦN NGUYỄN PHÚC BÌNH</a:t>
            </a:r>
          </a:p>
          <a:p>
            <a:pPr algn="r">
              <a:spcAft>
                <a:spcPts val="400"/>
              </a:spcAft>
            </a:pPr>
            <a:r>
              <a:rPr lang="en-US" sz="1600" b="1" i="0">
                <a:solidFill>
                  <a:srgbClr val="C00000"/>
                </a:solidFill>
                <a:latin typeface="Lato" panose="020F0502020204030203" pitchFamily="34" charset="0"/>
                <a:ea typeface="Lato" panose="020F0502020204030203" pitchFamily="34" charset="0"/>
                <a:cs typeface="Lato" panose="020F0502020204030203" pitchFamily="34" charset="0"/>
              </a:rPr>
              <a:t>NGUYỄN PHÚ MINH</a:t>
            </a:r>
            <a:endParaRPr sz="1600" b="1" i="0">
              <a:solidFill>
                <a:srgbClr val="C00000"/>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4AD440-4BDC-0F89-49DD-A7807C58B77C}"/>
              </a:ext>
            </a:extLst>
          </p:cNvPr>
          <p:cNvSpPr>
            <a:spLocks noGrp="1"/>
          </p:cNvSpPr>
          <p:nvPr>
            <p:ph type="sldNum" sz="quarter" idx="12"/>
          </p:nvPr>
        </p:nvSpPr>
        <p:spPr/>
        <p:txBody>
          <a:bodyPr/>
          <a:lstStyle/>
          <a:p>
            <a:r>
              <a:rPr lang="en-US"/>
              <a:t>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32FF3-26FD-AD4C-B702-77C3D3B862FD}"/>
                  </a:ext>
                </a:extLst>
              </p:cNvPr>
              <p:cNvSpPr>
                <a:spLocks noGrp="1"/>
              </p:cNvSpPr>
              <p:nvPr>
                <p:ph sz="half" idx="1"/>
              </p:nvPr>
            </p:nvSpPr>
            <p:spPr>
              <a:xfrm>
                <a:off x="557712" y="1147243"/>
                <a:ext cx="8028576" cy="5184545"/>
              </a:xfrm>
            </p:spPr>
            <p:txBody>
              <a:bodyPr/>
              <a:lstStyle/>
              <a:p>
                <a:pPr>
                  <a:lnSpc>
                    <a:spcPct val="100000"/>
                  </a:lnSpc>
                </a:pPr>
                <a:r>
                  <a:rPr lang="en-US" sz="2400" err="1"/>
                  <a:t>Thiết</a:t>
                </a:r>
                <a:r>
                  <a:rPr lang="en-US" sz="2400"/>
                  <a:t> </a:t>
                </a:r>
                <a:r>
                  <a:rPr lang="en-US" sz="2400" err="1"/>
                  <a:t>bị</a:t>
                </a:r>
                <a:r>
                  <a:rPr lang="en-US" sz="2400"/>
                  <a:t> </a:t>
                </a:r>
                <a:r>
                  <a:rPr lang="en-US" sz="2400" err="1"/>
                  <a:t>đeo</a:t>
                </a:r>
                <a:r>
                  <a:rPr lang="en-US" sz="2400"/>
                  <a:t> </a:t>
                </a:r>
                <a:r>
                  <a:rPr lang="en-US" sz="2400" err="1"/>
                  <a:t>sẽ</a:t>
                </a:r>
                <a:r>
                  <a:rPr lang="en-US" sz="2400"/>
                  <a:t> </a:t>
                </a:r>
                <a:r>
                  <a:rPr lang="en-US" sz="2400" err="1"/>
                  <a:t>nhận</a:t>
                </a:r>
                <a:r>
                  <a:rPr lang="en-US" sz="2400"/>
                  <a:t> </a:t>
                </a:r>
                <a:r>
                  <a:rPr lang="en-US" sz="2400" err="1"/>
                  <a:t>đầu</a:t>
                </a:r>
                <a:r>
                  <a:rPr lang="en-US" sz="2400"/>
                  <a:t> </a:t>
                </a:r>
                <a:r>
                  <a:rPr lang="en-US" sz="2400" err="1"/>
                  <a:t>vào</a:t>
                </a:r>
                <a:r>
                  <a:rPr lang="en-US" sz="2400"/>
                  <a:t> </a:t>
                </a:r>
                <a:r>
                  <a:rPr lang="en-US" sz="2400" err="1"/>
                  <a:t>là</a:t>
                </a:r>
                <a:r>
                  <a:rPr lang="en-US" sz="2400"/>
                  <a:t> </a:t>
                </a:r>
                <a:r>
                  <a:rPr lang="en-US" sz="2400" b="1" err="1"/>
                  <a:t>tín</a:t>
                </a:r>
                <a:r>
                  <a:rPr lang="en-US" sz="2400" b="1"/>
                  <a:t> </a:t>
                </a:r>
                <a:r>
                  <a:rPr lang="en-US" sz="2400" b="1" err="1"/>
                  <a:t>hiệu</a:t>
                </a:r>
                <a:r>
                  <a:rPr lang="en-US" sz="2400" b="1"/>
                  <a:t> </a:t>
                </a:r>
                <a:r>
                  <a:rPr lang="en-US" sz="2400" b="1" err="1"/>
                  <a:t>sEMG</a:t>
                </a:r>
                <a:r>
                  <a:rPr lang="en-US" sz="2400"/>
                  <a:t>, </a:t>
                </a:r>
                <a:r>
                  <a:rPr lang="en-US" sz="2400" err="1"/>
                  <a:t>và</a:t>
                </a:r>
                <a:r>
                  <a:rPr lang="en-US" sz="2400"/>
                  <a:t> </a:t>
                </a:r>
                <a:r>
                  <a:rPr lang="en-US" sz="2400" err="1"/>
                  <a:t>đưa</a:t>
                </a:r>
                <a:r>
                  <a:rPr lang="en-US" sz="2400"/>
                  <a:t> </a:t>
                </a:r>
                <a:r>
                  <a:rPr lang="en-US" sz="2400" err="1"/>
                  <a:t>ra</a:t>
                </a:r>
                <a:r>
                  <a:rPr lang="en-US" sz="2400"/>
                  <a:t> </a:t>
                </a:r>
                <a:r>
                  <a:rPr lang="en-US" sz="2400" err="1"/>
                  <a:t>ước</a:t>
                </a:r>
                <a:r>
                  <a:rPr lang="en-US" sz="2400"/>
                  <a:t> </a:t>
                </a:r>
                <a:r>
                  <a:rPr lang="en-US" sz="2400" err="1"/>
                  <a:t>lượng</a:t>
                </a:r>
                <a:r>
                  <a:rPr lang="en-US" sz="2400"/>
                  <a:t> </a:t>
                </a:r>
                <a:r>
                  <a:rPr lang="en-US" sz="2400" err="1"/>
                  <a:t>sau</a:t>
                </a:r>
                <a:r>
                  <a:rPr lang="en-US" sz="2400"/>
                  <a:t> </a:t>
                </a:r>
                <a:r>
                  <a:rPr lang="en-US" sz="2400" err="1"/>
                  <a:t>mỗi</a:t>
                </a:r>
                <a:r>
                  <a:rPr lang="en-US" sz="2400"/>
                  <a:t> rep, </a:t>
                </a:r>
                <a:r>
                  <a:rPr lang="en-US" sz="2400" err="1"/>
                  <a:t>tức</a:t>
                </a:r>
                <a:r>
                  <a:rPr lang="en-US" sz="2400"/>
                  <a:t> 1 </a:t>
                </a:r>
                <a:r>
                  <a:rPr lang="en-US" sz="2400" err="1"/>
                  <a:t>lần</a:t>
                </a:r>
                <a:r>
                  <a:rPr lang="en-US" sz="2400"/>
                  <a:t> </a:t>
                </a:r>
                <a:r>
                  <a:rPr lang="en-US" sz="2400" err="1"/>
                  <a:t>lặp</a:t>
                </a:r>
                <a:r>
                  <a:rPr lang="en-US" sz="2400"/>
                  <a:t> </a:t>
                </a:r>
                <a:r>
                  <a:rPr lang="en-US" sz="2400" err="1"/>
                  <a:t>lại</a:t>
                </a:r>
                <a:r>
                  <a:rPr lang="en-US" sz="2400"/>
                  <a:t> </a:t>
                </a:r>
                <a:r>
                  <a:rPr lang="en-US" sz="2400" err="1"/>
                  <a:t>động</a:t>
                </a:r>
                <a:r>
                  <a:rPr lang="en-US" sz="2400"/>
                  <a:t> </a:t>
                </a:r>
                <a:r>
                  <a:rPr lang="en-US" sz="2400" err="1"/>
                  <a:t>tác</a:t>
                </a:r>
                <a:r>
                  <a:rPr lang="en-US" sz="2400"/>
                  <a:t>.</a:t>
                </a:r>
              </a:p>
              <a:p>
                <a:pPr>
                  <a:lnSpc>
                    <a:spcPct val="100000"/>
                  </a:lnSpc>
                </a:pPr>
                <a:r>
                  <a:rPr lang="en-US" sz="2400" b="1"/>
                  <a:t>FCF (Fraction of Cycles to Fatigue): </a:t>
                </a:r>
                <a:r>
                  <a:rPr lang="en-US" sz="2400" err="1"/>
                  <a:t>tỉ</a:t>
                </a:r>
                <a:r>
                  <a:rPr lang="en-US" sz="2400"/>
                  <a:t> </a:t>
                </a:r>
                <a:r>
                  <a:rPr lang="en-US" sz="2400" err="1"/>
                  <a:t>lệ</a:t>
                </a:r>
                <a:r>
                  <a:rPr lang="en-US" sz="2400"/>
                  <a:t> </a:t>
                </a:r>
                <a:r>
                  <a:rPr lang="en-US" sz="2400" err="1"/>
                  <a:t>tiến</a:t>
                </a:r>
                <a:r>
                  <a:rPr lang="en-US" sz="2400"/>
                  <a:t> </a:t>
                </a:r>
                <a:r>
                  <a:rPr lang="en-US" sz="2400" err="1"/>
                  <a:t>trình</a:t>
                </a:r>
                <a:r>
                  <a:rPr lang="en-US" sz="2400"/>
                  <a:t> </a:t>
                </a:r>
                <a:r>
                  <a:rPr lang="en-US" sz="2400" err="1"/>
                  <a:t>mỏi</a:t>
                </a:r>
                <a:r>
                  <a:rPr lang="en-US" sz="2400"/>
                  <a:t> </a:t>
                </a:r>
                <a:r>
                  <a:rPr lang="en-US" sz="2400" err="1"/>
                  <a:t>của</a:t>
                </a:r>
                <a:r>
                  <a:rPr lang="en-US" sz="2400"/>
                  <a:t> </a:t>
                </a:r>
                <a:r>
                  <a:rPr lang="en-US" sz="2400" err="1"/>
                  <a:t>cơ</a:t>
                </a:r>
                <a:r>
                  <a:rPr lang="en-US" sz="2400"/>
                  <a:t>, </a:t>
                </a:r>
                <a:r>
                  <a:rPr lang="en-US" sz="2400" err="1"/>
                  <a:t>được</a:t>
                </a:r>
                <a:r>
                  <a:rPr lang="en-US" sz="2400"/>
                  <a:t> </a:t>
                </a:r>
                <a:r>
                  <a:rPr lang="en-US" sz="2400" err="1"/>
                  <a:t>xác</a:t>
                </a:r>
                <a:r>
                  <a:rPr lang="en-US" sz="2400"/>
                  <a:t> </a:t>
                </a:r>
                <a:r>
                  <a:rPr lang="en-US" sz="2400" err="1"/>
                  <a:t>định</a:t>
                </a:r>
                <a:r>
                  <a:rPr lang="en-US" sz="2400"/>
                  <a:t> </a:t>
                </a:r>
                <a:r>
                  <a:rPr lang="en-US" sz="2400" err="1"/>
                  <a:t>bởi</a:t>
                </a:r>
                <a:endParaRPr lang="en-US" sz="2400" i="0">
                  <a:latin typeface="Cambria Math" panose="02040503050406030204" pitchFamily="18" charset="0"/>
                </a:endParaRPr>
              </a:p>
              <a:p>
                <a:pPr marL="0" indent="0">
                  <a:lnSpc>
                    <a:spcPct val="100000"/>
                  </a:lnSpc>
                  <a:buNone/>
                </a:pPr>
                <a14:m>
                  <m:oMathPara xmlns:m="http://schemas.openxmlformats.org/officeDocument/2006/math">
                    <m:oMath>
                      <m:r>
                        <m:rPr>
                          <m:nor/>
                        </m:rPr>
                        <a:rPr lang="en-US" sz="2400" i="0" smtClean="0">
                          <a:latin typeface="Cambria Math" panose="02040503050406030204" pitchFamily="18" charset="0"/>
                        </a:rPr>
                        <m:t>FCF</m:t>
                      </m:r>
                      <m:d>
                        <m:dPr>
                          <m:ctrlPr>
                            <a:rPr lang="en-US" sz="2400" i="1" smtClean="0">
                              <a:latin typeface="Cambria Math" panose="02040503050406030204" pitchFamily="18" charset="0"/>
                            </a:rPr>
                          </m:ctrlPr>
                        </m:dPr>
                        <m:e>
                          <m:r>
                            <a:rPr lang="en-US" sz="2400" i="1" smtClean="0">
                              <a:latin typeface="Cambria Math" panose="02040503050406030204" pitchFamily="18" charset="0"/>
                            </a:rPr>
                            <m:t>𝑘</m:t>
                          </m:r>
                        </m:e>
                      </m:d>
                      <m:r>
                        <a:rPr lang="en-US" sz="2400" i="0" smtClean="0">
                          <a:latin typeface="Cambria Math" panose="02040503050406030204" pitchFamily="18" charset="0"/>
                        </a:rPr>
                        <m:t>=</m:t>
                      </m:r>
                      <m:f>
                        <m:fPr>
                          <m:ctrlPr>
                            <a:rPr lang="en-US" sz="2400" i="1" smtClean="0">
                              <a:latin typeface="Cambria Math" panose="02040503050406030204" pitchFamily="18" charset="0"/>
                            </a:rPr>
                          </m:ctrlPr>
                        </m:fPr>
                        <m:num>
                          <m:r>
                            <a:rPr lang="en-US" sz="2400" i="1" smtClean="0">
                              <a:latin typeface="Cambria Math" panose="02040503050406030204" pitchFamily="18" charset="0"/>
                            </a:rPr>
                            <m:t>𝑘</m:t>
                          </m:r>
                        </m:num>
                        <m:den>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𝑁</m:t>
                              </m:r>
                            </m:e>
                            <m:sub>
                              <m:r>
                                <m:rPr>
                                  <m:nor/>
                                </m:rPr>
                                <a:rPr lang="en-US" sz="2400" i="0" smtClean="0">
                                  <a:latin typeface="Cambria Math" panose="02040503050406030204" pitchFamily="18" charset="0"/>
                                </a:rPr>
                                <m:t>total</m:t>
                              </m:r>
                            </m:sub>
                          </m:sSub>
                        </m:den>
                      </m:f>
                    </m:oMath>
                  </m:oMathPara>
                </a14:m>
                <a:endParaRPr lang="en-US" sz="2400"/>
              </a:p>
              <a:p>
                <a:pPr>
                  <a:lnSpc>
                    <a:spcPct val="100000"/>
                  </a:lnSpc>
                </a:pPr>
                <a:r>
                  <a:rPr lang="en-US" sz="2400"/>
                  <a:t> </a:t>
                </a:r>
                <a:r>
                  <a:rPr lang="en-US" sz="2400" b="1"/>
                  <a:t>RIR (Reps in Reserve): </a:t>
                </a:r>
                <a:r>
                  <a:rPr lang="en-US" sz="2400" err="1"/>
                  <a:t>số</a:t>
                </a:r>
                <a:r>
                  <a:rPr lang="en-US" sz="2400"/>
                  <a:t> reps </a:t>
                </a:r>
                <a:r>
                  <a:rPr lang="en-US" sz="2400" err="1"/>
                  <a:t>còn</a:t>
                </a:r>
                <a:r>
                  <a:rPr lang="en-US" sz="2400"/>
                  <a:t> </a:t>
                </a:r>
                <a:r>
                  <a:rPr lang="en-US" sz="2400" err="1"/>
                  <a:t>lại</a:t>
                </a:r>
                <a:r>
                  <a:rPr lang="en-US" sz="2400"/>
                  <a:t> </a:t>
                </a:r>
                <a:r>
                  <a:rPr lang="en-US" sz="2400" err="1"/>
                  <a:t>đến</a:t>
                </a:r>
                <a:r>
                  <a:rPr lang="en-US" sz="2400"/>
                  <a:t> </a:t>
                </a:r>
                <a:r>
                  <a:rPr lang="en-US" sz="2400" err="1"/>
                  <a:t>ngưỡng</a:t>
                </a:r>
                <a:r>
                  <a:rPr lang="en-US" sz="2400"/>
                  <a:t> failure </a:t>
                </a:r>
                <a:r>
                  <a:rPr lang="en-US" sz="2400" err="1"/>
                  <a:t>của</a:t>
                </a:r>
                <a:r>
                  <a:rPr lang="en-US" sz="2400"/>
                  <a:t> </a:t>
                </a:r>
                <a:r>
                  <a:rPr lang="en-US" sz="2400" err="1"/>
                  <a:t>cơ</a:t>
                </a:r>
                <a:r>
                  <a:rPr lang="en-US" sz="2400"/>
                  <a:t>, </a:t>
                </a:r>
                <a:r>
                  <a:rPr lang="en-US" sz="2400" err="1"/>
                  <a:t>được</a:t>
                </a:r>
                <a:r>
                  <a:rPr lang="en-US" sz="2400"/>
                  <a:t> </a:t>
                </a:r>
                <a:r>
                  <a:rPr lang="en-US" sz="2400" err="1"/>
                  <a:t>xác</a:t>
                </a:r>
                <a:r>
                  <a:rPr lang="en-US" sz="2400"/>
                  <a:t> </a:t>
                </a:r>
                <a:r>
                  <a:rPr lang="en-US" sz="2400" err="1"/>
                  <a:t>định</a:t>
                </a:r>
                <a:r>
                  <a:rPr lang="en-US" sz="2400"/>
                  <a:t> </a:t>
                </a:r>
                <a:r>
                  <a:rPr lang="en-US" sz="2400" err="1"/>
                  <a:t>bởi</a:t>
                </a:r>
                <a:endParaRPr lang="en-US" sz="2400"/>
              </a:p>
              <a:p>
                <a:pPr marL="0" indent="0">
                  <a:lnSpc>
                    <a:spcPct val="100000"/>
                  </a:lnSpc>
                  <a:buNone/>
                </a:pPr>
                <a14:m>
                  <m:oMathPara xmlns:m="http://schemas.openxmlformats.org/officeDocument/2006/math">
                    <m:oMath>
                      <m:r>
                        <m:rPr>
                          <m:nor/>
                        </m:rPr>
                        <a:rPr lang="en-US" sz="2400" i="0" dirty="0" smtClean="0">
                          <a:latin typeface="Cambria Math" panose="02040503050406030204" pitchFamily="18" charset="0"/>
                        </a:rPr>
                        <m:t>RIR</m:t>
                      </m:r>
                      <m:d>
                        <m:dPr>
                          <m:ctrlPr>
                            <a:rPr lang="en-US" sz="2400" i="1" dirty="0">
                              <a:latin typeface="Cambria Math" panose="02040503050406030204" pitchFamily="18" charset="0"/>
                            </a:rPr>
                          </m:ctrlPr>
                        </m:dPr>
                        <m:e>
                          <m:r>
                            <a:rPr lang="en-US" sz="2400" i="1" dirty="0">
                              <a:latin typeface="Cambria Math" panose="02040503050406030204" pitchFamily="18" charset="0"/>
                            </a:rPr>
                            <m:t>𝑘</m:t>
                          </m:r>
                        </m:e>
                      </m:d>
                      <m:r>
                        <a:rPr lang="en-US" sz="2400" i="0"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𝑁</m:t>
                          </m:r>
                        </m:e>
                        <m:sub>
                          <m:r>
                            <m:rPr>
                              <m:nor/>
                            </m:rPr>
                            <a:rPr lang="en-US" sz="2400" i="0" dirty="0">
                              <a:latin typeface="Cambria Math" panose="02040503050406030204" pitchFamily="18" charset="0"/>
                            </a:rPr>
                            <m:t>total</m:t>
                          </m:r>
                        </m:sub>
                      </m:sSub>
                      <m:r>
                        <a:rPr lang="en-US" sz="2400" i="0" dirty="0">
                          <a:latin typeface="Cambria Math" panose="02040503050406030204" pitchFamily="18" charset="0"/>
                        </a:rPr>
                        <m:t>−</m:t>
                      </m:r>
                      <m:r>
                        <a:rPr lang="en-US" sz="2400" i="1" dirty="0" smtClean="0">
                          <a:latin typeface="Cambria Math" panose="02040503050406030204" pitchFamily="18" charset="0"/>
                        </a:rPr>
                        <m:t>𝑘</m:t>
                      </m:r>
                      <m:r>
                        <a:rPr lang="en-US" sz="2400" i="0" dirty="0" smtClean="0">
                          <a:latin typeface="Cambria Math" panose="02040503050406030204" pitchFamily="18" charset="0"/>
                        </a:rPr>
                        <m:t>=</m:t>
                      </m:r>
                      <m:r>
                        <a:rPr lang="en-US" sz="2400" i="1" dirty="0" smtClean="0">
                          <a:latin typeface="Cambria Math" panose="02040503050406030204" pitchFamily="18" charset="0"/>
                        </a:rPr>
                        <m:t>𝑘</m:t>
                      </m:r>
                      <m:r>
                        <a:rPr lang="en-US" sz="2400" i="0" dirty="0" smtClean="0">
                          <a:latin typeface="Cambria Math" panose="02040503050406030204" pitchFamily="18" charset="0"/>
                        </a:rPr>
                        <m:t>⋅</m:t>
                      </m:r>
                      <m:d>
                        <m:dPr>
                          <m:ctrlPr>
                            <a:rPr lang="en-US" sz="2400" i="1" dirty="0">
                              <a:latin typeface="Cambria Math" panose="02040503050406030204" pitchFamily="18" charset="0"/>
                            </a:rPr>
                          </m:ctrlPr>
                        </m:dPr>
                        <m:e>
                          <m:f>
                            <m:fPr>
                              <m:ctrlPr>
                                <a:rPr lang="en-US" sz="2400" i="0" dirty="0">
                                  <a:latin typeface="Cambria Math" panose="02040503050406030204" pitchFamily="18" charset="0"/>
                                </a:rPr>
                              </m:ctrlPr>
                            </m:fPr>
                            <m:num>
                              <m:r>
                                <a:rPr lang="en-US" sz="2400" i="0" dirty="0">
                                  <a:latin typeface="Cambria Math" panose="02040503050406030204" pitchFamily="18" charset="0"/>
                                </a:rPr>
                                <m:t>1</m:t>
                              </m:r>
                            </m:num>
                            <m:den>
                              <m:r>
                                <m:rPr>
                                  <m:nor/>
                                </m:rPr>
                                <a:rPr lang="en-US" sz="2400" i="0" dirty="0">
                                  <a:latin typeface="Cambria Math" panose="02040503050406030204" pitchFamily="18" charset="0"/>
                                </a:rPr>
                                <m:t>FCF</m:t>
                              </m:r>
                              <m:d>
                                <m:dPr>
                                  <m:ctrlPr>
                                    <a:rPr lang="en-US" sz="2400" i="1" dirty="0">
                                      <a:latin typeface="Cambria Math" panose="02040503050406030204" pitchFamily="18" charset="0"/>
                                    </a:rPr>
                                  </m:ctrlPr>
                                </m:dPr>
                                <m:e>
                                  <m:r>
                                    <a:rPr lang="en-US" sz="2400" i="1" dirty="0">
                                      <a:latin typeface="Cambria Math" panose="02040503050406030204" pitchFamily="18" charset="0"/>
                                    </a:rPr>
                                    <m:t>𝑘</m:t>
                                  </m:r>
                                </m:e>
                              </m:d>
                            </m:den>
                          </m:f>
                          <m:r>
                            <a:rPr lang="en-US" sz="2400" i="0" dirty="0">
                              <a:latin typeface="Cambria Math" panose="02040503050406030204" pitchFamily="18" charset="0"/>
                            </a:rPr>
                            <m:t>−1</m:t>
                          </m:r>
                        </m:e>
                      </m:d>
                    </m:oMath>
                  </m:oMathPara>
                </a14:m>
                <a:endParaRPr lang="en-US" sz="2400"/>
              </a:p>
              <a:p>
                <a:pPr marL="0" indent="0">
                  <a:lnSpc>
                    <a:spcPct val="100000"/>
                  </a:lnSpc>
                  <a:buNone/>
                </a:pPr>
                <a:r>
                  <a:rPr lang="en-US" sz="2400" i="1"/>
                  <a:t>k</a:t>
                </a:r>
                <a:r>
                  <a:rPr lang="en-US" sz="2000" i="1"/>
                  <a:t>: 	</a:t>
                </a:r>
                <a:r>
                  <a:rPr lang="en-US" sz="2000" i="1" err="1"/>
                  <a:t>thứ</a:t>
                </a:r>
                <a:r>
                  <a:rPr lang="en-US" sz="2000" i="1"/>
                  <a:t> </a:t>
                </a:r>
                <a:r>
                  <a:rPr lang="en-US" sz="2000" i="1" err="1"/>
                  <a:t>tự</a:t>
                </a:r>
                <a:r>
                  <a:rPr lang="en-US" sz="2000" i="1"/>
                  <a:t> rep </a:t>
                </a:r>
                <a:r>
                  <a:rPr lang="en-US" sz="2000" i="1" err="1"/>
                  <a:t>hiện</a:t>
                </a:r>
                <a:r>
                  <a:rPr lang="en-US" sz="2000" i="1"/>
                  <a:t> </a:t>
                </a:r>
                <a:r>
                  <a:rPr lang="en-US" sz="2000" i="1" err="1"/>
                  <a:t>tại</a:t>
                </a:r>
                <a:r>
                  <a:rPr lang="en-US" sz="2000" i="1"/>
                  <a:t>,</a:t>
                </a:r>
              </a:p>
              <a:p>
                <a:pPr marL="0" indent="0">
                  <a:lnSpc>
                    <a:spcPct val="100000"/>
                  </a:lnSpc>
                  <a:buNone/>
                </a:pPr>
                <a:r>
                  <a:rPr lang="en-US" sz="2000" i="1"/>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m:rPr>
                            <m:nor/>
                          </m:rPr>
                          <a:rPr lang="en-US" sz="2000" i="1">
                            <a:latin typeface="Cambria Math" panose="02040503050406030204" pitchFamily="18" charset="0"/>
                          </a:rPr>
                          <m:t>total</m:t>
                        </m:r>
                      </m:sub>
                    </m:sSub>
                    <m:r>
                      <a:rPr lang="en-US" sz="2000" i="1">
                        <a:latin typeface="Cambria Math" panose="02040503050406030204" pitchFamily="18" charset="0"/>
                      </a:rPr>
                      <m:t>: </m:t>
                    </m:r>
                  </m:oMath>
                </a14:m>
                <a:r>
                  <a:rPr lang="en-US" sz="2000" i="1" err="1"/>
                  <a:t>tổng</a:t>
                </a:r>
                <a:r>
                  <a:rPr lang="en-US" sz="2000" i="1"/>
                  <a:t> </a:t>
                </a:r>
                <a:r>
                  <a:rPr lang="en-US" sz="2000" i="1" err="1"/>
                  <a:t>số</a:t>
                </a:r>
                <a:r>
                  <a:rPr lang="en-US" sz="2000" i="1"/>
                  <a:t> rep </a:t>
                </a:r>
                <a:r>
                  <a:rPr lang="en-US" sz="2000" i="1" err="1"/>
                  <a:t>hoàn</a:t>
                </a:r>
                <a:r>
                  <a:rPr lang="en-US" sz="2000" i="1"/>
                  <a:t> </a:t>
                </a:r>
                <a:r>
                  <a:rPr lang="en-US" sz="2000" i="1" err="1"/>
                  <a:t>thành</a:t>
                </a:r>
                <a:r>
                  <a:rPr lang="en-US" sz="2000" i="1"/>
                  <a:t> </a:t>
                </a:r>
                <a:r>
                  <a:rPr lang="en-US" sz="2000" i="1" err="1"/>
                  <a:t>của</a:t>
                </a:r>
                <a:r>
                  <a:rPr lang="en-US" sz="2000" i="1"/>
                  <a:t> 1 set </a:t>
                </a:r>
                <a:r>
                  <a:rPr lang="en-US" sz="2000" i="1" err="1"/>
                  <a:t>tập</a:t>
                </a:r>
                <a:r>
                  <a:rPr lang="en-US" sz="2000" i="1"/>
                  <a:t> </a:t>
                </a:r>
                <a:r>
                  <a:rPr lang="en-US" sz="2000" i="1" err="1"/>
                  <a:t>đến</a:t>
                </a:r>
                <a:r>
                  <a:rPr lang="en-US" sz="2000" i="1"/>
                  <a:t> </a:t>
                </a:r>
                <a:r>
                  <a:rPr lang="en-US" sz="2000" i="1" err="1"/>
                  <a:t>ngưỡng</a:t>
                </a:r>
                <a:r>
                  <a:rPr lang="en-US" sz="2000" i="1"/>
                  <a:t> failure</a:t>
                </a:r>
                <a:endParaRPr lang="en-US" sz="2400" i="1"/>
              </a:p>
            </p:txBody>
          </p:sp>
        </mc:Choice>
        <mc:Fallback xmlns="">
          <p:sp>
            <p:nvSpPr>
              <p:cNvPr id="3" name="Content Placeholder 2">
                <a:extLst>
                  <a:ext uri="{FF2B5EF4-FFF2-40B4-BE49-F238E27FC236}">
                    <a16:creationId xmlns:a16="http://schemas.microsoft.com/office/drawing/2014/main" id="{E4632FF3-26FD-AD4C-B702-77C3D3B862FD}"/>
                  </a:ext>
                </a:extLst>
              </p:cNvPr>
              <p:cNvSpPr>
                <a:spLocks noGrp="1" noRot="1" noChangeAspect="1" noMove="1" noResize="1" noEditPoints="1" noAdjustHandles="1" noChangeArrowheads="1" noChangeShapeType="1" noTextEdit="1"/>
              </p:cNvSpPr>
              <p:nvPr>
                <p:ph sz="half" idx="1"/>
              </p:nvPr>
            </p:nvSpPr>
            <p:spPr>
              <a:xfrm>
                <a:off x="557712" y="1147243"/>
                <a:ext cx="8028576" cy="5184545"/>
              </a:xfrm>
              <a:blipFill>
                <a:blip r:embed="rId3"/>
                <a:stretch>
                  <a:fillRect l="-1138" t="-823"/>
                </a:stretch>
              </a:blipFill>
            </p:spPr>
            <p:txBody>
              <a:bodyPr/>
              <a:lstStyle/>
              <a:p>
                <a:r>
                  <a:rPr lang="en-US">
                    <a:noFill/>
                  </a:rPr>
                  <a:t> </a:t>
                </a:r>
              </a:p>
            </p:txBody>
          </p:sp>
        </mc:Fallback>
      </mc:AlternateContent>
      <p:sp>
        <p:nvSpPr>
          <p:cNvPr id="5" name="Title 4">
            <a:extLst>
              <a:ext uri="{FF2B5EF4-FFF2-40B4-BE49-F238E27FC236}">
                <a16:creationId xmlns:a16="http://schemas.microsoft.com/office/drawing/2014/main" id="{15D82B9D-4C94-2CC9-9B9A-AB0855132072}"/>
              </a:ext>
            </a:extLst>
          </p:cNvPr>
          <p:cNvSpPr>
            <a:spLocks noGrp="1"/>
          </p:cNvSpPr>
          <p:nvPr>
            <p:ph type="title"/>
          </p:nvPr>
        </p:nvSpPr>
        <p:spPr>
          <a:xfrm>
            <a:off x="235077" y="74473"/>
            <a:ext cx="8673846" cy="451739"/>
          </a:xfrm>
        </p:spPr>
        <p:txBody>
          <a:bodyPr/>
          <a:lstStyle/>
          <a:p>
            <a:r>
              <a:rPr lang="en-US" sz="2400">
                <a:latin typeface="Lato"/>
              </a:rPr>
              <a:t>ĐỊNH NGHĨA BÀI TOÁN</a:t>
            </a:r>
          </a:p>
        </p:txBody>
      </p:sp>
    </p:spTree>
    <p:extLst>
      <p:ext uri="{BB962C8B-B14F-4D97-AF65-F5344CB8AC3E}">
        <p14:creationId xmlns:p14="http://schemas.microsoft.com/office/powerpoint/2010/main" val="3314762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THÔNG TIN NHẬN ĐƯỢC TỪ SEMG</a:t>
            </a:r>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a:t>
            </a:r>
          </a:p>
        </p:txBody>
      </p:sp>
      <p:sp>
        <p:nvSpPr>
          <p:cNvPr id="18" name="TextBox 17"/>
          <p:cNvSpPr txBox="1"/>
          <p:nvPr/>
        </p:nvSpPr>
        <p:spPr>
          <a:xfrm>
            <a:off x="295462" y="2499073"/>
            <a:ext cx="8412480" cy="2659190"/>
          </a:xfrm>
          <a:prstGeom prst="rect">
            <a:avLst/>
          </a:prstGeom>
          <a:noFill/>
        </p:spPr>
        <p:txBody>
          <a:bodyPr wrap="square" lIns="36576" tIns="36576" rIns="36576" bIns="36576" anchor="t">
            <a:spAutoFit/>
          </a:bodyPr>
          <a:lstStyle/>
          <a:p>
            <a:pPr marL="342900" lvl="0" indent="-342900">
              <a:buFont typeface="Arial" panose="020B0604020202020204" pitchFamily="34" charset="0"/>
              <a:buChar char="•"/>
            </a:pPr>
            <a:r>
              <a:rPr lang="en-US" sz="2400" b="1" err="1">
                <a:latin typeface="Lato"/>
              </a:rPr>
              <a:t>Biên</a:t>
            </a:r>
            <a:r>
              <a:rPr lang="en-US" sz="2400" b="1">
                <a:latin typeface="Lato"/>
              </a:rPr>
              <a:t> </a:t>
            </a:r>
            <a:r>
              <a:rPr lang="en-US" sz="2400" b="1" err="1">
                <a:latin typeface="Lato"/>
              </a:rPr>
              <a:t>độ</a:t>
            </a:r>
            <a:r>
              <a:rPr lang="en-US" sz="2400">
                <a:latin typeface="Lato"/>
              </a:rPr>
              <a:t> (RMS, Total Power): </a:t>
            </a:r>
            <a:r>
              <a:rPr lang="en-US" sz="2400" err="1">
                <a:latin typeface="Lato"/>
              </a:rPr>
              <a:t>mức</a:t>
            </a:r>
            <a:r>
              <a:rPr lang="en-US" sz="2400">
                <a:latin typeface="Lato"/>
              </a:rPr>
              <a:t> </a:t>
            </a:r>
            <a:r>
              <a:rPr lang="en-US" sz="2400" err="1">
                <a:latin typeface="Lato"/>
              </a:rPr>
              <a:t>kích</a:t>
            </a:r>
            <a:r>
              <a:rPr lang="en-US" sz="2400">
                <a:latin typeface="Lato"/>
              </a:rPr>
              <a:t> </a:t>
            </a:r>
            <a:r>
              <a:rPr lang="en-US" sz="2400" err="1">
                <a:latin typeface="Lato"/>
              </a:rPr>
              <a:t>hoạt</a:t>
            </a:r>
            <a:r>
              <a:rPr lang="en-US" sz="2400">
                <a:latin typeface="Lato"/>
              </a:rPr>
              <a:t> </a:t>
            </a:r>
            <a:r>
              <a:rPr lang="en-US" sz="2400" err="1">
                <a:latin typeface="Lato"/>
              </a:rPr>
              <a:t>cơ</a:t>
            </a:r>
            <a:r>
              <a:rPr lang="en-US" sz="2400">
                <a:latin typeface="Lato"/>
              </a:rPr>
              <a:t>, </a:t>
            </a:r>
            <a:r>
              <a:rPr lang="en-US" sz="2400" err="1">
                <a:latin typeface="Lato"/>
              </a:rPr>
              <a:t>phụ</a:t>
            </a:r>
            <a:r>
              <a:rPr lang="en-US" sz="2400">
                <a:latin typeface="Lato"/>
              </a:rPr>
              <a:t> </a:t>
            </a:r>
            <a:r>
              <a:rPr lang="en-US" sz="2400" err="1">
                <a:latin typeface="Lato"/>
              </a:rPr>
              <a:t>thuộc</a:t>
            </a:r>
            <a:r>
              <a:rPr lang="en-US" sz="2400">
                <a:latin typeface="Lato"/>
              </a:rPr>
              <a:t> </a:t>
            </a:r>
            <a:r>
              <a:rPr lang="en-US" sz="2400" err="1">
                <a:latin typeface="Lato"/>
              </a:rPr>
              <a:t>theo</a:t>
            </a:r>
            <a:r>
              <a:rPr lang="en-US" sz="2400">
                <a:latin typeface="Lato"/>
              </a:rPr>
              <a:t> </a:t>
            </a:r>
            <a:r>
              <a:rPr lang="en-US" sz="2400" err="1">
                <a:latin typeface="Lato"/>
              </a:rPr>
              <a:t>cả</a:t>
            </a:r>
            <a:r>
              <a:rPr lang="en-US" sz="2400">
                <a:latin typeface="Lato"/>
              </a:rPr>
              <a:t> </a:t>
            </a:r>
            <a:r>
              <a:rPr lang="en-US" sz="2400" err="1">
                <a:latin typeface="Lato"/>
              </a:rPr>
              <a:t>lực</a:t>
            </a:r>
            <a:r>
              <a:rPr lang="en-US" sz="2400">
                <a:latin typeface="Lato"/>
              </a:rPr>
              <a:t>, </a:t>
            </a:r>
            <a:r>
              <a:rPr lang="en-US" sz="2400" err="1">
                <a:latin typeface="Lato"/>
              </a:rPr>
              <a:t>tốc</a:t>
            </a:r>
            <a:r>
              <a:rPr lang="en-US" sz="2400">
                <a:latin typeface="Lato"/>
              </a:rPr>
              <a:t> </a:t>
            </a:r>
            <a:r>
              <a:rPr lang="en-US" sz="2400" err="1">
                <a:latin typeface="Lato"/>
              </a:rPr>
              <a:t>độ</a:t>
            </a:r>
            <a:r>
              <a:rPr lang="en-US" sz="2400">
                <a:latin typeface="Lato"/>
              </a:rPr>
              <a:t>, </a:t>
            </a:r>
            <a:r>
              <a:rPr lang="en-US" sz="2400" err="1">
                <a:latin typeface="Lato"/>
              </a:rPr>
              <a:t>vị</a:t>
            </a:r>
            <a:r>
              <a:rPr lang="en-US" sz="2400">
                <a:latin typeface="Lato"/>
              </a:rPr>
              <a:t> </a:t>
            </a:r>
            <a:r>
              <a:rPr lang="en-US" sz="2400" err="1">
                <a:latin typeface="Lato"/>
              </a:rPr>
              <a:t>trí</a:t>
            </a:r>
            <a:r>
              <a:rPr lang="en-US" sz="2400">
                <a:latin typeface="Lato"/>
              </a:rPr>
              <a:t> </a:t>
            </a:r>
            <a:r>
              <a:rPr lang="en-US" sz="2400" err="1">
                <a:latin typeface="Lato"/>
              </a:rPr>
              <a:t>điện</a:t>
            </a:r>
            <a:r>
              <a:rPr lang="en-US" sz="2400">
                <a:latin typeface="Lato"/>
              </a:rPr>
              <a:t> </a:t>
            </a:r>
            <a:r>
              <a:rPr lang="en-US" sz="2400" err="1">
                <a:latin typeface="Lato"/>
              </a:rPr>
              <a:t>cực</a:t>
            </a:r>
            <a:r>
              <a:rPr lang="en-US" sz="2400">
                <a:latin typeface="Lato"/>
              </a:rPr>
              <a:t>, </a:t>
            </a:r>
            <a:r>
              <a:rPr lang="en-US" sz="2400" err="1">
                <a:latin typeface="Lato"/>
              </a:rPr>
              <a:t>không</a:t>
            </a:r>
            <a:r>
              <a:rPr lang="en-US" sz="2400">
                <a:latin typeface="Lato"/>
              </a:rPr>
              <a:t> </a:t>
            </a:r>
            <a:r>
              <a:rPr lang="en-US" sz="2400" err="1">
                <a:latin typeface="Lato"/>
              </a:rPr>
              <a:t>chỉ</a:t>
            </a:r>
            <a:r>
              <a:rPr lang="en-US" sz="2400">
                <a:latin typeface="Lato"/>
              </a:rPr>
              <a:t> </a:t>
            </a:r>
            <a:r>
              <a:rPr lang="en-US" sz="2400" err="1">
                <a:latin typeface="Lato"/>
              </a:rPr>
              <a:t>theo</a:t>
            </a:r>
            <a:r>
              <a:rPr lang="en-US" sz="2400">
                <a:latin typeface="Lato"/>
              </a:rPr>
              <a:t> </a:t>
            </a:r>
            <a:r>
              <a:rPr lang="en-US" sz="2400" err="1">
                <a:latin typeface="Lato"/>
              </a:rPr>
              <a:t>mỏi</a:t>
            </a:r>
            <a:r>
              <a:rPr lang="en-US" sz="2400">
                <a:latin typeface="Lato"/>
              </a:rPr>
              <a:t>.</a:t>
            </a:r>
          </a:p>
          <a:p>
            <a:pPr lvl="0"/>
            <a:endParaRPr lang="en-US" sz="2400"/>
          </a:p>
          <a:p>
            <a:pPr marL="342900" lvl="0" indent="-342900">
              <a:buFont typeface="Arial" panose="020B0604020202020204" pitchFamily="34" charset="0"/>
              <a:buChar char="•"/>
            </a:pPr>
            <a:r>
              <a:rPr lang="en-US" sz="2400" b="1" err="1">
                <a:latin typeface="Lato"/>
              </a:rPr>
              <a:t>Phổ</a:t>
            </a:r>
            <a:r>
              <a:rPr lang="en-US" sz="2400" b="1">
                <a:latin typeface="Lato"/>
              </a:rPr>
              <a:t> </a:t>
            </a:r>
            <a:r>
              <a:rPr lang="en-US" sz="2400" b="1" err="1">
                <a:latin typeface="Lato"/>
              </a:rPr>
              <a:t>tần</a:t>
            </a:r>
            <a:r>
              <a:rPr lang="en-US" sz="2400" b="1">
                <a:latin typeface="Lato"/>
              </a:rPr>
              <a:t> </a:t>
            </a:r>
            <a:r>
              <a:rPr lang="en-US" sz="2400" b="1" err="1">
                <a:latin typeface="Lato"/>
              </a:rPr>
              <a:t>số</a:t>
            </a:r>
            <a:r>
              <a:rPr lang="en-US" sz="2400">
                <a:latin typeface="Lato"/>
              </a:rPr>
              <a:t> (MNF, MDF): xu </a:t>
            </a:r>
            <a:r>
              <a:rPr lang="en-US" sz="2400" err="1">
                <a:latin typeface="Lato"/>
              </a:rPr>
              <a:t>hướng</a:t>
            </a:r>
            <a:r>
              <a:rPr lang="en-US" sz="2400">
                <a:latin typeface="Lato"/>
              </a:rPr>
              <a:t> </a:t>
            </a:r>
            <a:r>
              <a:rPr lang="en-US" sz="2400" b="1" err="1">
                <a:latin typeface="Lato"/>
              </a:rPr>
              <a:t>dịch</a:t>
            </a:r>
            <a:r>
              <a:rPr lang="en-US" sz="2400" b="1">
                <a:latin typeface="Lato"/>
              </a:rPr>
              <a:t> </a:t>
            </a:r>
            <a:r>
              <a:rPr lang="en-US" sz="2400" b="1" err="1">
                <a:latin typeface="Lato"/>
              </a:rPr>
              <a:t>về</a:t>
            </a:r>
            <a:r>
              <a:rPr lang="en-US" sz="2400" b="1">
                <a:latin typeface="Lato"/>
              </a:rPr>
              <a:t> </a:t>
            </a:r>
            <a:r>
              <a:rPr lang="en-US" sz="2400" b="1" err="1">
                <a:latin typeface="Lato"/>
              </a:rPr>
              <a:t>tần</a:t>
            </a:r>
            <a:r>
              <a:rPr lang="en-US" sz="2400" b="1">
                <a:latin typeface="Lato"/>
              </a:rPr>
              <a:t> </a:t>
            </a:r>
            <a:r>
              <a:rPr lang="en-US" sz="2400" b="1" err="1">
                <a:latin typeface="Lato"/>
              </a:rPr>
              <a:t>số</a:t>
            </a:r>
            <a:r>
              <a:rPr lang="en-US" sz="2400" b="1">
                <a:latin typeface="Lato"/>
              </a:rPr>
              <a:t> </a:t>
            </a:r>
            <a:r>
              <a:rPr lang="en-US" sz="2400" b="1" err="1">
                <a:latin typeface="Lato"/>
              </a:rPr>
              <a:t>thấp</a:t>
            </a:r>
            <a:r>
              <a:rPr lang="en-US" sz="2400" b="1">
                <a:latin typeface="Lato"/>
              </a:rPr>
              <a:t> </a:t>
            </a:r>
            <a:r>
              <a:rPr lang="en-US" sz="2400" err="1">
                <a:latin typeface="Lato"/>
              </a:rPr>
              <a:t>khi</a:t>
            </a:r>
            <a:r>
              <a:rPr lang="en-US" sz="2400">
                <a:latin typeface="Lato"/>
              </a:rPr>
              <a:t> </a:t>
            </a:r>
            <a:r>
              <a:rPr lang="en-US" sz="2400" err="1">
                <a:latin typeface="Lato"/>
              </a:rPr>
              <a:t>mỏi</a:t>
            </a:r>
            <a:r>
              <a:rPr lang="en-US" sz="2400">
                <a:latin typeface="Lato"/>
              </a:rPr>
              <a:t>, </a:t>
            </a:r>
            <a:r>
              <a:rPr lang="en-US" sz="2400" err="1">
                <a:latin typeface="Lato"/>
              </a:rPr>
              <a:t>ít</a:t>
            </a:r>
            <a:r>
              <a:rPr lang="en-US" sz="2400">
                <a:latin typeface="Lato"/>
              </a:rPr>
              <a:t> </a:t>
            </a:r>
            <a:r>
              <a:rPr lang="en-US" sz="2400" err="1">
                <a:latin typeface="Lato"/>
              </a:rPr>
              <a:t>phụ</a:t>
            </a:r>
            <a:r>
              <a:rPr lang="en-US" sz="2400">
                <a:latin typeface="Lato"/>
              </a:rPr>
              <a:t> </a:t>
            </a:r>
            <a:r>
              <a:rPr lang="en-US" sz="2400" err="1">
                <a:latin typeface="Lato"/>
              </a:rPr>
              <a:t>thuộc</a:t>
            </a:r>
            <a:r>
              <a:rPr lang="en-US" sz="2400">
                <a:latin typeface="Lato"/>
              </a:rPr>
              <a:t> </a:t>
            </a:r>
            <a:r>
              <a:rPr lang="en-US" sz="2400" err="1">
                <a:latin typeface="Lato"/>
              </a:rPr>
              <a:t>những</a:t>
            </a:r>
            <a:r>
              <a:rPr lang="en-US" sz="2400">
                <a:latin typeface="Lato"/>
              </a:rPr>
              <a:t> </a:t>
            </a:r>
            <a:r>
              <a:rPr lang="en-US" sz="2400" err="1">
                <a:latin typeface="Lato"/>
              </a:rPr>
              <a:t>yếu</a:t>
            </a:r>
            <a:r>
              <a:rPr lang="en-US" sz="2400">
                <a:latin typeface="Lato"/>
              </a:rPr>
              <a:t> </a:t>
            </a:r>
            <a:r>
              <a:rPr lang="en-US" sz="2400" err="1">
                <a:latin typeface="Lato"/>
              </a:rPr>
              <a:t>tố</a:t>
            </a:r>
            <a:r>
              <a:rPr lang="en-US" sz="2400">
                <a:latin typeface="Lato"/>
              </a:rPr>
              <a:t> </a:t>
            </a:r>
            <a:r>
              <a:rPr lang="en-US" sz="2400" err="1">
                <a:latin typeface="Lato"/>
              </a:rPr>
              <a:t>trên</a:t>
            </a:r>
            <a:r>
              <a:rPr lang="en-US" sz="2400">
                <a:latin typeface="Lato"/>
              </a:rPr>
              <a:t>.</a:t>
            </a:r>
          </a:p>
          <a:p>
            <a:pPr marL="342900" lvl="0" indent="-342900">
              <a:buFont typeface="Arial" panose="020B0604020202020204" pitchFamily="34" charset="0"/>
              <a:buChar char="•"/>
            </a:pPr>
            <a:endParaRPr lang="en-US" sz="2400"/>
          </a:p>
          <a:p>
            <a:pPr lvl="0"/>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BCB76-48B5-3C3D-78B1-76410327D8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2976EB-7EF8-D65B-C802-290EF3FEBFAB}"/>
              </a:ext>
            </a:extLst>
          </p:cNvPr>
          <p:cNvSpPr>
            <a:spLocks noGrp="1"/>
          </p:cNvSpPr>
          <p:nvPr>
            <p:ph type="title"/>
          </p:nvPr>
        </p:nvSpPr>
        <p:spPr/>
        <p:txBody>
          <a:bodyPr/>
          <a:lstStyle/>
          <a:p>
            <a:pPr algn="l"/>
            <a:r>
              <a:rPr lang="en-US" sz="2400">
                <a:latin typeface="Lato"/>
              </a:rPr>
              <a:t>THÔNG TIN NHẬN ĐƯỢC TỪ SEMG</a:t>
            </a:r>
            <a:endParaRPr/>
          </a:p>
        </p:txBody>
      </p:sp>
      <p:sp>
        <p:nvSpPr>
          <p:cNvPr id="16" name="Slide Number Placeholder 5">
            <a:extLst>
              <a:ext uri="{FF2B5EF4-FFF2-40B4-BE49-F238E27FC236}">
                <a16:creationId xmlns:a16="http://schemas.microsoft.com/office/drawing/2014/main" id="{CE53C9BE-6941-357B-6BF0-03D0A1A4E5B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a:t>
            </a:r>
          </a:p>
        </p:txBody>
      </p:sp>
      <p:pic>
        <p:nvPicPr>
          <p:cNvPr id="19" name="Picture 18" descr="h1a_mnf.png"/>
          <p:cNvPicPr>
            <a:picLocks noChangeAspect="1"/>
          </p:cNvPicPr>
          <p:nvPr/>
        </p:nvPicPr>
        <p:blipFill>
          <a:blip r:embed="rId3"/>
          <a:stretch>
            <a:fillRect/>
          </a:stretch>
        </p:blipFill>
        <p:spPr>
          <a:xfrm>
            <a:off x="837992" y="1278605"/>
            <a:ext cx="7468015" cy="3560004"/>
          </a:xfrm>
          <a:prstGeom prst="rect">
            <a:avLst/>
          </a:prstGeom>
        </p:spPr>
      </p:pic>
      <p:sp>
        <p:nvSpPr>
          <p:cNvPr id="18" name="TextBox 17">
            <a:extLst>
              <a:ext uri="{FF2B5EF4-FFF2-40B4-BE49-F238E27FC236}">
                <a16:creationId xmlns:a16="http://schemas.microsoft.com/office/drawing/2014/main" id="{84F80A23-7904-AC38-0638-E05368A7DF19}"/>
              </a:ext>
            </a:extLst>
          </p:cNvPr>
          <p:cNvSpPr txBox="1"/>
          <p:nvPr/>
        </p:nvSpPr>
        <p:spPr>
          <a:xfrm>
            <a:off x="365759" y="4885233"/>
            <a:ext cx="8412480" cy="1164037"/>
          </a:xfrm>
          <a:prstGeom prst="rect">
            <a:avLst/>
          </a:prstGeom>
          <a:noFill/>
        </p:spPr>
        <p:txBody>
          <a:bodyPr wrap="square" lIns="36576" tIns="36576" rIns="36576" bIns="36576" anchor="t">
            <a:spAutoFit/>
          </a:bodyPr>
          <a:lstStyle/>
          <a:p>
            <a:pPr algn="l">
              <a:lnSpc>
                <a:spcPct val="105000"/>
              </a:lnSpc>
              <a:spcAft>
                <a:spcPts val="600"/>
              </a:spcAft>
            </a:pPr>
            <a:r>
              <a:rPr sz="1600" b="0" i="0">
                <a:solidFill>
                  <a:srgbClr val="262626"/>
                </a:solidFill>
                <a:latin typeface="Lato" panose="020F0502020204030203" pitchFamily="34" charset="0"/>
                <a:ea typeface="Lato" panose="020F0502020204030203" pitchFamily="34" charset="0"/>
                <a:cs typeface="Lato" panose="020F0502020204030203" pitchFamily="34" charset="0"/>
              </a:rPr>
              <a:t>Bicep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tay</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trái</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13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set</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trên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1" i="0">
                <a:solidFill>
                  <a:srgbClr val="262626"/>
                </a:solidFill>
                <a:latin typeface="Lato" panose="020F0502020204030203" pitchFamily="34" charset="0"/>
                <a:ea typeface="Lato" panose="020F0502020204030203" pitchFamily="34" charset="0"/>
                <a:cs typeface="Lato" panose="020F0502020204030203" pitchFamily="34" charset="0"/>
              </a:rPr>
              <a:t>dataset </a:t>
            </a:r>
            <a:r>
              <a:rPr sz="1600" b="1" i="0" err="1">
                <a:solidFill>
                  <a:srgbClr val="262626"/>
                </a:solidFill>
                <a:latin typeface="Lato" panose="020F0502020204030203" pitchFamily="34" charset="0"/>
                <a:ea typeface="Lato" panose="020F0502020204030203" pitchFamily="34" charset="0"/>
                <a:cs typeface="Lato" panose="020F0502020204030203" pitchFamily="34" charset="0"/>
              </a:rPr>
              <a:t>Zenodo</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tần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số</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trung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bình</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của</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phổ</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1" i="0">
                <a:solidFill>
                  <a:srgbClr val="262626"/>
                </a:solidFill>
                <a:latin typeface="Lato" panose="020F0502020204030203" pitchFamily="34" charset="0"/>
                <a:ea typeface="Lato" panose="020F0502020204030203" pitchFamily="34" charset="0"/>
                <a:cs typeface="Lato" panose="020F0502020204030203" pitchFamily="34" charset="0"/>
              </a:rPr>
              <a:t>MNF</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giảm</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dần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khi</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tiến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gần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kiệt</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sức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a:t>
            </a:r>
          </a:p>
          <a:p>
            <a:pPr algn="l">
              <a:lnSpc>
                <a:spcPct val="105000"/>
              </a:lnSpc>
              <a:spcAft>
                <a:spcPts val="600"/>
              </a:spcAft>
            </a:pPr>
            <a:r>
              <a:rPr sz="1600" b="1" i="0" err="1">
                <a:solidFill>
                  <a:srgbClr val="262626"/>
                </a:solidFill>
                <a:latin typeface="Lato" panose="020F0502020204030203" pitchFamily="34" charset="0"/>
                <a:ea typeface="Lato" panose="020F0502020204030203" pitchFamily="34" charset="0"/>
                <a:cs typeface="Lato" panose="020F0502020204030203" pitchFamily="34" charset="0"/>
              </a:rPr>
              <a:t>Giả</a:t>
            </a:r>
            <a:r>
              <a:rPr sz="1600" b="1" i="0">
                <a:solidFill>
                  <a:srgbClr val="262626"/>
                </a:solidFill>
                <a:latin typeface="Lato" panose="020F0502020204030203" pitchFamily="34" charset="0"/>
                <a:ea typeface="Lato" panose="020F0502020204030203" pitchFamily="34" charset="0"/>
                <a:cs typeface="Lato" panose="020F0502020204030203" pitchFamily="34" charset="0"/>
              </a:rPr>
              <a:t> </a:t>
            </a:r>
            <a:r>
              <a:rPr sz="1600" b="1" i="0" err="1">
                <a:solidFill>
                  <a:srgbClr val="262626"/>
                </a:solidFill>
                <a:latin typeface="Lato" panose="020F0502020204030203" pitchFamily="34" charset="0"/>
                <a:ea typeface="Lato" panose="020F0502020204030203" pitchFamily="34" charset="0"/>
                <a:cs typeface="Lato" panose="020F0502020204030203" pitchFamily="34" charset="0"/>
              </a:rPr>
              <a:t>thuyết</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theo</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dõi</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mức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dịch</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này</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qua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từng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rep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sẽ</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ước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lượng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được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FCF,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kể</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cả</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trên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người</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chưa</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có</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trong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dữ</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liệu</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huấn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luyện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308296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5077" y="87240"/>
            <a:ext cx="8673846" cy="451739"/>
          </a:xfrm>
        </p:spPr>
        <p:txBody>
          <a:bodyPr/>
          <a:lstStyle/>
          <a:p>
            <a:pPr algn="l"/>
            <a:r>
              <a:rPr lang="en-US" sz="2400">
                <a:latin typeface="Lato"/>
              </a:rPr>
              <a:t>CÁC NGHIÊN CỨU LIÊN QUAN</a:t>
            </a:r>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800"/>
              <a:t>5</a:t>
            </a:r>
          </a:p>
        </p:txBody>
      </p:sp>
      <p:sp>
        <p:nvSpPr>
          <p:cNvPr id="17" name="TextBox 16"/>
          <p:cNvSpPr txBox="1"/>
          <p:nvPr/>
        </p:nvSpPr>
        <p:spPr>
          <a:xfrm>
            <a:off x="512303" y="2227091"/>
            <a:ext cx="5303520" cy="381643"/>
          </a:xfrm>
          <a:prstGeom prst="rect">
            <a:avLst/>
          </a:prstGeom>
          <a:noFill/>
        </p:spPr>
        <p:txBody>
          <a:bodyPr wrap="square" lIns="36576" tIns="36576" rIns="36576" bIns="36576" anchor="t">
            <a:spAutoFit/>
          </a:bodyPr>
          <a:lstStyle/>
          <a:p>
            <a:pPr algn="l">
              <a:spcAft>
                <a:spcPts val="400"/>
              </a:spcAft>
            </a:pPr>
            <a:r>
              <a:rPr sz="2000" b="1" i="0">
                <a:latin typeface="Lato" panose="020F0502020204030203" pitchFamily="34" charset="0"/>
                <a:ea typeface="Lato" panose="020F0502020204030203" pitchFamily="34" charset="0"/>
                <a:cs typeface="Lato" panose="020F0502020204030203" pitchFamily="34" charset="0"/>
              </a:rPr>
              <a:t>C1 · Kiki </a:t>
            </a:r>
            <a:r>
              <a:rPr lang="en-US" sz="2000" b="1">
                <a:latin typeface="Lato" panose="020F0502020204030203" pitchFamily="34" charset="0"/>
                <a:ea typeface="Lato" panose="020F0502020204030203" pitchFamily="34" charset="0"/>
                <a:cs typeface="Lato" panose="020F0502020204030203" pitchFamily="34" charset="0"/>
              </a:rPr>
              <a:t>et al</a:t>
            </a:r>
            <a:r>
              <a:rPr sz="2000" b="1" i="0">
                <a:latin typeface="Lato" panose="020F0502020204030203" pitchFamily="34" charset="0"/>
                <a:ea typeface="Lato" panose="020F0502020204030203" pitchFamily="34" charset="0"/>
                <a:cs typeface="Lato" panose="020F0502020204030203" pitchFamily="34" charset="0"/>
              </a:rPr>
              <a:t>., 2026</a:t>
            </a:r>
          </a:p>
        </p:txBody>
      </p:sp>
      <p:sp>
        <p:nvSpPr>
          <p:cNvPr id="18" name="TextBox 17"/>
          <p:cNvSpPr txBox="1"/>
          <p:nvPr/>
        </p:nvSpPr>
        <p:spPr>
          <a:xfrm>
            <a:off x="512303" y="2608734"/>
            <a:ext cx="8412479" cy="1277466"/>
          </a:xfrm>
          <a:prstGeom prst="rect">
            <a:avLst/>
          </a:prstGeom>
          <a:noFill/>
        </p:spPr>
        <p:txBody>
          <a:bodyPr wrap="square" lIns="36576" tIns="36576" rIns="36576" bIns="36576" anchor="t">
            <a:spAutoFit/>
          </a:bodyPr>
          <a:lstStyle/>
          <a:p>
            <a:pPr marL="342900" indent="-342900" algn="l">
              <a:lnSpc>
                <a:spcPct val="105000"/>
              </a:lnSpc>
              <a:spcAft>
                <a:spcPts val="1000"/>
              </a:spcAft>
              <a:buClr>
                <a:srgbClr val="7F7F7F"/>
              </a:buClr>
              <a:buFont typeface="Arial" panose="020B0604020202020204" pitchFamily="34" charset="0"/>
              <a:buChar char="•"/>
            </a:pPr>
            <a:r>
              <a:rPr sz="2000" b="0" i="0">
                <a:latin typeface="Lato" panose="020F0502020204030203" pitchFamily="34" charset="0"/>
                <a:ea typeface="Lato" panose="020F0502020204030203" pitchFamily="34" charset="0"/>
                <a:cs typeface="Lato" panose="020F0502020204030203" pitchFamily="34" charset="0"/>
              </a:rPr>
              <a:t>10 </a:t>
            </a:r>
            <a:r>
              <a:rPr sz="2000" b="0" i="0" err="1">
                <a:latin typeface="Lato" panose="020F0502020204030203" pitchFamily="34" charset="0"/>
                <a:ea typeface="Lato" panose="020F0502020204030203" pitchFamily="34" charset="0"/>
                <a:cs typeface="Lato" panose="020F0502020204030203" pitchFamily="34" charset="0"/>
              </a:rPr>
              <a:t>người</a:t>
            </a:r>
            <a:r>
              <a:rPr lang="en-US"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động</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tác</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lặp</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trái</a:t>
            </a:r>
            <a:r>
              <a:rPr lang="en-US" sz="200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phải</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cùng</a:t>
            </a:r>
            <a:r>
              <a:rPr sz="2000" b="0" i="0">
                <a:latin typeface="Lato" panose="020F0502020204030203" pitchFamily="34" charset="0"/>
                <a:ea typeface="Lato" panose="020F0502020204030203" pitchFamily="34" charset="0"/>
                <a:cs typeface="Lato" panose="020F0502020204030203" pitchFamily="34" charset="0"/>
              </a:rPr>
              <a:t> robot, </a:t>
            </a:r>
            <a:r>
              <a:rPr sz="2000" b="0" i="0" err="1">
                <a:latin typeface="Lato" panose="020F0502020204030203" pitchFamily="34" charset="0"/>
                <a:ea typeface="Lato" panose="020F0502020204030203" pitchFamily="34" charset="0"/>
                <a:cs typeface="Lato" panose="020F0502020204030203" pitchFamily="34" charset="0"/>
              </a:rPr>
              <a:t>làm</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đến</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khi</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mỏi</a:t>
            </a:r>
            <a:r>
              <a:rPr sz="2000" b="0" i="0">
                <a:latin typeface="Lato" panose="020F0502020204030203" pitchFamily="34" charset="0"/>
                <a:ea typeface="Lato" panose="020F0502020204030203" pitchFamily="34" charset="0"/>
                <a:cs typeface="Lato" panose="020F0502020204030203" pitchFamily="34" charset="0"/>
              </a:rPr>
              <a:t>.</a:t>
            </a:r>
          </a:p>
          <a:p>
            <a:pPr marL="342900" indent="-342900" algn="l">
              <a:lnSpc>
                <a:spcPct val="105000"/>
              </a:lnSpc>
              <a:spcAft>
                <a:spcPts val="1000"/>
              </a:spcAft>
              <a:buClr>
                <a:srgbClr val="7F7F7F"/>
              </a:buClr>
              <a:buFont typeface="Arial" panose="020B0604020202020204" pitchFamily="34" charset="0"/>
              <a:buChar char="•"/>
            </a:pPr>
            <a:r>
              <a:rPr lang="en-US" sz="2000" b="0" i="0">
                <a:latin typeface="Lato" panose="020F0502020204030203" pitchFamily="34" charset="0"/>
                <a:ea typeface="Lato" panose="020F0502020204030203" pitchFamily="34" charset="0"/>
                <a:cs typeface="Lato" panose="020F0502020204030203" pitchFamily="34" charset="0"/>
              </a:rPr>
              <a:t>Train model </a:t>
            </a:r>
            <a:r>
              <a:rPr lang="en-US" sz="2000" b="0" i="0" err="1">
                <a:latin typeface="Lato" panose="020F0502020204030203" pitchFamily="34" charset="0"/>
                <a:ea typeface="Lato" panose="020F0502020204030203" pitchFamily="34" charset="0"/>
                <a:cs typeface="Lato" panose="020F0502020204030203" pitchFamily="34" charset="0"/>
              </a:rPr>
              <a:t>riêng</a:t>
            </a:r>
            <a:r>
              <a:rPr lang="en-US"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cho</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từng</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người</a:t>
            </a:r>
            <a:r>
              <a:rPr lang="en-US" sz="200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không</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chạy</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trên</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thiết</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bị</a:t>
            </a:r>
            <a:r>
              <a:rPr lang="en-US" sz="2000">
                <a:latin typeface="Lato" panose="020F0502020204030203" pitchFamily="34" charset="0"/>
                <a:ea typeface="Lato" panose="020F0502020204030203" pitchFamily="34" charset="0"/>
                <a:cs typeface="Lato" panose="020F0502020204030203" pitchFamily="34" charset="0"/>
              </a:rPr>
              <a:t> </a:t>
            </a:r>
            <a:r>
              <a:rPr lang="en-US" sz="2000" err="1">
                <a:latin typeface="Lato" panose="020F0502020204030203" pitchFamily="34" charset="0"/>
                <a:ea typeface="Lato" panose="020F0502020204030203" pitchFamily="34" charset="0"/>
                <a:cs typeface="Lato" panose="020F0502020204030203" pitchFamily="34" charset="0"/>
              </a:rPr>
              <a:t>nhúng</a:t>
            </a:r>
            <a:r>
              <a:rPr sz="2000" b="0" i="0">
                <a:latin typeface="Lato" panose="020F0502020204030203" pitchFamily="34" charset="0"/>
                <a:ea typeface="Lato" panose="020F0502020204030203" pitchFamily="34" charset="0"/>
                <a:cs typeface="Lato" panose="020F0502020204030203" pitchFamily="34" charset="0"/>
              </a:rPr>
              <a:t>.</a:t>
            </a:r>
          </a:p>
          <a:p>
            <a:pPr marL="342900" indent="-342900" algn="l">
              <a:lnSpc>
                <a:spcPct val="105000"/>
              </a:lnSpc>
              <a:spcAft>
                <a:spcPts val="1000"/>
              </a:spcAft>
              <a:buClr>
                <a:srgbClr val="7F7F7F"/>
              </a:buClr>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Best Model:</a:t>
            </a:r>
            <a:r>
              <a:rPr sz="2000" b="0" i="0">
                <a:latin typeface="Lato" panose="020F0502020204030203" pitchFamily="34" charset="0"/>
                <a:ea typeface="Lato" panose="020F0502020204030203" pitchFamily="34" charset="0"/>
                <a:cs typeface="Lato" panose="020F0502020204030203" pitchFamily="34" charset="0"/>
              </a:rPr>
              <a:t> CNN</a:t>
            </a:r>
            <a:r>
              <a:rPr lang="en-US" sz="2000" b="0" i="0">
                <a:latin typeface="Lato" panose="020F0502020204030203" pitchFamily="34" charset="0"/>
                <a:ea typeface="Lato" panose="020F0502020204030203" pitchFamily="34" charset="0"/>
                <a:cs typeface="Lato" panose="020F0502020204030203" pitchFamily="34" charset="0"/>
              </a:rPr>
              <a:t> </a:t>
            </a:r>
            <a:r>
              <a:rPr lang="en-US" sz="2000" b="0" i="0" err="1">
                <a:latin typeface="Lato" panose="020F0502020204030203" pitchFamily="34" charset="0"/>
                <a:ea typeface="Lato" panose="020F0502020204030203" pitchFamily="34" charset="0"/>
                <a:cs typeface="Lato" panose="020F0502020204030203" pitchFamily="34" charset="0"/>
              </a:rPr>
              <a:t>với</a:t>
            </a:r>
            <a:r>
              <a:rPr sz="2000" b="0" i="0">
                <a:latin typeface="Lato" panose="020F0502020204030203" pitchFamily="34" charset="0"/>
                <a:ea typeface="Lato" panose="020F0502020204030203" pitchFamily="34" charset="0"/>
                <a:cs typeface="Lato" panose="020F0502020204030203" pitchFamily="34" charset="0"/>
              </a:rPr>
              <a:t> </a:t>
            </a:r>
            <a:r>
              <a:rPr sz="2000" b="1" i="0">
                <a:latin typeface="Lato" panose="020F0502020204030203" pitchFamily="34" charset="0"/>
                <a:ea typeface="Lato" panose="020F0502020204030203" pitchFamily="34" charset="0"/>
                <a:cs typeface="Lato" panose="020F0502020204030203" pitchFamily="34" charset="0"/>
              </a:rPr>
              <a:t>RMSE 20.8%</a:t>
            </a:r>
            <a:r>
              <a:rPr sz="2000" b="0" i="0">
                <a:latin typeface="Lato" panose="020F0502020204030203" pitchFamily="34" charset="0"/>
                <a:ea typeface="Lato" panose="020F0502020204030203" pitchFamily="34" charset="0"/>
                <a:cs typeface="Lato" panose="020F0502020204030203" pitchFamily="34" charset="0"/>
              </a:rPr>
              <a:t>.</a:t>
            </a:r>
          </a:p>
        </p:txBody>
      </p:sp>
      <p:sp>
        <p:nvSpPr>
          <p:cNvPr id="21" name="TextBox 20"/>
          <p:cNvSpPr txBox="1"/>
          <p:nvPr/>
        </p:nvSpPr>
        <p:spPr>
          <a:xfrm>
            <a:off x="512303" y="4358228"/>
            <a:ext cx="8412480" cy="800412"/>
          </a:xfrm>
          <a:prstGeom prst="rect">
            <a:avLst/>
          </a:prstGeom>
          <a:noFill/>
        </p:spPr>
        <p:txBody>
          <a:bodyPr wrap="square" lIns="36576" tIns="36576" rIns="36576" bIns="36576" anchor="t">
            <a:spAutoFit/>
          </a:bodyPr>
          <a:lstStyle/>
          <a:p>
            <a:pPr algn="l">
              <a:lnSpc>
                <a:spcPct val="105000"/>
              </a:lnSpc>
              <a:spcAft>
                <a:spcPts val="800"/>
              </a:spcAft>
            </a:pPr>
            <a:r>
              <a:rPr sz="2000" b="1" i="0">
                <a:solidFill>
                  <a:srgbClr val="262626"/>
                </a:solidFill>
                <a:latin typeface="Lato" panose="020F0502020204030203" pitchFamily="34" charset="0"/>
                <a:ea typeface="Lato" panose="020F0502020204030203" pitchFamily="34" charset="0"/>
                <a:cs typeface="Lato" panose="020F0502020204030203" pitchFamily="34" charset="0"/>
              </a:rPr>
              <a:t>C2</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(JEK, 2026):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sEMG</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khi</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giữ</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tĩnh</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bicep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đến</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thất</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bại</a:t>
            </a:r>
            <a:r>
              <a:rPr sz="2000" b="0" i="0">
                <a:solidFill>
                  <a:srgbClr val="262626"/>
                </a:solidFill>
                <a:latin typeface="Lato" panose="020F0502020204030203" pitchFamily="34" charset="0"/>
                <a:ea typeface="Lato" panose="020F0502020204030203" pitchFamily="34" charset="0"/>
                <a:cs typeface="Lato" panose="020F0502020204030203" pitchFamily="34" charset="0"/>
              </a:rPr>
              <a:t>.</a:t>
            </a:r>
            <a:endParaRPr lang="en-US" sz="2000" b="0" i="0">
              <a:solidFill>
                <a:srgbClr val="262626"/>
              </a:solidFill>
              <a:latin typeface="Lato" panose="020F0502020204030203" pitchFamily="34" charset="0"/>
              <a:ea typeface="Lato" panose="020F0502020204030203" pitchFamily="34" charset="0"/>
              <a:cs typeface="Lato" panose="020F0502020204030203" pitchFamily="34" charset="0"/>
            </a:endParaRPr>
          </a:p>
          <a:p>
            <a:pPr algn="l">
              <a:lnSpc>
                <a:spcPct val="105000"/>
              </a:lnSpc>
              <a:spcAft>
                <a:spcPts val="800"/>
              </a:spcAft>
            </a:pPr>
            <a:r>
              <a:rPr sz="2000" b="1" i="0">
                <a:solidFill>
                  <a:srgbClr val="262626"/>
                </a:solidFill>
                <a:latin typeface="Lato" panose="020F0502020204030203" pitchFamily="34" charset="0"/>
                <a:ea typeface="Lato" panose="020F0502020204030203" pitchFamily="34" charset="0"/>
                <a:cs typeface="Lato" panose="020F0502020204030203" pitchFamily="34" charset="0"/>
              </a:rPr>
              <a:t>C3</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arXiv</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2025):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một</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IMU ở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cổ</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tay</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phân</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loại</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còn</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tối</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đa</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2 rep hay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không</a:t>
            </a:r>
            <a:r>
              <a:rPr sz="2000" b="0" i="0">
                <a:solidFill>
                  <a:srgbClr val="262626"/>
                </a:solidFill>
                <a:latin typeface="Lato" panose="020F0502020204030203" pitchFamily="34" charset="0"/>
                <a:ea typeface="Lato" panose="020F0502020204030203" pitchFamily="34" charset="0"/>
                <a:cs typeface="Lato" panose="020F0502020204030203"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NOVELTY</a:t>
            </a:r>
            <a:endParaRPr sz="240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400"/>
              <a:t>6</a:t>
            </a:r>
          </a:p>
        </p:txBody>
      </p:sp>
      <p:sp>
        <p:nvSpPr>
          <p:cNvPr id="17" name="TextBox 16"/>
          <p:cNvSpPr txBox="1"/>
          <p:nvPr/>
        </p:nvSpPr>
        <p:spPr>
          <a:xfrm>
            <a:off x="365760" y="1325880"/>
            <a:ext cx="4572000" cy="350865"/>
          </a:xfrm>
          <a:prstGeom prst="rect">
            <a:avLst/>
          </a:prstGeom>
          <a:noFill/>
        </p:spPr>
        <p:txBody>
          <a:bodyPr wrap="square" lIns="36576" tIns="36576" rIns="36576" bIns="36576" anchor="t">
            <a:spAutoFit/>
          </a:bodyPr>
          <a:lstStyle/>
          <a:p>
            <a:pPr algn="l">
              <a:spcAft>
                <a:spcPts val="400"/>
              </a:spcAft>
            </a:pPr>
            <a:r>
              <a:rPr b="1" i="0">
                <a:solidFill>
                  <a:srgbClr val="262626"/>
                </a:solidFill>
                <a:latin typeface="Lato" panose="020F0502020204030203" pitchFamily="34" charset="0"/>
                <a:ea typeface="Lato" panose="020F0502020204030203" pitchFamily="34" charset="0"/>
                <a:cs typeface="Lato" panose="020F0502020204030203" pitchFamily="34" charset="0"/>
              </a:rPr>
              <a:t>Năm novelty của kế hoạch</a:t>
            </a:r>
          </a:p>
        </p:txBody>
      </p:sp>
      <p:sp>
        <p:nvSpPr>
          <p:cNvPr id="18" name="Oval 17"/>
          <p:cNvSpPr/>
          <p:nvPr/>
        </p:nvSpPr>
        <p:spPr>
          <a:xfrm>
            <a:off x="365760" y="1865376"/>
            <a:ext cx="457200" cy="45720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N1</a:t>
            </a:r>
          </a:p>
        </p:txBody>
      </p:sp>
      <p:sp>
        <p:nvSpPr>
          <p:cNvPr id="19" name="TextBox 18"/>
          <p:cNvSpPr txBox="1"/>
          <p:nvPr/>
        </p:nvSpPr>
        <p:spPr>
          <a:xfrm>
            <a:off x="960120" y="1828800"/>
            <a:ext cx="3977639" cy="566309"/>
          </a:xfrm>
          <a:prstGeom prst="rect">
            <a:avLst/>
          </a:prstGeom>
          <a:noFill/>
        </p:spPr>
        <p:txBody>
          <a:bodyPr wrap="square" lIns="36576" tIns="36576" rIns="36576" bIns="36576" anchor="t">
            <a:spAutoFit/>
          </a:bodyPr>
          <a:lstStyle/>
          <a:p>
            <a:pPr algn="l">
              <a:spcAft>
                <a:spcPts val="400"/>
              </a:spcAft>
            </a:pPr>
            <a:r>
              <a:rPr sz="1600" b="1">
                <a:solidFill>
                  <a:srgbClr val="262626"/>
                </a:solidFill>
                <a:latin typeface="Lato"/>
              </a:rPr>
              <a:t>Chuẩn hoá theo 3 rep đầu của chính set, để một mô hình dùng được cho người mới</a:t>
            </a:r>
            <a:endParaRPr sz="1600" b="1" i="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20" name="Oval 19"/>
          <p:cNvSpPr/>
          <p:nvPr/>
        </p:nvSpPr>
        <p:spPr>
          <a:xfrm>
            <a:off x="365760" y="2734056"/>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N2</a:t>
            </a:r>
          </a:p>
        </p:txBody>
      </p:sp>
      <p:sp>
        <p:nvSpPr>
          <p:cNvPr id="21" name="TextBox 20"/>
          <p:cNvSpPr txBox="1"/>
          <p:nvPr/>
        </p:nvSpPr>
        <p:spPr>
          <a:xfrm>
            <a:off x="960120" y="2820841"/>
            <a:ext cx="3977639" cy="320088"/>
          </a:xfrm>
          <a:prstGeom prst="rect">
            <a:avLst/>
          </a:prstGeom>
          <a:noFill/>
        </p:spPr>
        <p:txBody>
          <a:bodyPr wrap="square" lIns="36576" tIns="36576" rIns="36576" bIns="36576" anchor="ctr">
            <a:spAutoFit/>
          </a:bodyPr>
          <a:lstStyle/>
          <a:p>
            <a:pPr algn="l">
              <a:spcAft>
                <a:spcPts val="400"/>
              </a:spcAft>
            </a:pPr>
            <a:r>
              <a:rPr sz="1600" b="0" i="0">
                <a:solidFill>
                  <a:srgbClr val="262626"/>
                </a:solidFill>
                <a:latin typeface="Lato" panose="020F0502020204030203" pitchFamily="34" charset="0"/>
                <a:ea typeface="Lato" panose="020F0502020204030203" pitchFamily="34" charset="0"/>
                <a:cs typeface="Lato" panose="020F0502020204030203" pitchFamily="34" charset="0"/>
              </a:rPr>
              <a:t>Hai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đầu</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ra</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cùng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lúc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FCF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và</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RIR</a:t>
            </a:r>
          </a:p>
        </p:txBody>
      </p:sp>
      <p:sp>
        <p:nvSpPr>
          <p:cNvPr id="22" name="Oval 21"/>
          <p:cNvSpPr/>
          <p:nvPr/>
        </p:nvSpPr>
        <p:spPr>
          <a:xfrm>
            <a:off x="365760" y="3392424"/>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N3</a:t>
            </a:r>
          </a:p>
        </p:txBody>
      </p:sp>
      <p:sp>
        <p:nvSpPr>
          <p:cNvPr id="23" name="TextBox 22"/>
          <p:cNvSpPr txBox="1"/>
          <p:nvPr/>
        </p:nvSpPr>
        <p:spPr>
          <a:xfrm>
            <a:off x="960120" y="3392424"/>
            <a:ext cx="3977639" cy="566309"/>
          </a:xfrm>
          <a:prstGeom prst="rect">
            <a:avLst/>
          </a:prstGeom>
          <a:noFill/>
        </p:spPr>
        <p:txBody>
          <a:bodyPr wrap="square" lIns="36576" tIns="36576" rIns="36576" bIns="36576" anchor="ctr">
            <a:spAutoFit/>
          </a:bodyPr>
          <a:lstStyle/>
          <a:p>
            <a:pPr algn="l">
              <a:spcAft>
                <a:spcPts val="400"/>
              </a:spcAft>
            </a:pP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Kiểm</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chéo</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bằng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velocity loss,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tức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mức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giảm</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vận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tốc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đo</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bằng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IMU</a:t>
            </a:r>
          </a:p>
        </p:txBody>
      </p:sp>
      <p:sp>
        <p:nvSpPr>
          <p:cNvPr id="24" name="Oval 23"/>
          <p:cNvSpPr/>
          <p:nvPr/>
        </p:nvSpPr>
        <p:spPr>
          <a:xfrm>
            <a:off x="365760" y="4050791"/>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N4</a:t>
            </a:r>
          </a:p>
        </p:txBody>
      </p:sp>
      <p:sp>
        <p:nvSpPr>
          <p:cNvPr id="25" name="TextBox 24"/>
          <p:cNvSpPr txBox="1"/>
          <p:nvPr/>
        </p:nvSpPr>
        <p:spPr>
          <a:xfrm>
            <a:off x="960120" y="4151328"/>
            <a:ext cx="3977639" cy="320088"/>
          </a:xfrm>
          <a:prstGeom prst="rect">
            <a:avLst/>
          </a:prstGeom>
          <a:noFill/>
        </p:spPr>
        <p:txBody>
          <a:bodyPr wrap="square" lIns="36576" tIns="36576" rIns="36576" bIns="36576" anchor="ctr">
            <a:spAutoFit/>
          </a:bodyPr>
          <a:lstStyle/>
          <a:p>
            <a:pPr algn="l">
              <a:spcAft>
                <a:spcPts val="400"/>
              </a:spcAft>
            </a:pPr>
            <a:r>
              <a:rPr sz="1600" b="0">
                <a:solidFill>
                  <a:srgbClr val="262626"/>
                </a:solidFill>
                <a:latin typeface="Lato"/>
              </a:rPr>
              <a:t>Chỉ số hiệu quả set</a:t>
            </a:r>
            <a:endParaRPr sz="1600" b="0" i="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26" name="Oval 25"/>
          <p:cNvSpPr/>
          <p:nvPr/>
        </p:nvSpPr>
        <p:spPr>
          <a:xfrm>
            <a:off x="365760" y="4709159"/>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N5</a:t>
            </a:r>
          </a:p>
        </p:txBody>
      </p:sp>
      <p:sp>
        <p:nvSpPr>
          <p:cNvPr id="27" name="TextBox 26"/>
          <p:cNvSpPr txBox="1"/>
          <p:nvPr/>
        </p:nvSpPr>
        <p:spPr>
          <a:xfrm>
            <a:off x="960120" y="4766657"/>
            <a:ext cx="3977639" cy="320088"/>
          </a:xfrm>
          <a:prstGeom prst="rect">
            <a:avLst/>
          </a:prstGeom>
          <a:noFill/>
        </p:spPr>
        <p:txBody>
          <a:bodyPr wrap="square" lIns="36576" tIns="36576" rIns="36576" bIns="36576" anchor="ctr">
            <a:spAutoFit/>
          </a:bodyPr>
          <a:lstStyle/>
          <a:p>
            <a:pPr algn="l">
              <a:spcAft>
                <a:spcPts val="400"/>
              </a:spcAft>
            </a:pP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Chạy</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trên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vi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điều</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khiển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ESP32-S3</a:t>
            </a:r>
          </a:p>
        </p:txBody>
      </p:sp>
      <p:sp>
        <p:nvSpPr>
          <p:cNvPr id="28" name="Rectangle 27"/>
          <p:cNvSpPr/>
          <p:nvPr/>
        </p:nvSpPr>
        <p:spPr>
          <a:xfrm>
            <a:off x="5257800" y="1371600"/>
            <a:ext cx="54864" cy="123444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Lato" panose="020F0502020204030203" pitchFamily="34" charset="0"/>
              <a:ea typeface="Lato" panose="020F0502020204030203" pitchFamily="34" charset="0"/>
              <a:cs typeface="Lato" panose="020F0502020204030203" pitchFamily="34" charset="0"/>
            </a:endParaRPr>
          </a:p>
        </p:txBody>
      </p:sp>
      <p:sp>
        <p:nvSpPr>
          <p:cNvPr id="29" name="TextBox 28"/>
          <p:cNvSpPr txBox="1"/>
          <p:nvPr/>
        </p:nvSpPr>
        <p:spPr>
          <a:xfrm>
            <a:off x="5440680" y="1325880"/>
            <a:ext cx="3337560" cy="1097223"/>
          </a:xfrm>
          <a:prstGeom prst="rect">
            <a:avLst/>
          </a:prstGeom>
          <a:noFill/>
        </p:spPr>
        <p:txBody>
          <a:bodyPr wrap="square" lIns="36576" tIns="36576" rIns="36576" bIns="36576" anchor="t">
            <a:spAutoFit/>
          </a:bodyPr>
          <a:lstStyle/>
          <a:p>
            <a:pPr algn="l">
              <a:spcAft>
                <a:spcPts val="300"/>
              </a:spcAft>
            </a:pPr>
            <a:r>
              <a:rPr sz="1600" b="1" i="0">
                <a:solidFill>
                  <a:srgbClr val="C02034"/>
                </a:solidFill>
                <a:latin typeface="Lato" panose="020F0502020204030203" pitchFamily="34" charset="0"/>
                <a:ea typeface="Lato" panose="020F0502020204030203" pitchFamily="34" charset="0"/>
                <a:cs typeface="Lato" panose="020F0502020204030203" pitchFamily="34" charset="0"/>
              </a:rPr>
              <a:t>Mục tiêu</a:t>
            </a:r>
          </a:p>
          <a:p>
            <a:pPr algn="l">
              <a:spcAft>
                <a:spcPts val="400"/>
              </a:spcAft>
            </a:pPr>
            <a:r>
              <a:rPr sz="1600" b="0" i="0">
                <a:solidFill>
                  <a:srgbClr val="262626"/>
                </a:solidFill>
                <a:latin typeface="Lato" panose="020F0502020204030203" pitchFamily="34" charset="0"/>
                <a:ea typeface="Lato" panose="020F0502020204030203" pitchFamily="34" charset="0"/>
                <a:cs typeface="Lato" panose="020F0502020204030203" pitchFamily="34" charset="0"/>
              </a:rPr>
              <a:t>RMSE dưới 15% trên người chưa có trong dữ liệu huấn luyện; C1 là 20.8% khi huấn luyện riêng.</a:t>
            </a:r>
          </a:p>
        </p:txBody>
      </p:sp>
      <p:sp>
        <p:nvSpPr>
          <p:cNvPr id="30" name="Rectangle 29"/>
          <p:cNvSpPr/>
          <p:nvPr/>
        </p:nvSpPr>
        <p:spPr>
          <a:xfrm>
            <a:off x="5257800" y="2944368"/>
            <a:ext cx="54864" cy="123444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Lato" panose="020F0502020204030203" pitchFamily="34" charset="0"/>
              <a:ea typeface="Lato" panose="020F0502020204030203" pitchFamily="34" charset="0"/>
              <a:cs typeface="Lato" panose="020F0502020204030203" pitchFamily="34" charset="0"/>
            </a:endParaRPr>
          </a:p>
        </p:txBody>
      </p:sp>
      <p:sp>
        <p:nvSpPr>
          <p:cNvPr id="31" name="TextBox 30"/>
          <p:cNvSpPr txBox="1"/>
          <p:nvPr/>
        </p:nvSpPr>
        <p:spPr>
          <a:xfrm>
            <a:off x="5440680" y="2898648"/>
            <a:ext cx="3337560" cy="1097223"/>
          </a:xfrm>
          <a:prstGeom prst="rect">
            <a:avLst/>
          </a:prstGeom>
          <a:noFill/>
        </p:spPr>
        <p:txBody>
          <a:bodyPr wrap="square" lIns="36576" tIns="36576" rIns="36576" bIns="36576" anchor="t">
            <a:spAutoFit/>
          </a:bodyPr>
          <a:lstStyle/>
          <a:p>
            <a:pPr algn="l">
              <a:spcAft>
                <a:spcPts val="300"/>
              </a:spcAft>
            </a:pPr>
            <a:r>
              <a:rPr sz="1600" b="1">
                <a:solidFill>
                  <a:srgbClr val="C02034"/>
                </a:solidFill>
                <a:latin typeface="Lato"/>
              </a:rPr>
              <a:t>Checkpoint tháng 4</a:t>
            </a:r>
          </a:p>
          <a:p>
            <a:pPr algn="l">
              <a:spcAft>
                <a:spcPts val="400"/>
              </a:spcAft>
            </a:pPr>
            <a:r>
              <a:rPr sz="1600" b="0" i="0">
                <a:solidFill>
                  <a:srgbClr val="262626"/>
                </a:solidFill>
                <a:latin typeface="Lato" panose="020F0502020204030203" pitchFamily="34" charset="0"/>
                <a:ea typeface="Lato" panose="020F0502020204030203" pitchFamily="34" charset="0"/>
                <a:cs typeface="Lato" panose="020F0502020204030203" pitchFamily="34" charset="0"/>
              </a:rPr>
              <a:t>N1 phải cải thiện ít nhất 15% so với không chuẩn hoá; nếu không thì đổi hướng.</a:t>
            </a:r>
          </a:p>
        </p:txBody>
      </p:sp>
      <p:sp>
        <p:nvSpPr>
          <p:cNvPr id="32" name="Rectangle 31"/>
          <p:cNvSpPr/>
          <p:nvPr/>
        </p:nvSpPr>
        <p:spPr>
          <a:xfrm>
            <a:off x="5257800" y="4517136"/>
            <a:ext cx="54864" cy="123444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Lato" panose="020F0502020204030203" pitchFamily="34" charset="0"/>
              <a:ea typeface="Lato" panose="020F0502020204030203" pitchFamily="34" charset="0"/>
              <a:cs typeface="Lato" panose="020F0502020204030203" pitchFamily="34" charset="0"/>
            </a:endParaRPr>
          </a:p>
        </p:txBody>
      </p:sp>
      <p:sp>
        <p:nvSpPr>
          <p:cNvPr id="33" name="TextBox 32"/>
          <p:cNvSpPr txBox="1"/>
          <p:nvPr/>
        </p:nvSpPr>
        <p:spPr>
          <a:xfrm>
            <a:off x="5440680" y="4471416"/>
            <a:ext cx="3337560" cy="851002"/>
          </a:xfrm>
          <a:prstGeom prst="rect">
            <a:avLst/>
          </a:prstGeom>
          <a:noFill/>
        </p:spPr>
        <p:txBody>
          <a:bodyPr wrap="square" lIns="36576" tIns="36576" rIns="36576" bIns="36576" anchor="t">
            <a:spAutoFit/>
          </a:bodyPr>
          <a:lstStyle/>
          <a:p>
            <a:pPr algn="l">
              <a:spcAft>
                <a:spcPts val="300"/>
              </a:spcAft>
            </a:pPr>
            <a:r>
              <a:rPr sz="1600" b="1" i="0">
                <a:solidFill>
                  <a:srgbClr val="C02034"/>
                </a:solidFill>
                <a:latin typeface="Lato" panose="020F0502020204030203" pitchFamily="34" charset="0"/>
                <a:ea typeface="Lato" panose="020F0502020204030203" pitchFamily="34" charset="0"/>
                <a:cs typeface="Lato" panose="020F0502020204030203" pitchFamily="34" charset="0"/>
              </a:rPr>
              <a:t>Phản biện đã đoán trước</a:t>
            </a:r>
          </a:p>
          <a:p>
            <a:pPr algn="l">
              <a:spcAft>
                <a:spcPts val="400"/>
              </a:spcAft>
            </a:pPr>
            <a:r>
              <a:rPr sz="1600" b="0">
                <a:solidFill>
                  <a:srgbClr val="262626"/>
                </a:solidFill>
                <a:latin typeface="Lato"/>
              </a:rPr>
              <a:t>“Mô hình dựa vào tín hiệu mỏi, hay dựa vào vị trí của rep trong 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7439" y="95865"/>
            <a:ext cx="8673846" cy="451739"/>
          </a:xfrm>
        </p:spPr>
        <p:txBody>
          <a:bodyPr/>
          <a:lstStyle/>
          <a:p>
            <a:pPr algn="l"/>
            <a:r>
              <a:rPr sz="2400">
                <a:latin typeface="Lato"/>
              </a:rPr>
              <a:t>HƯỚNG TIẾP CẬN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7</a:t>
            </a:r>
          </a:p>
        </p:txBody>
      </p:sp>
      <p:sp>
        <p:nvSpPr>
          <p:cNvPr id="17" name="Rectangle 16"/>
          <p:cNvSpPr/>
          <p:nvPr/>
        </p:nvSpPr>
        <p:spPr>
          <a:xfrm>
            <a:off x="607815" y="2704379"/>
            <a:ext cx="2405908" cy="2076378"/>
          </a:xfrm>
          <a:prstGeom prst="rect">
            <a:avLst/>
          </a:prstGeom>
          <a:solidFill>
            <a:srgbClr val="FFFFFF"/>
          </a:solidFill>
          <a:ln w="25400">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400"/>
              </a:spcAft>
            </a:pPr>
            <a:r>
              <a:rPr lang="en-US" sz="2400" b="1">
                <a:solidFill>
                  <a:srgbClr val="C02034"/>
                </a:solidFill>
                <a:latin typeface="Lato" panose="020F0502020204030203" pitchFamily="34" charset="0"/>
                <a:ea typeface="Lato" panose="020F0502020204030203" pitchFamily="34" charset="0"/>
                <a:cs typeface="Lato" panose="020F0502020204030203" pitchFamily="34" charset="0"/>
              </a:rPr>
              <a:t>Public Dataset</a:t>
            </a:r>
            <a:endParaRPr lang="en-US" sz="2400" b="1" i="0">
              <a:solidFill>
                <a:srgbClr val="C02034"/>
              </a:solidFill>
              <a:latin typeface="Lato" panose="020F0502020204030203" pitchFamily="34" charset="0"/>
              <a:ea typeface="Lato" panose="020F0502020204030203" pitchFamily="34" charset="0"/>
              <a:cs typeface="Lato" panose="020F0502020204030203" pitchFamily="34" charset="0"/>
            </a:endParaRPr>
          </a:p>
          <a:p>
            <a:pPr algn="l">
              <a:spcAft>
                <a:spcPts val="200"/>
              </a:spcAft>
            </a:pPr>
            <a:r>
              <a:rPr lang="en-US" b="0" i="0">
                <a:solidFill>
                  <a:srgbClr val="262626"/>
                </a:solidFill>
                <a:latin typeface="Lato" panose="020F0502020204030203" pitchFamily="34" charset="0"/>
                <a:ea typeface="Lato" panose="020F0502020204030203" pitchFamily="34" charset="0"/>
                <a:cs typeface="Lato" panose="020F0502020204030203" pitchFamily="34" charset="0"/>
              </a:rPr>
              <a:t>Tái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hiện</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lại</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phương</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pháp</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của</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bài</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C1,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và</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xây</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dựng</a:t>
            </a:r>
            <a:r>
              <a:rPr lang="en-US">
                <a:solidFill>
                  <a:srgbClr val="262626"/>
                </a:solidFill>
                <a:latin typeface="Lato" panose="020F0502020204030203" pitchFamily="34" charset="0"/>
                <a:ea typeface="Lato" panose="020F0502020204030203" pitchFamily="34" charset="0"/>
                <a:cs typeface="Lato" panose="020F0502020204030203" pitchFamily="34" charset="0"/>
              </a:rPr>
              <a:t> novelty N1</a:t>
            </a:r>
            <a:endParaRPr lang="en-US" b="0" i="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18" name="Right Arrow 17"/>
          <p:cNvSpPr/>
          <p:nvPr/>
        </p:nvSpPr>
        <p:spPr>
          <a:xfrm>
            <a:off x="3086875" y="3628270"/>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9" name="Rectangle 18"/>
          <p:cNvSpPr/>
          <p:nvPr/>
        </p:nvSpPr>
        <p:spPr>
          <a:xfrm>
            <a:off x="3428999" y="2704380"/>
            <a:ext cx="2443001" cy="2076378"/>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400"/>
              </a:spcAft>
            </a:pPr>
            <a:r>
              <a:rPr lang="en-US" sz="2000" b="1" i="0">
                <a:solidFill>
                  <a:srgbClr val="262626"/>
                </a:solidFill>
                <a:latin typeface="Lato" panose="020F0502020204030203" pitchFamily="34" charset="0"/>
                <a:ea typeface="Lato" panose="020F0502020204030203" pitchFamily="34" charset="0"/>
                <a:cs typeface="Lato" panose="020F0502020204030203" pitchFamily="34" charset="0"/>
              </a:rPr>
              <a:t>Checkpoint</a:t>
            </a:r>
          </a:p>
          <a:p>
            <a:pPr algn="l">
              <a:spcAft>
                <a:spcPts val="200"/>
              </a:spcAft>
            </a:pP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N1 </a:t>
            </a:r>
            <a:r>
              <a:rPr lang="en-US" sz="1600" b="0" i="0" err="1">
                <a:solidFill>
                  <a:srgbClr val="262626"/>
                </a:solidFill>
                <a:latin typeface="Lato" panose="020F0502020204030203" pitchFamily="34" charset="0"/>
                <a:ea typeface="Lato" panose="020F0502020204030203" pitchFamily="34" charset="0"/>
                <a:cs typeface="Lato" panose="020F0502020204030203" pitchFamily="34" charset="0"/>
              </a:rPr>
              <a:t>cải</a:t>
            </a: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i="0" err="1">
                <a:solidFill>
                  <a:srgbClr val="262626"/>
                </a:solidFill>
                <a:latin typeface="Lato" panose="020F0502020204030203" pitchFamily="34" charset="0"/>
                <a:ea typeface="Lato" panose="020F0502020204030203" pitchFamily="34" charset="0"/>
                <a:cs typeface="Lato" panose="020F0502020204030203" pitchFamily="34" charset="0"/>
              </a:rPr>
              <a:t>thiện</a:t>
            </a: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i="0" err="1">
                <a:solidFill>
                  <a:srgbClr val="262626"/>
                </a:solidFill>
                <a:latin typeface="Lato" panose="020F0502020204030203" pitchFamily="34" charset="0"/>
                <a:ea typeface="Lato" panose="020F0502020204030203" pitchFamily="34" charset="0"/>
                <a:cs typeface="Lato" panose="020F0502020204030203" pitchFamily="34" charset="0"/>
              </a:rPr>
              <a:t>ít</a:t>
            </a: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i="0" err="1">
                <a:solidFill>
                  <a:srgbClr val="262626"/>
                </a:solidFill>
                <a:latin typeface="Lato" panose="020F0502020204030203" pitchFamily="34" charset="0"/>
                <a:ea typeface="Lato" panose="020F0502020204030203" pitchFamily="34" charset="0"/>
                <a:cs typeface="Lato" panose="020F0502020204030203" pitchFamily="34" charset="0"/>
              </a:rPr>
              <a:t>nhất</a:t>
            </a: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 15%</a:t>
            </a:r>
          </a:p>
        </p:txBody>
      </p:sp>
      <p:sp>
        <p:nvSpPr>
          <p:cNvPr id="20" name="Right Arrow 19"/>
          <p:cNvSpPr/>
          <p:nvPr/>
        </p:nvSpPr>
        <p:spPr>
          <a:xfrm>
            <a:off x="6044184" y="3628270"/>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21" name="Rectangle 20"/>
          <p:cNvSpPr/>
          <p:nvPr/>
        </p:nvSpPr>
        <p:spPr>
          <a:xfrm>
            <a:off x="6446520" y="2704379"/>
            <a:ext cx="1894361" cy="2076378"/>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400"/>
              </a:spcAft>
            </a:pPr>
            <a:r>
              <a:rPr sz="1700" b="1" i="0">
                <a:solidFill>
                  <a:srgbClr val="262626"/>
                </a:solidFill>
                <a:latin typeface="Lato" panose="020F0502020204030203" pitchFamily="34" charset="0"/>
                <a:ea typeface="Lato" panose="020F0502020204030203" pitchFamily="34" charset="0"/>
                <a:cs typeface="Lato" panose="020F0502020204030203" pitchFamily="34" charset="0"/>
              </a:rPr>
              <a:t>Thu </a:t>
            </a:r>
            <a:r>
              <a:rPr sz="1700" b="1" i="0" err="1">
                <a:solidFill>
                  <a:srgbClr val="262626"/>
                </a:solidFill>
                <a:latin typeface="Lato" panose="020F0502020204030203" pitchFamily="34" charset="0"/>
                <a:ea typeface="Lato" panose="020F0502020204030203" pitchFamily="34" charset="0"/>
                <a:cs typeface="Lato" panose="020F0502020204030203" pitchFamily="34" charset="0"/>
              </a:rPr>
              <a:t>dữ</a:t>
            </a:r>
            <a:r>
              <a:rPr sz="1700" b="1" i="0">
                <a:solidFill>
                  <a:srgbClr val="262626"/>
                </a:solidFill>
                <a:latin typeface="Lato" panose="020F0502020204030203" pitchFamily="34" charset="0"/>
                <a:ea typeface="Lato" panose="020F0502020204030203" pitchFamily="34" charset="0"/>
                <a:cs typeface="Lato" panose="020F0502020204030203" pitchFamily="34" charset="0"/>
              </a:rPr>
              <a:t> </a:t>
            </a:r>
            <a:r>
              <a:rPr sz="1700" b="1" i="0" err="1">
                <a:solidFill>
                  <a:srgbClr val="262626"/>
                </a:solidFill>
                <a:latin typeface="Lato" panose="020F0502020204030203" pitchFamily="34" charset="0"/>
                <a:ea typeface="Lato" panose="020F0502020204030203" pitchFamily="34" charset="0"/>
                <a:cs typeface="Lato" panose="020F0502020204030203" pitchFamily="34" charset="0"/>
              </a:rPr>
              <a:t>liệu</a:t>
            </a:r>
            <a:r>
              <a:rPr sz="1700" b="1"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700" b="1" err="1">
                <a:solidFill>
                  <a:srgbClr val="262626"/>
                </a:solidFill>
                <a:latin typeface="Lato" panose="020F0502020204030203" pitchFamily="34" charset="0"/>
                <a:ea typeface="Lato" panose="020F0502020204030203" pitchFamily="34" charset="0"/>
                <a:cs typeface="Lato" panose="020F0502020204030203" pitchFamily="34" charset="0"/>
              </a:rPr>
              <a:t>trên</a:t>
            </a:r>
            <a:r>
              <a:rPr lang="en-US" sz="1700" b="1">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700" b="1" err="1">
                <a:solidFill>
                  <a:srgbClr val="262626"/>
                </a:solidFill>
                <a:latin typeface="Lato" panose="020F0502020204030203" pitchFamily="34" charset="0"/>
                <a:ea typeface="Lato" panose="020F0502020204030203" pitchFamily="34" charset="0"/>
                <a:cs typeface="Lato" panose="020F0502020204030203" pitchFamily="34" charset="0"/>
              </a:rPr>
              <a:t>người</a:t>
            </a:r>
            <a:r>
              <a:rPr lang="en-US" sz="1700" b="1">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700" b="1" err="1">
                <a:solidFill>
                  <a:srgbClr val="262626"/>
                </a:solidFill>
                <a:latin typeface="Lato" panose="020F0502020204030203" pitchFamily="34" charset="0"/>
                <a:ea typeface="Lato" panose="020F0502020204030203" pitchFamily="34" charset="0"/>
                <a:cs typeface="Lato" panose="020F0502020204030203" pitchFamily="34" charset="0"/>
              </a:rPr>
              <a:t>thật</a:t>
            </a:r>
            <a:endParaRPr sz="1300" b="0" i="0">
              <a:solidFill>
                <a:srgbClr val="262626"/>
              </a:solidFill>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5834" y="106044"/>
            <a:ext cx="8673846" cy="451739"/>
          </a:xfrm>
        </p:spPr>
        <p:txBody>
          <a:bodyPr/>
          <a:lstStyle/>
          <a:p>
            <a:pPr algn="l"/>
            <a:r>
              <a:rPr lang="en-US" sz="2400">
                <a:latin typeface="Lato"/>
              </a:rPr>
              <a:t>XỬ LÍ SỐ LIỆU TRÊN CÁC DATASET CÔNG KHAI</a:t>
            </a:r>
            <a:endParaRPr sz="2400"/>
          </a:p>
        </p:txBody>
      </p:sp>
      <p:sp>
        <p:nvSpPr>
          <p:cNvPr id="5" name="TextBox 4"/>
          <p:cNvSpPr txBox="1"/>
          <p:nvPr/>
        </p:nvSpPr>
        <p:spPr>
          <a:xfrm>
            <a:off x="274320" y="1289390"/>
            <a:ext cx="8595360" cy="387798"/>
          </a:xfrm>
          <a:prstGeom prst="rect">
            <a:avLst/>
          </a:prstGeom>
          <a:noFill/>
        </p:spPr>
        <p:txBody>
          <a:bodyPr wrap="square" lIns="54864" tIns="54864" rIns="54864" bIns="54864" anchor="ctr">
            <a:spAutoFit/>
          </a:bodyPr>
          <a:lstStyle/>
          <a:p>
            <a:pPr>
              <a:spcAft>
                <a:spcPts val="400"/>
              </a:spcAft>
            </a:pPr>
            <a:r>
              <a:rPr lang="en-US" b="1" i="0">
                <a:solidFill>
                  <a:srgbClr val="262626"/>
                </a:solidFill>
                <a:latin typeface="Lato" panose="020F0502020204030203" pitchFamily="34" charset="0"/>
                <a:ea typeface="Lato" panose="020F0502020204030203" pitchFamily="34" charset="0"/>
                <a:cs typeface="Lato" panose="020F0502020204030203" pitchFamily="34" charset="0"/>
              </a:rPr>
              <a:t>DATASET ZENODO</a:t>
            </a:r>
            <a:r>
              <a:rPr lang="en-US" b="1">
                <a:solidFill>
                  <a:srgbClr val="262626"/>
                </a:solidFill>
                <a:latin typeface="Lato" panose="020F0502020204030203" pitchFamily="34" charset="0"/>
                <a:ea typeface="Lato" panose="020F0502020204030203" pitchFamily="34" charset="0"/>
                <a:cs typeface="Lato" panose="020F0502020204030203" pitchFamily="34" charset="0"/>
              </a:rPr>
              <a:t> 14182446</a:t>
            </a:r>
            <a:endParaRPr b="1" i="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8</a:t>
            </a:r>
          </a:p>
        </p:txBody>
      </p:sp>
      <p:sp>
        <p:nvSpPr>
          <p:cNvPr id="18" name="TextBox 17"/>
          <p:cNvSpPr txBox="1"/>
          <p:nvPr/>
        </p:nvSpPr>
        <p:spPr>
          <a:xfrm>
            <a:off x="361461" y="1646410"/>
            <a:ext cx="8508219" cy="4432880"/>
          </a:xfrm>
          <a:prstGeom prst="rect">
            <a:avLst/>
          </a:prstGeom>
          <a:noFill/>
        </p:spPr>
        <p:txBody>
          <a:bodyPr wrap="square" lIns="36576" tIns="36576" rIns="36576" bIns="36576" anchor="t">
            <a:spAutoFit/>
          </a:bodyPr>
          <a:lstStyle/>
          <a:p>
            <a:pPr marL="285750" lvl="0" indent="-285750">
              <a:lnSpc>
                <a:spcPct val="150000"/>
              </a:lnSpc>
              <a:buFont typeface="Arial" panose="020B0604020202020204" pitchFamily="34" charset="0"/>
              <a:buChar char="•"/>
            </a:pPr>
            <a:r>
              <a:rPr lang="en-US" sz="2400">
                <a:latin typeface="Lato" panose="020F0502020204030203" pitchFamily="34" charset="0"/>
                <a:ea typeface="Lato" panose="020F0502020204030203" pitchFamily="34" charset="0"/>
                <a:cs typeface="Lato" panose="020F0502020204030203" pitchFamily="34" charset="0"/>
              </a:rPr>
              <a:t>1 set </a:t>
            </a:r>
            <a:r>
              <a:rPr lang="en-US" sz="2400" err="1">
                <a:latin typeface="Lato" panose="020F0502020204030203" pitchFamily="34" charset="0"/>
                <a:ea typeface="Lato" panose="020F0502020204030203" pitchFamily="34" charset="0"/>
                <a:cs typeface="Lato" panose="020F0502020204030203" pitchFamily="34" charset="0"/>
              </a:rPr>
              <a:t>có</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trung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vị</a:t>
            </a:r>
            <a:r>
              <a:rPr lang="en-US" sz="2400">
                <a:latin typeface="Lato" panose="020F0502020204030203" pitchFamily="34" charset="0"/>
                <a:ea typeface="Lato" panose="020F0502020204030203" pitchFamily="34" charset="0"/>
                <a:cs typeface="Lato" panose="020F0502020204030203" pitchFamily="34" charset="0"/>
              </a:rPr>
              <a:t> 55 reps, </a:t>
            </a:r>
            <a:r>
              <a:rPr lang="en-US" sz="2400" err="1">
                <a:latin typeface="Lato" panose="020F0502020204030203" pitchFamily="34" charset="0"/>
                <a:ea typeface="Lato" panose="020F0502020204030203" pitchFamily="34" charset="0"/>
                <a:cs typeface="Lato" panose="020F0502020204030203" pitchFamily="34" charset="0"/>
              </a:rPr>
              <a:t>trong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khi</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tập</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kháng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lực</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chỉ</a:t>
            </a:r>
            <a:r>
              <a:rPr lang="en-US" sz="2400">
                <a:latin typeface="Lato" panose="020F0502020204030203" pitchFamily="34" charset="0"/>
                <a:ea typeface="Lato" panose="020F0502020204030203" pitchFamily="34" charset="0"/>
                <a:cs typeface="Lato" panose="020F0502020204030203" pitchFamily="34" charset="0"/>
              </a:rPr>
              <a:t> 5 - 20 rep.</a:t>
            </a:r>
          </a:p>
          <a:p>
            <a:pPr marL="285750" lvl="0" indent="-285750">
              <a:lnSpc>
                <a:spcPct val="150000"/>
              </a:lnSpc>
              <a:buFont typeface="Arial" panose="020B0604020202020204" pitchFamily="34" charset="0"/>
              <a:buChar char="•"/>
            </a:pPr>
            <a:r>
              <a:rPr lang="en-US" sz="2400">
                <a:latin typeface="Lato" panose="020F0502020204030203" pitchFamily="34" charset="0"/>
                <a:ea typeface="Lato" panose="020F0502020204030203" pitchFamily="34" charset="0"/>
                <a:cs typeface="Lato" panose="020F0502020204030203" pitchFamily="34" charset="0"/>
              </a:rPr>
              <a:t>13 </a:t>
            </a:r>
            <a:r>
              <a:rPr lang="en-US" sz="2400" err="1">
                <a:latin typeface="Lato" panose="020F0502020204030203" pitchFamily="34" charset="0"/>
                <a:ea typeface="Lato" panose="020F0502020204030203" pitchFamily="34" charset="0"/>
                <a:cs typeface="Lato" panose="020F0502020204030203" pitchFamily="34" charset="0"/>
              </a:rPr>
              <a:t>người</a:t>
            </a:r>
            <a:r>
              <a:rPr lang="en-US" sz="2400">
                <a:latin typeface="Lato" panose="020F0502020204030203" pitchFamily="34" charset="0"/>
                <a:ea typeface="Lato" panose="020F0502020204030203" pitchFamily="34" charset="0"/>
                <a:cs typeface="Lato" panose="020F0502020204030203" pitchFamily="34" charset="0"/>
              </a:rPr>
              <a:t> (5 </a:t>
            </a:r>
            <a:r>
              <a:rPr lang="en-US" sz="2400" err="1">
                <a:latin typeface="Lato" panose="020F0502020204030203" pitchFamily="34" charset="0"/>
                <a:ea typeface="Lato" panose="020F0502020204030203" pitchFamily="34" charset="0"/>
                <a:cs typeface="Lato" panose="020F0502020204030203" pitchFamily="34" charset="0"/>
              </a:rPr>
              <a:t>nữ</a:t>
            </a:r>
            <a:r>
              <a:rPr lang="en-US" sz="2400">
                <a:latin typeface="Lato" panose="020F0502020204030203" pitchFamily="34" charset="0"/>
                <a:ea typeface="Lato" panose="020F0502020204030203" pitchFamily="34" charset="0"/>
                <a:cs typeface="Lato" panose="020F0502020204030203" pitchFamily="34" charset="0"/>
              </a:rPr>
              <a:t>, 8 </a:t>
            </a:r>
            <a:r>
              <a:rPr lang="en-US" sz="2400" err="1">
                <a:latin typeface="Lato" panose="020F0502020204030203" pitchFamily="34" charset="0"/>
                <a:ea typeface="Lato" panose="020F0502020204030203" pitchFamily="34" charset="0"/>
                <a:cs typeface="Lato" panose="020F0502020204030203" pitchFamily="34" charset="0"/>
              </a:rPr>
              <a:t>nam</a:t>
            </a:r>
            <a:r>
              <a:rPr lang="en-US" sz="2400">
                <a:latin typeface="Lato" panose="020F0502020204030203" pitchFamily="34" charset="0"/>
                <a:ea typeface="Lato" panose="020F0502020204030203" pitchFamily="34" charset="0"/>
                <a:cs typeface="Lato" panose="020F0502020204030203" pitchFamily="34" charset="0"/>
              </a:rPr>
              <a:t>, 20–33 </a:t>
            </a:r>
            <a:r>
              <a:rPr lang="en-US" sz="2400" err="1">
                <a:latin typeface="Lato" panose="020F0502020204030203" pitchFamily="34" charset="0"/>
                <a:ea typeface="Lato" panose="020F0502020204030203" pitchFamily="34" charset="0"/>
                <a:cs typeface="Lato" panose="020F0502020204030203" pitchFamily="34" charset="0"/>
              </a:rPr>
              <a:t>tuổi</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sEMG</a:t>
            </a:r>
            <a:r>
              <a:rPr lang="en-US" sz="2400">
                <a:latin typeface="Lato" panose="020F0502020204030203" pitchFamily="34" charset="0"/>
                <a:ea typeface="Lato" panose="020F0502020204030203" pitchFamily="34" charset="0"/>
                <a:cs typeface="Lato" panose="020F0502020204030203" pitchFamily="34" charset="0"/>
              </a:rPr>
              <a:t> 1259 Hz.</a:t>
            </a:r>
          </a:p>
          <a:p>
            <a:pPr marL="285750" lvl="0" indent="-285750">
              <a:lnSpc>
                <a:spcPct val="150000"/>
              </a:lnSpc>
              <a:buFont typeface="Arial" panose="020B0604020202020204" pitchFamily="34" charset="0"/>
              <a:buChar char="•"/>
            </a:pPr>
            <a:r>
              <a:rPr lang="en-US" sz="2400">
                <a:latin typeface="Lato" panose="020F0502020204030203" pitchFamily="34" charset="0"/>
                <a:ea typeface="Lato" panose="020F0502020204030203" pitchFamily="34" charset="0"/>
                <a:cs typeface="Lato" panose="020F0502020204030203" pitchFamily="34" charset="0"/>
              </a:rPr>
              <a:t>12 </a:t>
            </a:r>
            <a:r>
              <a:rPr lang="en-US" sz="2400" err="1">
                <a:latin typeface="Lato" panose="020F0502020204030203" pitchFamily="34" charset="0"/>
                <a:ea typeface="Lato" panose="020F0502020204030203" pitchFamily="34" charset="0"/>
                <a:cs typeface="Lato" panose="020F0502020204030203" pitchFamily="34" charset="0"/>
              </a:rPr>
              <a:t>động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tác</a:t>
            </a:r>
            <a:r>
              <a:rPr lang="en-US" sz="2400">
                <a:latin typeface="Lato" panose="020F0502020204030203" pitchFamily="34" charset="0"/>
                <a:ea typeface="Lato" panose="020F0502020204030203" pitchFamily="34" charset="0"/>
                <a:cs typeface="Lato" panose="020F0502020204030203" pitchFamily="34" charset="0"/>
              </a:rPr>
              <a:t> chi </a:t>
            </a:r>
            <a:r>
              <a:rPr lang="en-US" sz="2400" err="1">
                <a:latin typeface="Lato" panose="020F0502020204030203" pitchFamily="34" charset="0"/>
                <a:ea typeface="Lato" panose="020F0502020204030203" pitchFamily="34" charset="0"/>
                <a:cs typeface="Lato" panose="020F0502020204030203" pitchFamily="34" charset="0"/>
              </a:rPr>
              <a:t>trên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đến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kiệt</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sức</a:t>
            </a:r>
            <a:r>
              <a:rPr lang="en-US" sz="2400">
                <a:latin typeface="Lato" panose="020F0502020204030203" pitchFamily="34" charset="0"/>
                <a:ea typeface="Lato" panose="020F0502020204030203" pitchFamily="34" charset="0"/>
                <a:cs typeface="Lato" panose="020F0502020204030203" pitchFamily="34" charset="0"/>
              </a:rPr>
              <a:t> (8 </a:t>
            </a:r>
            <a:r>
              <a:rPr lang="en-US" sz="2400" err="1">
                <a:latin typeface="Lato" panose="020F0502020204030203" pitchFamily="34" charset="0"/>
                <a:ea typeface="Lato" panose="020F0502020204030203" pitchFamily="34" charset="0"/>
                <a:cs typeface="Lato" panose="020F0502020204030203" pitchFamily="34" charset="0"/>
              </a:rPr>
              <a:t>đơn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khớp</a:t>
            </a:r>
            <a:r>
              <a:rPr lang="en-US" sz="2400">
                <a:latin typeface="Lato" panose="020F0502020204030203" pitchFamily="34" charset="0"/>
                <a:ea typeface="Lato" panose="020F0502020204030203" pitchFamily="34" charset="0"/>
                <a:cs typeface="Lato" panose="020F0502020204030203" pitchFamily="34" charset="0"/>
              </a:rPr>
              <a:t>, 4 </a:t>
            </a:r>
            <a:r>
              <a:rPr lang="en-US" sz="2400" err="1">
                <a:latin typeface="Lato" panose="020F0502020204030203" pitchFamily="34" charset="0"/>
                <a:ea typeface="Lato" panose="020F0502020204030203" pitchFamily="34" charset="0"/>
                <a:cs typeface="Lato" panose="020F0502020204030203" pitchFamily="34" charset="0"/>
              </a:rPr>
              <a:t>phức</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hợp</a:t>
            </a:r>
            <a:r>
              <a:rPr lang="en-US" sz="2400">
                <a:latin typeface="Lato" panose="020F0502020204030203" pitchFamily="34" charset="0"/>
                <a:ea typeface="Lato" panose="020F0502020204030203" pitchFamily="34" charset="0"/>
                <a:cs typeface="Lato" panose="020F0502020204030203" pitchFamily="34" charset="0"/>
              </a:rPr>
              <a:t>), bicep </a:t>
            </a:r>
            <a:r>
              <a:rPr lang="en-US" sz="2400" err="1">
                <a:latin typeface="Lato" panose="020F0502020204030203" pitchFamily="34" charset="0"/>
                <a:ea typeface="Lato" panose="020F0502020204030203" pitchFamily="34" charset="0"/>
                <a:cs typeface="Lato" panose="020F0502020204030203" pitchFamily="34" charset="0"/>
              </a:rPr>
              <a:t>trái</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chiếm</a:t>
            </a:r>
            <a:r>
              <a:rPr lang="en-US" sz="2400">
                <a:latin typeface="Lato" panose="020F0502020204030203" pitchFamily="34" charset="0"/>
                <a:ea typeface="Lato" panose="020F0502020204030203" pitchFamily="34" charset="0"/>
                <a:cs typeface="Lato" panose="020F0502020204030203" pitchFamily="34" charset="0"/>
              </a:rPr>
              <a:t> 1/12 </a:t>
            </a:r>
            <a:r>
              <a:rPr lang="en-US" sz="2400" err="1">
                <a:latin typeface="Lato" panose="020F0502020204030203" pitchFamily="34" charset="0"/>
                <a:ea typeface="Lato" panose="020F0502020204030203" pitchFamily="34" charset="0"/>
                <a:cs typeface="Lato" panose="020F0502020204030203" pitchFamily="34" charset="0"/>
              </a:rPr>
              <a:t>bài</a:t>
            </a:r>
            <a:endParaRPr lang="en-US" sz="2400">
              <a:latin typeface="Lato" panose="020F0502020204030203" pitchFamily="34" charset="0"/>
              <a:ea typeface="Lato" panose="020F0502020204030203" pitchFamily="34" charset="0"/>
              <a:cs typeface="Lato" panose="020F0502020204030203" pitchFamily="34" charset="0"/>
            </a:endParaRPr>
          </a:p>
          <a:p>
            <a:pPr marL="285750" lvl="0" indent="-285750">
              <a:lnSpc>
                <a:spcPct val="150000"/>
              </a:lnSpc>
              <a:buFont typeface="Arial" panose="020B0604020202020204" pitchFamily="34" charset="0"/>
              <a:buChar char="•"/>
            </a:pPr>
            <a:r>
              <a:rPr sz="2400" b="0">
                <a:latin typeface="Lato"/>
              </a:rPr>
              <a:t>141 set, 10 741 rep sau khi loại 15 set có số rep bất thường</a:t>
            </a:r>
            <a:endParaRPr lang="en-US" sz="2400">
              <a:latin typeface="Lato" panose="020F0502020204030203" pitchFamily="34" charset="0"/>
              <a:ea typeface="Lato" panose="020F0502020204030203" pitchFamily="34" charset="0"/>
              <a:cs typeface="Lato" panose="020F0502020204030203" pitchFamily="34" charset="0"/>
            </a:endParaRPr>
          </a:p>
          <a:p>
            <a:pPr marL="285750" lvl="0" indent="-285750">
              <a:lnSpc>
                <a:spcPct val="150000"/>
              </a:lnSpc>
              <a:buFont typeface="Arial" panose="020B0604020202020204" pitchFamily="34" charset="0"/>
              <a:buChar char="•"/>
            </a:pPr>
            <a:r>
              <a:rPr sz="2400" b="1">
                <a:latin typeface="Lato"/>
              </a:rPr>
              <a:t>Hệ quả: </a:t>
            </a:r>
            <a:r>
              <a:rPr sz="2400" b="0">
                <a:latin typeface="Lato"/>
              </a:rPr>
              <a:t>86% rep còn cách failure từ 10 rep trở lên, nên FCF là biến mục tiêu chính.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3706D-7385-D857-4D0A-1557A56628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4C1FC2-EA3B-48AD-C6FF-71CFE232DA42}"/>
              </a:ext>
            </a:extLst>
          </p:cNvPr>
          <p:cNvSpPr>
            <a:spLocks noGrp="1"/>
          </p:cNvSpPr>
          <p:nvPr>
            <p:ph type="title"/>
          </p:nvPr>
        </p:nvSpPr>
        <p:spPr>
          <a:xfrm>
            <a:off x="195834" y="106044"/>
            <a:ext cx="8673846" cy="451739"/>
          </a:xfrm>
        </p:spPr>
        <p:txBody>
          <a:bodyPr/>
          <a:lstStyle/>
          <a:p>
            <a:pPr algn="l"/>
            <a:r>
              <a:rPr lang="en-US" sz="2400">
                <a:latin typeface="Lato"/>
              </a:rPr>
              <a:t>XỬ LÍ SỐ LIỆU TRÊN CÁC DATASET CÔNG KHAI</a:t>
            </a:r>
            <a:endParaRPr sz="2400"/>
          </a:p>
        </p:txBody>
      </p:sp>
      <p:sp>
        <p:nvSpPr>
          <p:cNvPr id="5" name="TextBox 4">
            <a:extLst>
              <a:ext uri="{FF2B5EF4-FFF2-40B4-BE49-F238E27FC236}">
                <a16:creationId xmlns:a16="http://schemas.microsoft.com/office/drawing/2014/main" id="{9AE5C38D-17C3-DA35-F7DC-0A696BB4981A}"/>
              </a:ext>
            </a:extLst>
          </p:cNvPr>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a:solidFill>
                  <a:srgbClr val="262626"/>
                </a:solidFill>
                <a:latin typeface="Lato"/>
              </a:rPr>
              <a:t>DATASET ZENODO 14182446</a:t>
            </a:r>
          </a:p>
        </p:txBody>
      </p:sp>
      <p:sp>
        <p:nvSpPr>
          <p:cNvPr id="16" name="Slide Number Placeholder 5">
            <a:extLst>
              <a:ext uri="{FF2B5EF4-FFF2-40B4-BE49-F238E27FC236}">
                <a16:creationId xmlns:a16="http://schemas.microsoft.com/office/drawing/2014/main" id="{73BB7D76-9CAB-42E7-1E10-5FBC62DC4D6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9</a:t>
            </a:r>
          </a:p>
        </p:txBody>
      </p:sp>
      <p:pic>
        <p:nvPicPr>
          <p:cNvPr id="19" name="Picture 18" descr="h1b_rho.png"/>
          <p:cNvPicPr>
            <a:picLocks noChangeAspect="1"/>
          </p:cNvPicPr>
          <p:nvPr/>
        </p:nvPicPr>
        <p:blipFill>
          <a:blip r:embed="rId3"/>
          <a:stretch>
            <a:fillRect/>
          </a:stretch>
        </p:blipFill>
        <p:spPr>
          <a:xfrm>
            <a:off x="426729" y="1737360"/>
            <a:ext cx="8290542" cy="3429000"/>
          </a:xfrm>
          <a:prstGeom prst="rect">
            <a:avLst/>
          </a:prstGeom>
        </p:spPr>
      </p:pic>
      <p:sp>
        <p:nvSpPr>
          <p:cNvPr id="18" name="TextBox 17">
            <a:extLst>
              <a:ext uri="{FF2B5EF4-FFF2-40B4-BE49-F238E27FC236}">
                <a16:creationId xmlns:a16="http://schemas.microsoft.com/office/drawing/2014/main" id="{C50EEE2D-2B43-9B0A-275A-FC1A6026D6F6}"/>
              </a:ext>
            </a:extLst>
          </p:cNvPr>
          <p:cNvSpPr txBox="1"/>
          <p:nvPr/>
        </p:nvSpPr>
        <p:spPr>
          <a:xfrm>
            <a:off x="365760" y="5257800"/>
            <a:ext cx="8412480" cy="615938"/>
          </a:xfrm>
          <a:prstGeom prst="rect">
            <a:avLst/>
          </a:prstGeom>
          <a:noFill/>
        </p:spPr>
        <p:txBody>
          <a:bodyPr wrap="square" lIns="36576" tIns="36576" rIns="36576" bIns="36576" anchor="t">
            <a:spAutoFit/>
          </a:bodyPr>
          <a:lstStyle/>
          <a:p>
            <a:pPr algn="l">
              <a:lnSpc>
                <a:spcPct val="105000"/>
              </a:lnSpc>
              <a:spcAft>
                <a:spcPts val="600"/>
              </a:spcAft>
            </a:pPr>
            <a:r>
              <a:rPr sz="1500" b="0">
                <a:solidFill>
                  <a:srgbClr val="262626"/>
                </a:solidFill>
                <a:latin typeface="Lato"/>
              </a:rPr>
              <a:t>Tần số giảm theo thời gian ở cả 12 cơ: ρ trung vị âm ở 12/12 cơ; 156 set, trước bước lọc.</a:t>
            </a:r>
          </a:p>
          <a:p>
            <a:pPr algn="l">
              <a:lnSpc>
                <a:spcPct val="105000"/>
              </a:lnSpc>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ρ</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hệ</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số</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tương</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quan</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Spearman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giữa</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MNF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và</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thời</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gian</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trong</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một</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set</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mỗi</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chấm</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là</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một</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set</a:t>
            </a:r>
            <a:r>
              <a:rPr sz="1500" b="0" i="0">
                <a:solidFill>
                  <a:srgbClr val="262626"/>
                </a:solidFill>
                <a:latin typeface="Lato" panose="020F0502020204030203" pitchFamily="34" charset="0"/>
                <a:ea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3837416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TÁCH REP</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10</a:t>
            </a:r>
          </a:p>
        </p:txBody>
      </p:sp>
      <p:pic>
        <p:nvPicPr>
          <p:cNvPr id="17" name="Picture 16" descr="h2_cat_rep.png"/>
          <p:cNvPicPr>
            <a:picLocks noChangeAspect="1"/>
          </p:cNvPicPr>
          <p:nvPr/>
        </p:nvPicPr>
        <p:blipFill>
          <a:blip r:embed="rId3"/>
          <a:stretch>
            <a:fillRect/>
          </a:stretch>
        </p:blipFill>
        <p:spPr>
          <a:xfrm>
            <a:off x="365760" y="1783080"/>
            <a:ext cx="8412480" cy="2134509"/>
          </a:xfrm>
          <a:prstGeom prst="rect">
            <a:avLst/>
          </a:prstGeom>
        </p:spPr>
      </p:pic>
      <p:sp>
        <p:nvSpPr>
          <p:cNvPr id="18" name="TextBox 17"/>
          <p:cNvSpPr txBox="1"/>
          <p:nvPr/>
        </p:nvSpPr>
        <p:spPr>
          <a:xfrm>
            <a:off x="365760" y="4100469"/>
            <a:ext cx="8412480" cy="2117450"/>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600" b="1" i="0">
                <a:solidFill>
                  <a:srgbClr val="262626"/>
                </a:solidFill>
                <a:latin typeface="Lato"/>
              </a:rPr>
              <a:t>Tách rep</a:t>
            </a:r>
            <a:r>
              <a:rPr sz="1600" b="0" i="0">
                <a:solidFill>
                  <a:srgbClr val="262626"/>
                </a:solidFill>
                <a:latin typeface="Lato"/>
              </a:rPr>
              <a:t> từ đường bao biên độ sEMG (RMS trượt 200 ms, làm mượt Savitzky–Golay): mỗi đáy của đường bao là ranh giới giữa hai rep (vạch xanh).</a:t>
            </a:r>
          </a:p>
          <a:p>
            <a:pPr marL="164592" indent="-164592" algn="l">
              <a:lnSpc>
                <a:spcPct val="105000"/>
              </a:lnSpc>
              <a:spcAft>
                <a:spcPts val="800"/>
              </a:spcAft>
              <a:buClr>
                <a:srgbClr val="7F7F7F"/>
              </a:buClr>
              <a:buChar char="•"/>
            </a:pPr>
            <a:r>
              <a:rPr sz="1600" b="0" i="0">
                <a:solidFill>
                  <a:srgbClr val="262626"/>
                </a:solidFill>
                <a:latin typeface="Lato"/>
              </a:rPr>
              <a:t>Chỉ giữ đoạn dài 1.2–4.5 s; đoạn ngắn hơn hoặc dài hơn không được tính là rep.</a:t>
            </a:r>
          </a:p>
          <a:p>
            <a:pPr marL="164592" indent="-164592" algn="l">
              <a:lnSpc>
                <a:spcPct val="105000"/>
              </a:lnSpc>
              <a:spcAft>
                <a:spcPts val="800"/>
              </a:spcAft>
              <a:buClr>
                <a:srgbClr val="7F7F7F"/>
              </a:buClr>
              <a:buChar char="•"/>
            </a:pPr>
            <a:r>
              <a:rPr sz="1600" b="0" i="0">
                <a:solidFill>
                  <a:srgbClr val="262626"/>
                </a:solidFill>
                <a:latin typeface="Lato"/>
              </a:rPr>
              <a:t>Ví dụ: người 1, bicep phải, 86 rep. Xám: sEMG đã lọc 20–450 Hz; cam: đường bao; đỏ: đỉnh mỗi rep.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LỌC DỮ LIỆU</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11</a:t>
            </a:r>
          </a:p>
        </p:txBody>
      </p:sp>
      <p:sp>
        <p:nvSpPr>
          <p:cNvPr id="17" name="Rectangle 16"/>
          <p:cNvSpPr/>
          <p:nvPr/>
        </p:nvSpPr>
        <p:spPr>
          <a:xfrm>
            <a:off x="365760" y="1874519"/>
            <a:ext cx="1874519" cy="123444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700" b="1" i="0">
                <a:solidFill>
                  <a:srgbClr val="262626"/>
                </a:solidFill>
                <a:latin typeface="Lato"/>
              </a:rPr>
              <a:t>Dữ liệu thô</a:t>
            </a:r>
          </a:p>
          <a:p>
            <a:pPr algn="l">
              <a:spcAft>
                <a:spcPts val="200"/>
              </a:spcAft>
            </a:pPr>
            <a:r>
              <a:rPr sz="1500" b="0" i="0">
                <a:solidFill>
                  <a:srgbClr val="262626"/>
                </a:solidFill>
                <a:latin typeface="Lato"/>
              </a:rPr>
              <a:t>156 set
13 546 rep</a:t>
            </a:r>
          </a:p>
        </p:txBody>
      </p:sp>
      <p:sp>
        <p:nvSpPr>
          <p:cNvPr id="18" name="Right Arrow 17"/>
          <p:cNvSpPr/>
          <p:nvPr/>
        </p:nvSpPr>
        <p:spPr>
          <a:xfrm>
            <a:off x="2267711" y="2377439"/>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42032" y="1874519"/>
            <a:ext cx="1874519" cy="123444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700" b="1" i="0">
                <a:solidFill>
                  <a:srgbClr val="262626"/>
                </a:solidFill>
                <a:latin typeface="Lato"/>
              </a:rPr>
              <a:t>Lọc IQR theo cơ</a:t>
            </a:r>
          </a:p>
          <a:p>
            <a:pPr algn="l">
              <a:spcAft>
                <a:spcPts val="200"/>
              </a:spcAft>
            </a:pPr>
            <a:r>
              <a:rPr sz="1500" b="0" i="0">
                <a:solidFill>
                  <a:srgbClr val="262626"/>
                </a:solidFill>
                <a:latin typeface="Lato"/>
              </a:rPr>
              <a:t>loại 15 set</a:t>
            </a:r>
          </a:p>
        </p:txBody>
      </p:sp>
      <p:sp>
        <p:nvSpPr>
          <p:cNvPr id="20" name="Right Arrow 19"/>
          <p:cNvSpPr/>
          <p:nvPr/>
        </p:nvSpPr>
        <p:spPr>
          <a:xfrm>
            <a:off x="4443984" y="2377439"/>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718304" y="1874519"/>
            <a:ext cx="1874519" cy="123444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700" b="1" i="0">
                <a:solidFill>
                  <a:srgbClr val="262626"/>
                </a:solidFill>
                <a:latin typeface="Lato"/>
              </a:rPr>
              <a:t>Tập phân tích</a:t>
            </a:r>
          </a:p>
          <a:p>
            <a:pPr algn="l">
              <a:spcAft>
                <a:spcPts val="200"/>
              </a:spcAft>
            </a:pPr>
            <a:r>
              <a:rPr sz="1500" b="0" i="0">
                <a:solidFill>
                  <a:srgbClr val="262626"/>
                </a:solidFill>
                <a:latin typeface="Lato"/>
              </a:rPr>
              <a:t>141 set
10 741 rep</a:t>
            </a:r>
          </a:p>
        </p:txBody>
      </p:sp>
      <p:sp>
        <p:nvSpPr>
          <p:cNvPr id="22" name="Right Arrow 21"/>
          <p:cNvSpPr/>
          <p:nvPr/>
        </p:nvSpPr>
        <p:spPr>
          <a:xfrm>
            <a:off x="6620256" y="2377439"/>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94576" y="1874519"/>
            <a:ext cx="1874519" cy="1234440"/>
          </a:xfrm>
          <a:prstGeom prst="rect">
            <a:avLst/>
          </a:prstGeom>
          <a:solidFill>
            <a:srgbClr val="FFFFFF"/>
          </a:solidFill>
          <a:ln w="25400">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700" b="1" i="0">
                <a:solidFill>
                  <a:srgbClr val="C02034"/>
                </a:solidFill>
                <a:latin typeface="Lato"/>
              </a:rPr>
              <a:t>Tập đánh giá</a:t>
            </a:r>
          </a:p>
          <a:p>
            <a:pPr algn="l">
              <a:spcAft>
                <a:spcPts val="200"/>
              </a:spcAft>
            </a:pPr>
            <a:r>
              <a:rPr sz="1500" b="0" i="0">
                <a:solidFill>
                  <a:srgbClr val="262626"/>
                </a:solidFill>
                <a:latin typeface="Lato"/>
              </a:rPr>
              <a:t>bỏ 3 rep tham chiếu
10 318 rep</a:t>
            </a:r>
          </a:p>
        </p:txBody>
      </p:sp>
      <p:sp>
        <p:nvSpPr>
          <p:cNvPr id="24" name="TextBox 23"/>
          <p:cNvSpPr txBox="1"/>
          <p:nvPr/>
        </p:nvSpPr>
        <p:spPr>
          <a:xfrm>
            <a:off x="365760" y="3291839"/>
            <a:ext cx="8412480" cy="292608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1" i="0">
                <a:solidFill>
                  <a:srgbClr val="262626"/>
                </a:solidFill>
                <a:latin typeface="Lato"/>
              </a:rPr>
              <a:t>Lọc IQR</a:t>
            </a:r>
            <a:r>
              <a:rPr sz="1600" b="0" i="0">
                <a:solidFill>
                  <a:srgbClr val="262626"/>
                </a:solidFill>
                <a:latin typeface="Lato"/>
              </a:rPr>
              <a:t>: trong từng cơ, set có số rep nằm ngoài [Q1 − 1.5·IQR, Q3 + 1.5·IQR] của cơ đó, hoặc dưới 10 rep, bị loại cả set.</a:t>
            </a:r>
          </a:p>
          <a:p>
            <a:pPr marL="164592" indent="-164592" algn="l">
              <a:lnSpc>
                <a:spcPct val="105000"/>
              </a:lnSpc>
              <a:spcAft>
                <a:spcPts val="900"/>
              </a:spcAft>
              <a:buClr>
                <a:srgbClr val="7F7F7F"/>
              </a:buClr>
              <a:buChar char="•"/>
            </a:pPr>
            <a:r>
              <a:rPr sz="1600" b="0" i="0">
                <a:solidFill>
                  <a:srgbClr val="262626"/>
                </a:solidFill>
                <a:latin typeface="Lato"/>
              </a:rPr>
              <a:t>15 set bị loại: 3 set quá ngắn (5–15 rep) và 12 set dài bất thường so với cùng cơ (49–493 rep).</a:t>
            </a:r>
          </a:p>
          <a:p>
            <a:pPr marL="164592" indent="-164592" algn="l">
              <a:lnSpc>
                <a:spcPct val="105000"/>
              </a:lnSpc>
              <a:spcAft>
                <a:spcPts val="900"/>
              </a:spcAft>
              <a:buClr>
                <a:srgbClr val="7F7F7F"/>
              </a:buClr>
              <a:buChar char="•"/>
            </a:pPr>
            <a:r>
              <a:rPr sz="1600" b="1" i="0">
                <a:solidFill>
                  <a:srgbClr val="262626"/>
                </a:solidFill>
                <a:latin typeface="Lato"/>
              </a:rPr>
              <a:t>Rep tham chiếu</a:t>
            </a:r>
            <a:r>
              <a:rPr sz="1600" b="0" i="0">
                <a:solidFill>
                  <a:srgbClr val="262626"/>
                </a:solidFill>
                <a:latin typeface="Lato"/>
              </a:rPr>
              <a:t>: 3 rep đầu mỗi set, làm mốc để chuẩn hoá các rep sau. Chúng không được đưa vào đánh giá (lý do ở phần kiểm định).</a:t>
            </a:r>
          </a:p>
          <a:p>
            <a:pPr marL="164592" indent="-164592" algn="l">
              <a:lnSpc>
                <a:spcPct val="105000"/>
              </a:lnSpc>
              <a:spcAft>
                <a:spcPts val="900"/>
              </a:spcAft>
              <a:buClr>
                <a:srgbClr val="7F7F7F"/>
              </a:buClr>
              <a:buChar char="•"/>
            </a:pPr>
            <a:r>
              <a:rPr sz="1600" b="0" i="0">
                <a:solidFill>
                  <a:srgbClr val="262626"/>
                </a:solidFill>
                <a:latin typeface="Lato"/>
              </a:rPr>
              <a:t>Mọi kết quả Zenodo từ đây tính trên </a:t>
            </a:r>
            <a:r>
              <a:rPr sz="1600" b="1" i="0">
                <a:solidFill>
                  <a:srgbClr val="262626"/>
                </a:solidFill>
                <a:latin typeface="Lato"/>
              </a:rPr>
              <a:t>tập đánh giá 10 318 rep</a:t>
            </a:r>
            <a:r>
              <a:rPr sz="1600" b="0" i="0">
                <a:solidFill>
                  <a:srgbClr val="262626"/>
                </a:solidFill>
                <a:latin typeface="Lato"/>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VÌ SAO CHỈ ĐÁNH GIÁ RIR &lt; 10</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12</a:t>
            </a:r>
          </a:p>
        </p:txBody>
      </p:sp>
      <p:sp>
        <p:nvSpPr>
          <p:cNvPr id="17" name="TextBox 16"/>
          <p:cNvSpPr txBox="1"/>
          <p:nvPr/>
        </p:nvSpPr>
        <p:spPr>
          <a:xfrm>
            <a:off x="365760" y="1828800"/>
            <a:ext cx="4023360" cy="640080"/>
          </a:xfrm>
          <a:prstGeom prst="rect">
            <a:avLst/>
          </a:prstGeom>
          <a:noFill/>
        </p:spPr>
        <p:txBody>
          <a:bodyPr wrap="square" lIns="36576" tIns="36576" rIns="36576" bIns="36576" anchor="b">
            <a:spAutoFit/>
          </a:bodyPr>
          <a:lstStyle/>
          <a:p>
            <a:pPr algn="l">
              <a:spcAft>
                <a:spcPts val="400"/>
              </a:spcAft>
            </a:pPr>
            <a:r>
              <a:rPr sz="3400" b="1" i="0">
                <a:solidFill>
                  <a:srgbClr val="7F7F7F"/>
                </a:solidFill>
                <a:latin typeface="Lato"/>
              </a:rPr>
              <a:t>8 909 rep · 86%</a:t>
            </a:r>
          </a:p>
        </p:txBody>
      </p:sp>
      <p:sp>
        <p:nvSpPr>
          <p:cNvPr id="18" name="TextBox 17"/>
          <p:cNvSpPr txBox="1"/>
          <p:nvPr/>
        </p:nvSpPr>
        <p:spPr>
          <a:xfrm>
            <a:off x="365760" y="2514600"/>
            <a:ext cx="402336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RIR thật ≥ 10: cùng mang nhãn 10</a:t>
            </a:r>
          </a:p>
        </p:txBody>
      </p:sp>
      <p:sp>
        <p:nvSpPr>
          <p:cNvPr id="19" name="TextBox 18"/>
          <p:cNvSpPr txBox="1"/>
          <p:nvPr/>
        </p:nvSpPr>
        <p:spPr>
          <a:xfrm>
            <a:off x="365760" y="3429000"/>
            <a:ext cx="4023360" cy="640080"/>
          </a:xfrm>
          <a:prstGeom prst="rect">
            <a:avLst/>
          </a:prstGeom>
          <a:noFill/>
        </p:spPr>
        <p:txBody>
          <a:bodyPr wrap="square" lIns="36576" tIns="36576" rIns="36576" bIns="36576" anchor="b">
            <a:spAutoFit/>
          </a:bodyPr>
          <a:lstStyle/>
          <a:p>
            <a:pPr algn="l">
              <a:spcAft>
                <a:spcPts val="400"/>
              </a:spcAft>
            </a:pPr>
            <a:r>
              <a:rPr sz="3400" b="1" i="0">
                <a:solidFill>
                  <a:srgbClr val="C02034"/>
                </a:solidFill>
                <a:latin typeface="Lato"/>
              </a:rPr>
              <a:t>1 409 rep · 14%</a:t>
            </a:r>
          </a:p>
        </p:txBody>
      </p:sp>
      <p:sp>
        <p:nvSpPr>
          <p:cNvPr id="20" name="TextBox 19"/>
          <p:cNvSpPr txBox="1"/>
          <p:nvPr/>
        </p:nvSpPr>
        <p:spPr>
          <a:xfrm>
            <a:off x="365760" y="4114800"/>
            <a:ext cx="402336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RIR thật &lt; 10: được dùng để
đánh giá RIR</a:t>
            </a:r>
          </a:p>
        </p:txBody>
      </p:sp>
      <p:sp>
        <p:nvSpPr>
          <p:cNvPr id="21" name="TextBox 20"/>
          <p:cNvSpPr txBox="1"/>
          <p:nvPr/>
        </p:nvSpPr>
        <p:spPr>
          <a:xfrm>
            <a:off x="365760" y="5166360"/>
            <a:ext cx="4023360" cy="365760"/>
          </a:xfrm>
          <a:prstGeom prst="rect">
            <a:avLst/>
          </a:prstGeom>
          <a:noFill/>
        </p:spPr>
        <p:txBody>
          <a:bodyPr wrap="square" lIns="36576" tIns="36576" rIns="36576" bIns="36576" anchor="t">
            <a:spAutoFit/>
          </a:bodyPr>
          <a:lstStyle/>
          <a:p>
            <a:pPr algn="l">
              <a:spcAft>
                <a:spcPts val="400"/>
              </a:spcAft>
            </a:pPr>
            <a:r>
              <a:rPr sz="1400" b="0" i="0">
                <a:solidFill>
                  <a:srgbClr val="7F7F7F"/>
                </a:solidFill>
                <a:latin typeface="Lato"/>
              </a:rPr>
              <a:t>Tập đánh giá Zenodo, 10 318 rep</a:t>
            </a:r>
          </a:p>
        </p:txBody>
      </p:sp>
      <p:sp>
        <p:nvSpPr>
          <p:cNvPr id="22" name="TextBox 21"/>
          <p:cNvSpPr txBox="1"/>
          <p:nvPr/>
        </p:nvSpPr>
        <p:spPr>
          <a:xfrm>
            <a:off x="4754880" y="1783080"/>
            <a:ext cx="4023360" cy="443484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500" b="0" i="0">
                <a:solidFill>
                  <a:srgbClr val="262626"/>
                </a:solidFill>
                <a:latin typeface="Lato"/>
              </a:rPr>
              <a:t>Nhãn RIR được giới hạn ở 10: </a:t>
            </a:r>
            <a:r>
              <a:rPr sz="1500" b="1" i="0">
                <a:solidFill>
                  <a:srgbClr val="262626"/>
                </a:solidFill>
                <a:latin typeface="Lato"/>
              </a:rPr>
              <a:t>RIR = min(N_total − k, 10)</a:t>
            </a:r>
            <a:r>
              <a:rPr sz="1500" b="0" i="0">
                <a:solidFill>
                  <a:srgbClr val="262626"/>
                </a:solidFill>
                <a:latin typeface="Lato"/>
              </a:rPr>
              <a:t>.</a:t>
            </a:r>
          </a:p>
          <a:p>
            <a:pPr marL="164592" indent="-164592" algn="l">
              <a:lnSpc>
                <a:spcPct val="105000"/>
              </a:lnSpc>
              <a:spcAft>
                <a:spcPts val="900"/>
              </a:spcAft>
              <a:buClr>
                <a:srgbClr val="7F7F7F"/>
              </a:buClr>
              <a:buChar char="•"/>
            </a:pPr>
            <a:r>
              <a:rPr sz="1500" b="0" i="0">
                <a:solidFill>
                  <a:srgbClr val="262626"/>
                </a:solidFill>
                <a:latin typeface="Lato"/>
              </a:rPr>
              <a:t>Set Zenodo dài, nên </a:t>
            </a:r>
            <a:r>
              <a:rPr sz="1500" b="1" i="0">
                <a:solidFill>
                  <a:srgbClr val="262626"/>
                </a:solidFill>
                <a:latin typeface="Lato"/>
              </a:rPr>
              <a:t>86%</a:t>
            </a:r>
            <a:r>
              <a:rPr sz="1500" b="0" i="0">
                <a:solidFill>
                  <a:srgbClr val="262626"/>
                </a:solidFill>
                <a:latin typeface="Lato"/>
              </a:rPr>
              <a:t> rep còn cách failure từ 10 rep trở lên và cùng mang nhãn 10.</a:t>
            </a:r>
          </a:p>
          <a:p>
            <a:pPr marL="164592" indent="-164592" algn="l">
              <a:lnSpc>
                <a:spcPct val="105000"/>
              </a:lnSpc>
              <a:spcAft>
                <a:spcPts val="900"/>
              </a:spcAft>
              <a:buClr>
                <a:srgbClr val="7F7F7F"/>
              </a:buClr>
              <a:buChar char="•"/>
            </a:pPr>
            <a:r>
              <a:rPr sz="1500" b="0" i="0">
                <a:solidFill>
                  <a:srgbClr val="262626"/>
                </a:solidFill>
                <a:latin typeface="Lato"/>
              </a:rPr>
              <a:t>Đánh giá trên mọi rep thì chỉ cần đoán gần 10 là đúng: sai số 1.38 rep trông tốt, nhưng ở vùng gần failure là 4.42 rep.</a:t>
            </a:r>
          </a:p>
          <a:p>
            <a:pPr marL="164592" indent="-164592" algn="l">
              <a:lnSpc>
                <a:spcPct val="105000"/>
              </a:lnSpc>
              <a:spcAft>
                <a:spcPts val="900"/>
              </a:spcAft>
              <a:buClr>
                <a:srgbClr val="7F7F7F"/>
              </a:buClr>
              <a:buChar char="•"/>
            </a:pPr>
            <a:r>
              <a:rPr sz="1500" b="0" i="0">
                <a:solidFill>
                  <a:srgbClr val="262626"/>
                </a:solidFill>
                <a:latin typeface="Lato"/>
              </a:rPr>
              <a:t>Quyết định dừng set chỉ xảy ra ở vùng gần failure, nên RIR được đánh giá trên </a:t>
            </a:r>
            <a:r>
              <a:rPr sz="1500" b="1" i="0">
                <a:solidFill>
                  <a:srgbClr val="262626"/>
                </a:solidFill>
                <a:latin typeface="Lato"/>
              </a:rPr>
              <a:t>1 409 rep có RIR &lt; 10</a:t>
            </a:r>
            <a:r>
              <a:rPr sz="1500" b="0" i="0">
                <a:solidFill>
                  <a:srgbClr val="262626"/>
                </a:solidFill>
                <a:latin typeface="Lato"/>
              </a:rPr>
              <a:t>.</a:t>
            </a:r>
          </a:p>
          <a:p>
            <a:pPr marL="164592" indent="-164592" algn="l">
              <a:lnSpc>
                <a:spcPct val="105000"/>
              </a:lnSpc>
              <a:spcAft>
                <a:spcPts val="900"/>
              </a:spcAft>
              <a:buClr>
                <a:srgbClr val="7F7F7F"/>
              </a:buClr>
              <a:buChar char="•"/>
            </a:pPr>
            <a:r>
              <a:rPr sz="1500" b="0" i="0">
                <a:solidFill>
                  <a:srgbClr val="262626"/>
                </a:solidFill>
                <a:latin typeface="Lato"/>
              </a:rPr>
              <a:t>FCF dùng được mọi rep, nên là biến mục tiêu chính.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PIPELINE VÀ BASELINE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13</a:t>
            </a:r>
          </a:p>
        </p:txBody>
      </p:sp>
      <p:sp>
        <p:nvSpPr>
          <p:cNvPr id="17" name="Rectangle 16"/>
          <p:cNvSpPr/>
          <p:nvPr/>
        </p:nvSpPr>
        <p:spPr>
          <a:xfrm>
            <a:off x="365760"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sEMG</a:t>
            </a:r>
          </a:p>
          <a:p>
            <a:pPr algn="l">
              <a:spcAft>
                <a:spcPts val="200"/>
              </a:spcAft>
            </a:pPr>
            <a:r>
              <a:rPr sz="1200" b="0" i="0">
                <a:solidFill>
                  <a:srgbClr val="262626"/>
                </a:solidFill>
                <a:latin typeface="Lato"/>
              </a:rPr>
              <a:t>đo trên da</a:t>
            </a:r>
          </a:p>
        </p:txBody>
      </p:sp>
      <p:sp>
        <p:nvSpPr>
          <p:cNvPr id="18" name="Right Arrow 17"/>
          <p:cNvSpPr/>
          <p:nvPr/>
        </p:nvSpPr>
        <p:spPr>
          <a:xfrm>
            <a:off x="1627632" y="2112264"/>
            <a:ext cx="146304"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792224"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Tách rep</a:t>
            </a:r>
          </a:p>
          <a:p>
            <a:pPr algn="l">
              <a:spcAft>
                <a:spcPts val="200"/>
              </a:spcAft>
            </a:pPr>
            <a:r>
              <a:rPr sz="1200" b="0" i="0">
                <a:solidFill>
                  <a:srgbClr val="262626"/>
                </a:solidFill>
                <a:latin typeface="Lato"/>
              </a:rPr>
              <a:t>ranh giới mỗi rep</a:t>
            </a:r>
          </a:p>
        </p:txBody>
      </p:sp>
      <p:sp>
        <p:nvSpPr>
          <p:cNvPr id="20" name="Right Arrow 19"/>
          <p:cNvSpPr/>
          <p:nvPr/>
        </p:nvSpPr>
        <p:spPr>
          <a:xfrm>
            <a:off x="3054096" y="2112264"/>
            <a:ext cx="146304"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18688"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Đặc trưng</a:t>
            </a:r>
          </a:p>
          <a:p>
            <a:pPr algn="l">
              <a:spcAft>
                <a:spcPts val="200"/>
              </a:spcAft>
            </a:pPr>
            <a:r>
              <a:rPr sz="1200" b="0" i="0">
                <a:solidFill>
                  <a:srgbClr val="262626"/>
                </a:solidFill>
                <a:latin typeface="Lato"/>
              </a:rPr>
              <a:t>biên độ, phổ tần số</a:t>
            </a:r>
          </a:p>
        </p:txBody>
      </p:sp>
      <p:sp>
        <p:nvSpPr>
          <p:cNvPr id="22" name="Right Arrow 21"/>
          <p:cNvSpPr/>
          <p:nvPr/>
        </p:nvSpPr>
        <p:spPr>
          <a:xfrm>
            <a:off x="4480559" y="2112264"/>
            <a:ext cx="146304"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645152"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Chuẩn hoá</a:t>
            </a:r>
          </a:p>
          <a:p>
            <a:pPr algn="l">
              <a:spcAft>
                <a:spcPts val="200"/>
              </a:spcAft>
            </a:pPr>
            <a:r>
              <a:rPr sz="1200" b="0" i="0">
                <a:solidFill>
                  <a:srgbClr val="262626"/>
                </a:solidFill>
                <a:latin typeface="Lato"/>
              </a:rPr>
              <a:t>theo 3 rep tham chiếu</a:t>
            </a:r>
          </a:p>
        </p:txBody>
      </p:sp>
      <p:sp>
        <p:nvSpPr>
          <p:cNvPr id="24" name="Right Arrow 23"/>
          <p:cNvSpPr/>
          <p:nvPr/>
        </p:nvSpPr>
        <p:spPr>
          <a:xfrm>
            <a:off x="5907024" y="2112264"/>
            <a:ext cx="146304"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071616"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Random Forest</a:t>
            </a:r>
          </a:p>
          <a:p>
            <a:pPr algn="l">
              <a:spcAft>
                <a:spcPts val="200"/>
              </a:spcAft>
            </a:pPr>
            <a:r>
              <a:rPr sz="1200" b="0" i="0">
                <a:solidFill>
                  <a:srgbClr val="262626"/>
                </a:solidFill>
                <a:latin typeface="Lato"/>
              </a:rPr>
              <a:t>ước lượng FCF</a:t>
            </a:r>
          </a:p>
        </p:txBody>
      </p:sp>
      <p:sp>
        <p:nvSpPr>
          <p:cNvPr id="26" name="Rectangle 25"/>
          <p:cNvSpPr/>
          <p:nvPr/>
        </p:nvSpPr>
        <p:spPr>
          <a:xfrm>
            <a:off x="365760" y="2788920"/>
            <a:ext cx="6949440" cy="640080"/>
          </a:xfrm>
          <a:prstGeom prst="rect">
            <a:avLst/>
          </a:prstGeom>
          <a:solidFill>
            <a:srgbClr val="FFFFFF"/>
          </a:solidFill>
          <a:ln w="222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400" b="1" i="0">
                <a:solidFill>
                  <a:srgbClr val="262626"/>
                </a:solidFill>
                <a:latin typeface="Lato"/>
              </a:rPr>
              <a:t>Rep-count baseline</a:t>
            </a:r>
            <a:r>
              <a:rPr sz="1400" b="0" i="0">
                <a:solidFill>
                  <a:srgbClr val="262626"/>
                </a:solidFill>
                <a:latin typeface="Lato"/>
              </a:rPr>
              <a:t>: chỉ biết số thứ tự rep k (thêm động tác, mức tải nếu có) → FCF trung bình của tập train tại cùng k</a:t>
            </a:r>
          </a:p>
        </p:txBody>
      </p:sp>
      <p:sp>
        <p:nvSpPr>
          <p:cNvPr id="27" name="Rectangle 26"/>
          <p:cNvSpPr/>
          <p:nvPr/>
        </p:nvSpPr>
        <p:spPr>
          <a:xfrm>
            <a:off x="365760" y="3566160"/>
            <a:ext cx="6949440" cy="502920"/>
          </a:xfrm>
          <a:prstGeom prst="rect">
            <a:avLst/>
          </a:prstGeom>
          <a:solidFill>
            <a:srgbClr val="FFFFFF"/>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400" b="1" i="0">
                <a:solidFill>
                  <a:srgbClr val="262626"/>
                </a:solidFill>
                <a:latin typeface="Lato"/>
              </a:rPr>
              <a:t>Naive baseline</a:t>
            </a:r>
            <a:r>
              <a:rPr sz="1400" b="0" i="0">
                <a:solidFill>
                  <a:srgbClr val="262626"/>
                </a:solidFill>
                <a:latin typeface="Lato"/>
              </a:rPr>
              <a:t>: luôn dự đoán FCF trung bình của tập train</a:t>
            </a:r>
          </a:p>
        </p:txBody>
      </p:sp>
      <p:sp>
        <p:nvSpPr>
          <p:cNvPr id="28" name="Right Arrow 27"/>
          <p:cNvSpPr/>
          <p:nvPr/>
        </p:nvSpPr>
        <p:spPr>
          <a:xfrm>
            <a:off x="7351775" y="2112264"/>
            <a:ext cx="201168"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ight Arrow 28"/>
          <p:cNvSpPr/>
          <p:nvPr/>
        </p:nvSpPr>
        <p:spPr>
          <a:xfrm>
            <a:off x="7351775" y="3008376"/>
            <a:ext cx="201168"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29"/>
          <p:cNvSpPr/>
          <p:nvPr/>
        </p:nvSpPr>
        <p:spPr>
          <a:xfrm>
            <a:off x="7351775" y="3712463"/>
            <a:ext cx="201168"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589520" y="1783080"/>
            <a:ext cx="1188719" cy="2286000"/>
          </a:xfrm>
          <a:prstGeom prst="rect">
            <a:avLst/>
          </a:prstGeom>
          <a:solidFill>
            <a:srgbClr val="FFFFFF"/>
          </a:solidFill>
          <a:ln w="22225">
            <a:solidFill>
              <a:srgbClr val="26262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400" b="1" i="0">
                <a:solidFill>
                  <a:srgbClr val="262626"/>
                </a:solidFill>
                <a:latin typeface="Lato"/>
              </a:rPr>
              <a:t>Đánh giá như nhau</a:t>
            </a:r>
          </a:p>
          <a:p>
            <a:pPr algn="l">
              <a:spcAft>
                <a:spcPts val="200"/>
              </a:spcAft>
            </a:pPr>
            <a:r>
              <a:rPr sz="1300" b="0" i="0">
                <a:solidFill>
                  <a:srgbClr val="262626"/>
                </a:solidFill>
                <a:latin typeface="Lato"/>
              </a:rPr>
              <a:t>LOSO</a:t>
            </a:r>
          </a:p>
          <a:p>
            <a:pPr algn="l">
              <a:spcAft>
                <a:spcPts val="200"/>
              </a:spcAft>
            </a:pPr>
            <a:r>
              <a:rPr sz="1300" b="0" i="0">
                <a:solidFill>
                  <a:srgbClr val="262626"/>
                </a:solidFill>
                <a:latin typeface="Lato"/>
              </a:rPr>
              <a:t>cùng tập rep</a:t>
            </a:r>
          </a:p>
        </p:txBody>
      </p:sp>
      <p:sp>
        <p:nvSpPr>
          <p:cNvPr id="32" name="TextBox 31"/>
          <p:cNvSpPr txBox="1"/>
          <p:nvPr/>
        </p:nvSpPr>
        <p:spPr>
          <a:xfrm>
            <a:off x="365760" y="4251960"/>
            <a:ext cx="8412480" cy="1965959"/>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400" b="1" i="0">
                <a:solidFill>
                  <a:srgbClr val="262626"/>
                </a:solidFill>
                <a:latin typeface="Lato"/>
              </a:rPr>
              <a:t>Rep-count baseline</a:t>
            </a:r>
            <a:r>
              <a:rPr sz="1400" b="0" i="0">
                <a:solidFill>
                  <a:srgbClr val="262626"/>
                </a:solidFill>
                <a:latin typeface="Lato"/>
              </a:rPr>
              <a:t> không dùng tín hiệu cơ; khi triển khai, k lấy từ IMU đếm rep. Mô hình sEMG chỉ có giá trị nếu tốt hơn nó.</a:t>
            </a:r>
          </a:p>
          <a:p>
            <a:pPr marL="164592" indent="-164592" algn="l">
              <a:lnSpc>
                <a:spcPct val="105000"/>
              </a:lnSpc>
              <a:spcAft>
                <a:spcPts val="600"/>
              </a:spcAft>
              <a:buClr>
                <a:srgbClr val="7F7F7F"/>
              </a:buClr>
              <a:buChar char="•"/>
            </a:pPr>
            <a:r>
              <a:rPr sz="1400" b="1" i="0">
                <a:solidFill>
                  <a:srgbClr val="262626"/>
                </a:solidFill>
                <a:latin typeface="Lato"/>
              </a:rPr>
              <a:t>Naive baseline</a:t>
            </a:r>
            <a:r>
              <a:rPr sz="1400" b="0" i="0">
                <a:solidFill>
                  <a:srgbClr val="262626"/>
                </a:solidFill>
                <a:latin typeface="Lato"/>
              </a:rPr>
              <a:t> là mức sàn: không tốt hơn nó nghĩa là không học được gì.</a:t>
            </a:r>
          </a:p>
          <a:p>
            <a:pPr marL="164592" indent="-164592" algn="l">
              <a:lnSpc>
                <a:spcPct val="105000"/>
              </a:lnSpc>
              <a:spcAft>
                <a:spcPts val="600"/>
              </a:spcAft>
              <a:buClr>
                <a:srgbClr val="7F7F7F"/>
              </a:buClr>
              <a:buChar char="•"/>
            </a:pPr>
            <a:r>
              <a:rPr sz="1400" b="1" i="0">
                <a:solidFill>
                  <a:srgbClr val="262626"/>
                </a:solidFill>
                <a:latin typeface="Lato"/>
              </a:rPr>
              <a:t>LOSO</a:t>
            </a:r>
            <a:r>
              <a:rPr sz="1400" b="0" i="0">
                <a:solidFill>
                  <a:srgbClr val="262626"/>
                </a:solidFill>
                <a:latin typeface="Lato"/>
              </a:rPr>
              <a:t> (leave-one-subject-out): mỗi lượt giữ riêng một người làm tập test, train trên những người còn lại, đúng tình huống người dùng mới.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PIPELINE VÀ BASELINE · ĐẶC TRƯNG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14</a:t>
            </a:r>
          </a:p>
        </p:txBody>
      </p:sp>
      <p:graphicFrame>
        <p:nvGraphicFramePr>
          <p:cNvPr id="17" name="Table 16"/>
          <p:cNvGraphicFramePr>
            <a:graphicFrameLocks noGrp="1"/>
          </p:cNvGraphicFramePr>
          <p:nvPr/>
        </p:nvGraphicFramePr>
        <p:xfrm>
          <a:off x="365760" y="1783080"/>
          <a:ext cx="8412480" cy="1892808"/>
        </p:xfrm>
        <a:graphic>
          <a:graphicData uri="http://schemas.openxmlformats.org/drawingml/2006/table">
            <a:tbl>
              <a:tblPr/>
              <a:tblGrid>
                <a:gridCol w="219456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84048">
                <a:tc>
                  <a:txBody>
                    <a:bodyPr/>
                    <a:lstStyle/>
                    <a:p>
                      <a:pPr algn="l">
                        <a:spcAft>
                          <a:spcPts val="0"/>
                        </a:spcAft>
                      </a:pPr>
                      <a:r>
                        <a:rPr sz="1400" b="1" i="0">
                          <a:solidFill>
                            <a:srgbClr val="FFFFFF"/>
                          </a:solidFill>
                          <a:latin typeface="Lato"/>
                        </a:rPr>
                        <a:t>Nhóm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Đại lượng mỗi đoạn của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Số cột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02920">
                <a:tc>
                  <a:txBody>
                    <a:bodyPr/>
                    <a:lstStyle/>
                    <a:p>
                      <a:pPr algn="l">
                        <a:spcAft>
                          <a:spcPts val="0"/>
                        </a:spcAft>
                      </a:pPr>
                      <a:r>
                        <a:rPr sz="1400" b="1" i="0">
                          <a:solidFill>
                            <a:srgbClr val="262626"/>
                          </a:solidFill>
                          <a:latin typeface="Lato"/>
                        </a:rPr>
                        <a:t>Bốn đặc trưng của C1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MNF, MDF (tần số trung bình, trung vị của phổ); tổng công suất; RMS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02920">
                <a:tc>
                  <a:txBody>
                    <a:bodyPr/>
                    <a:lstStyle/>
                    <a:p>
                      <a:pPr algn="l">
                        <a:spcAft>
                          <a:spcPts val="0"/>
                        </a:spcAft>
                      </a:pPr>
                      <a:r>
                        <a:rPr sz="1400" b="1" i="0">
                          <a:solidFill>
                            <a:srgbClr val="262626"/>
                          </a:solidFill>
                          <a:latin typeface="Lato"/>
                        </a:rPr>
                        <a:t>Miền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MAV, iEMG, WL, ZC, SSC, WAMP, DASDV</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21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502920">
                <a:tc>
                  <a:txBody>
                    <a:bodyPr/>
                    <a:lstStyle/>
                    <a:p>
                      <a:pPr algn="l">
                        <a:spcAft>
                          <a:spcPts val="0"/>
                        </a:spcAft>
                      </a:pPr>
                      <a:r>
                        <a:rPr sz="1400" b="1" i="0">
                          <a:solidFill>
                            <a:srgbClr val="262626"/>
                          </a:solidFill>
                          <a:latin typeface="Lato"/>
                        </a:rPr>
                        <a:t>Miền tần số</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Tần số đỉnh, tỉ số LF/HF, chỉ số Dimitrov (FInsm5), entropy phổ, mômen phổ SM1–SM3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21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bl>
          </a:graphicData>
        </a:graphic>
      </p:graphicFrame>
      <p:sp>
        <p:nvSpPr>
          <p:cNvPr id="18" name="TextBox 17"/>
          <p:cNvSpPr txBox="1"/>
          <p:nvPr/>
        </p:nvSpPr>
        <p:spPr>
          <a:xfrm>
            <a:off x="365760" y="3794760"/>
            <a:ext cx="8412480" cy="2423159"/>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600" b="0" i="0">
                <a:solidFill>
                  <a:srgbClr val="262626"/>
                </a:solidFill>
                <a:latin typeface="Lato"/>
              </a:rPr>
              <a:t>Mỗi rep chia 3 đoạn; 18 đại lượng × 3 thống kê (max, min, mean qua 3 đoạn) = </a:t>
            </a:r>
            <a:r>
              <a:rPr sz="1600" b="1" i="0">
                <a:solidFill>
                  <a:srgbClr val="262626"/>
                </a:solidFill>
                <a:latin typeface="Lato"/>
              </a:rPr>
              <a:t>54 đặc trưng</a:t>
            </a:r>
            <a:r>
              <a:rPr sz="1600" b="0" i="0">
                <a:solidFill>
                  <a:srgbClr val="262626"/>
                </a:solidFill>
                <a:latin typeface="Lato"/>
              </a:rPr>
              <a:t>.</a:t>
            </a:r>
          </a:p>
          <a:p>
            <a:pPr marL="164592" indent="-164592" algn="l">
              <a:lnSpc>
                <a:spcPct val="105000"/>
              </a:lnSpc>
              <a:spcAft>
                <a:spcPts val="1000"/>
              </a:spcAft>
              <a:buClr>
                <a:srgbClr val="7F7F7F"/>
              </a:buClr>
              <a:buChar char="•"/>
            </a:pPr>
            <a:r>
              <a:rPr sz="1600" b="1" i="0">
                <a:solidFill>
                  <a:srgbClr val="262626"/>
                </a:solidFill>
                <a:latin typeface="Lato"/>
              </a:rPr>
              <a:t>Chuẩn hoá theo 3 rep tham chiếu (N1)</a:t>
            </a:r>
            <a:r>
              <a:rPr sz="1600" b="0" i="0">
                <a:solidFill>
                  <a:srgbClr val="262626"/>
                </a:solidFill>
                <a:latin typeface="Lato"/>
              </a:rPr>
              <a:t>: x̂ₖ = (xₖ − μ) / σ, với μ, σ tính trên 3 rep đầu của chính set; bỏ khác biệt giữa người và vị trí điện cực.</a:t>
            </a:r>
          </a:p>
          <a:p>
            <a:pPr marL="164592" indent="-164592" algn="l">
              <a:lnSpc>
                <a:spcPct val="105000"/>
              </a:lnSpc>
              <a:spcAft>
                <a:spcPts val="1000"/>
              </a:spcAft>
              <a:buClr>
                <a:srgbClr val="7F7F7F"/>
              </a:buClr>
              <a:buChar char="•"/>
            </a:pPr>
            <a:r>
              <a:rPr sz="1600" b="1" i="0">
                <a:solidFill>
                  <a:srgbClr val="262626"/>
                </a:solidFill>
                <a:latin typeface="Lato"/>
              </a:rPr>
              <a:t>Cấu hình sEMG chính</a:t>
            </a:r>
            <a:r>
              <a:rPr sz="1600" b="0" i="0">
                <a:solidFill>
                  <a:srgbClr val="262626"/>
                </a:solidFill>
                <a:latin typeface="Lato"/>
              </a:rPr>
              <a:t>: chọn 12 nhóm đặc trưng bằng mRMR, riêng trong từng lượt LOSO, được 36 cột.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PIPELINE VÀ BASELINE · THIẾT LẬP ĐÁNH GIÁ</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15</a:t>
            </a:r>
          </a:p>
        </p:txBody>
      </p:sp>
      <p:graphicFrame>
        <p:nvGraphicFramePr>
          <p:cNvPr id="17" name="Table 16"/>
          <p:cNvGraphicFramePr>
            <a:graphicFrameLocks noGrp="1"/>
          </p:cNvGraphicFramePr>
          <p:nvPr/>
        </p:nvGraphicFramePr>
        <p:xfrm>
          <a:off x="365760" y="1783080"/>
          <a:ext cx="8412480" cy="4224528"/>
        </p:xfrm>
        <a:graphic>
          <a:graphicData uri="http://schemas.openxmlformats.org/drawingml/2006/table">
            <a:tbl>
              <a:tblPr/>
              <a:tblGrid>
                <a:gridCol w="1920240">
                  <a:extLst>
                    <a:ext uri="{9D8B030D-6E8A-4147-A177-3AD203B41FA5}">
                      <a16:colId xmlns:a16="http://schemas.microsoft.com/office/drawing/2014/main" val="20000"/>
                    </a:ext>
                  </a:extLst>
                </a:gridCol>
                <a:gridCol w="6492240">
                  <a:extLst>
                    <a:ext uri="{9D8B030D-6E8A-4147-A177-3AD203B41FA5}">
                      <a16:colId xmlns:a16="http://schemas.microsoft.com/office/drawing/2014/main" val="20001"/>
                    </a:ext>
                  </a:extLst>
                </a:gridCol>
              </a:tblGrid>
              <a:tr h="384048">
                <a:tc>
                  <a:txBody>
                    <a:bodyPr/>
                    <a:lstStyle/>
                    <a:p>
                      <a:pPr algn="l">
                        <a:spcAft>
                          <a:spcPts val="0"/>
                        </a:spcAft>
                      </a:pPr>
                      <a:r>
                        <a:rPr sz="1400" b="1" i="0">
                          <a:solidFill>
                            <a:srgbClr val="FFFFFF"/>
                          </a:solidFill>
                          <a:latin typeface="Lato"/>
                        </a:rPr>
                        <a:t>Hạng mục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Thiết lập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48640">
                <a:tc>
                  <a:txBody>
                    <a:bodyPr/>
                    <a:lstStyle/>
                    <a:p>
                      <a:pPr algn="l">
                        <a:spcAft>
                          <a:spcPts val="0"/>
                        </a:spcAft>
                      </a:pPr>
                      <a:r>
                        <a:rPr sz="1400" b="1" i="0">
                          <a:solidFill>
                            <a:srgbClr val="262626"/>
                          </a:solidFill>
                          <a:latin typeface="Lato"/>
                        </a:rPr>
                        <a:t>Mô hình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Random Forest, 200 cây, độ sâu tối đa 10, seed 42; một cấu hình cho mọi phép so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48640">
                <a:tc>
                  <a:txBody>
                    <a:bodyPr/>
                    <a:lstStyle/>
                    <a:p>
                      <a:pPr algn="l">
                        <a:spcAft>
                          <a:spcPts val="0"/>
                        </a:spcAft>
                      </a:pPr>
                      <a:r>
                        <a:rPr sz="1400" b="1" i="0">
                          <a:solidFill>
                            <a:srgbClr val="262626"/>
                          </a:solidFill>
                          <a:latin typeface="Lato"/>
                        </a:rPr>
                        <a:t>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LOSO: 13 lượt (Zenodo), 34 lượt (WSD); RMSE theo từng người rồi lấy trung bình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548640">
                <a:tc>
                  <a:txBody>
                    <a:bodyPr/>
                    <a:lstStyle/>
                    <a:p>
                      <a:pPr algn="l">
                        <a:spcAft>
                          <a:spcPts val="0"/>
                        </a:spcAft>
                      </a:pPr>
                      <a:r>
                        <a:rPr sz="1400" b="1" i="0">
                          <a:solidFill>
                            <a:srgbClr val="262626"/>
                          </a:solidFill>
                          <a:latin typeface="Lato"/>
                        </a:rPr>
                        <a:t>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Naive baseline và rep-count baseline, tính riêng từng lượt, trên đúng tập rep đang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548640">
                <a:tc>
                  <a:txBody>
                    <a:bodyPr/>
                    <a:lstStyle/>
                    <a:p>
                      <a:pPr algn="l">
                        <a:spcAft>
                          <a:spcPts val="0"/>
                        </a:spcAft>
                      </a:pPr>
                      <a:r>
                        <a:rPr sz="1400" b="1" i="0">
                          <a:solidFill>
                            <a:srgbClr val="262626"/>
                          </a:solidFill>
                          <a:latin typeface="Lato"/>
                        </a:rPr>
                        <a:t>Control</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Xáo nhãn trong mỗi set rồi huấn luyện lại; phần mô hình thật hơn control là phần học được từ tín hiệu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548640">
                <a:tc>
                  <a:txBody>
                    <a:bodyPr/>
                    <a:lstStyle/>
                    <a:p>
                      <a:pPr algn="l">
                        <a:spcAft>
                          <a:spcPts val="0"/>
                        </a:spcAft>
                      </a:pPr>
                      <a:r>
                        <a:rPr sz="1400" b="1" i="0">
                          <a:solidFill>
                            <a:srgbClr val="262626"/>
                          </a:solidFill>
                          <a:latin typeface="Lato"/>
                        </a:rPr>
                        <a:t>Khoảng tin cậy</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Bootstrap theo người, 10 000 lần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548640">
                <a:tc>
                  <a:txBody>
                    <a:bodyPr/>
                    <a:lstStyle/>
                    <a:p>
                      <a:pPr algn="l">
                        <a:spcAft>
                          <a:spcPts val="0"/>
                        </a:spcAft>
                      </a:pPr>
                      <a:r>
                        <a:rPr sz="1400" b="1" i="0">
                          <a:solidFill>
                            <a:srgbClr val="262626"/>
                          </a:solidFill>
                          <a:latin typeface="Lato"/>
                        </a:rPr>
                        <a:t>Đa so sánh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Holm trong từng họ giả thuyết khai báo trước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548640">
                <a:tc>
                  <a:txBody>
                    <a:bodyPr/>
                    <a:lstStyle/>
                    <a:p>
                      <a:pPr algn="l">
                        <a:spcAft>
                          <a:spcPts val="0"/>
                        </a:spcAft>
                      </a:pPr>
                      <a:r>
                        <a:rPr sz="1400" b="1" i="0">
                          <a:solidFill>
                            <a:srgbClr val="262626"/>
                          </a:solidFill>
                          <a:latin typeface="Lato"/>
                        </a:rPr>
                        <a:t>Phán quyết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CONFIRMED: đúng chiều dự đoán · REVERSED: ngược chiều · INCONCLUSIVE: chưa đủ bằng chứng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PIPELINE VÀ BASELINE · LỰA CHỌN MÔ HÌNH</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16</a:t>
            </a:r>
          </a:p>
        </p:txBody>
      </p:sp>
      <p:graphicFrame>
        <p:nvGraphicFramePr>
          <p:cNvPr id="17" name="Table 16"/>
          <p:cNvGraphicFramePr>
            <a:graphicFrameLocks noGrp="1"/>
          </p:cNvGraphicFramePr>
          <p:nvPr/>
        </p:nvGraphicFramePr>
        <p:xfrm>
          <a:off x="365760" y="1783080"/>
          <a:ext cx="8412480" cy="2249424"/>
        </p:xfrm>
        <a:graphic>
          <a:graphicData uri="http://schemas.openxmlformats.org/drawingml/2006/table">
            <a:tbl>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20624">
                <a:tc>
                  <a:txBody>
                    <a:bodyPr/>
                    <a:lstStyle/>
                    <a:p>
                      <a:pPr algn="l">
                        <a:spcAft>
                          <a:spcPts val="0"/>
                        </a:spcAft>
                      </a:pPr>
                      <a:r>
                        <a:rPr sz="1500" b="1" i="0">
                          <a:solidFill>
                            <a:srgbClr val="FFFFFF"/>
                          </a:solidFill>
                          <a:latin typeface="Lato"/>
                        </a:rPr>
                        <a:t>Mô hình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5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500" b="1" i="0">
                          <a:solidFill>
                            <a:srgbClr val="FFFFFF"/>
                          </a:solidFill>
                          <a:latin typeface="Lato"/>
                        </a:rPr>
                        <a:t>So với Random Forest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57200">
                <a:tc>
                  <a:txBody>
                    <a:bodyPr/>
                    <a:lstStyle/>
                    <a:p>
                      <a:pPr algn="l">
                        <a:spcAft>
                          <a:spcPts val="0"/>
                        </a:spcAft>
                      </a:pPr>
                      <a:r>
                        <a:rPr sz="1600" b="1" i="0">
                          <a:solidFill>
                            <a:srgbClr val="262626"/>
                          </a:solidFill>
                          <a:latin typeface="Lato"/>
                        </a:rPr>
                        <a:t>Random Forest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C02034"/>
                          </a:solidFill>
                          <a:latin typeface="Lato"/>
                        </a:rPr>
                        <a:t>25.12%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C02034"/>
                          </a:solidFill>
                          <a:latin typeface="Lato"/>
                        </a:rPr>
                        <a:t>được chọn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600" b="1" i="0">
                          <a:solidFill>
                            <a:srgbClr val="262626"/>
                          </a:solidFill>
                          <a:latin typeface="Lato"/>
                        </a:rPr>
                        <a:t>XGBoost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25.67%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không khác có ý nghĩa (p = 0.079)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600" b="1" i="0">
                          <a:solidFill>
                            <a:srgbClr val="262626"/>
                          </a:solidFill>
                          <a:latin typeface="Lato"/>
                        </a:rPr>
                        <a:t>Ridge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26.78%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kém hơn có ý nghĩa (p &lt; 0.001)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6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28.87%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mức sàn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365760" y="4206240"/>
            <a:ext cx="8412480" cy="201168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0" i="0">
                <a:solidFill>
                  <a:srgbClr val="262626"/>
                </a:solidFill>
                <a:latin typeface="Lato"/>
              </a:rPr>
              <a:t>Mạng nơ-ron CNN, CNN-GRU, CNN-LSTM: chỉ CNN hơn naive baseline có ý nghĩa (p = 0.0012), vẫn kém Random Forest.</a:t>
            </a:r>
          </a:p>
          <a:p>
            <a:pPr marL="164592" indent="-164592" algn="l">
              <a:lnSpc>
                <a:spcPct val="105000"/>
              </a:lnSpc>
              <a:spcAft>
                <a:spcPts val="900"/>
              </a:spcAft>
              <a:buClr>
                <a:srgbClr val="7F7F7F"/>
              </a:buClr>
              <a:buChar char="•"/>
            </a:pPr>
            <a:r>
              <a:rPr sz="1600" b="0" i="0">
                <a:solidFill>
                  <a:srgbClr val="262626"/>
                </a:solidFill>
                <a:latin typeface="Lato"/>
              </a:rPr>
              <a:t>Random Forest: đơn giản, dễ diễn giải, chạy được trên vi điều khiển.</a:t>
            </a:r>
          </a:p>
          <a:p>
            <a:pPr marL="164592" indent="-164592" algn="l">
              <a:lnSpc>
                <a:spcPct val="105000"/>
              </a:lnSpc>
              <a:spcAft>
                <a:spcPts val="900"/>
              </a:spcAft>
              <a:buClr>
                <a:srgbClr val="7F7F7F"/>
              </a:buClr>
              <a:buChar char="•"/>
            </a:pPr>
            <a:r>
              <a:rPr sz="1600" b="0" i="0">
                <a:solidFill>
                  <a:srgbClr val="262626"/>
                </a:solidFill>
                <a:latin typeface="Lato"/>
              </a:rPr>
              <a:t>Phép so chạy trên pipeline Zenodo đời đầu; WSD chỉ chạy Random Forest.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BỐN NGHI NGỜ DATA LEAKAGE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17</a:t>
            </a:r>
          </a:p>
        </p:txBody>
      </p:sp>
      <p:sp>
        <p:nvSpPr>
          <p:cNvPr id="17" name="TextBox 16"/>
          <p:cNvSpPr txBox="1"/>
          <p:nvPr/>
        </p:nvSpPr>
        <p:spPr>
          <a:xfrm>
            <a:off x="365760" y="1783080"/>
            <a:ext cx="8412480" cy="868680"/>
          </a:xfrm>
          <a:prstGeom prst="rect">
            <a:avLst/>
          </a:prstGeom>
          <a:noFill/>
        </p:spPr>
        <p:txBody>
          <a:bodyPr wrap="square" lIns="36576" tIns="36576" rIns="36576" bIns="36576" anchor="t">
            <a:spAutoFit/>
          </a:bodyPr>
          <a:lstStyle/>
          <a:p>
            <a:pPr algn="l">
              <a:lnSpc>
                <a:spcPct val="105000"/>
              </a:lnSpc>
              <a:spcAft>
                <a:spcPts val="1000"/>
              </a:spcAft>
            </a:pPr>
            <a:r>
              <a:rPr sz="1600" b="1" i="0">
                <a:solidFill>
                  <a:srgbClr val="262626"/>
                </a:solidFill>
                <a:latin typeface="Lato"/>
              </a:rPr>
              <a:t>Data leakage</a:t>
            </a:r>
            <a:r>
              <a:rPr sz="1600" b="0" i="0">
                <a:solidFill>
                  <a:srgbClr val="262626"/>
                </a:solidFill>
                <a:latin typeface="Lato"/>
              </a:rPr>
              <a:t>: thông tin về đáp án lọt vào đầu vào hoặc quy trình đánh giá, làm kết quả tốt giả. Vì FCF = k / N_total, thứ gì cho biết “đây là rep đầu set” cũng gần như cho biết đáp án.</a:t>
            </a:r>
          </a:p>
        </p:txBody>
      </p:sp>
      <p:sp>
        <p:nvSpPr>
          <p:cNvPr id="18" name="Rectangle 17"/>
          <p:cNvSpPr/>
          <p:nvPr/>
        </p:nvSpPr>
        <p:spPr>
          <a:xfrm>
            <a:off x="365760" y="2697480"/>
            <a:ext cx="4114800" cy="157276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2697480"/>
            <a:ext cx="4114800" cy="73152"/>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2834640"/>
            <a:ext cx="3840480" cy="365760"/>
          </a:xfrm>
          <a:prstGeom prst="rect">
            <a:avLst/>
          </a:prstGeom>
          <a:noFill/>
        </p:spPr>
        <p:txBody>
          <a:bodyPr wrap="square" lIns="36576" tIns="36576" rIns="36576" bIns="36576" anchor="t">
            <a:spAutoFit/>
          </a:bodyPr>
          <a:lstStyle/>
          <a:p>
            <a:pPr algn="l">
              <a:spcAft>
                <a:spcPts val="400"/>
              </a:spcAft>
            </a:pPr>
            <a:r>
              <a:rPr sz="1500" b="1" i="0">
                <a:solidFill>
                  <a:srgbClr val="262626"/>
                </a:solidFill>
                <a:latin typeface="Lato"/>
              </a:rPr>
              <a:t>1 · Rep tham chiếu được đánh giá</a:t>
            </a:r>
          </a:p>
        </p:txBody>
      </p:sp>
      <p:sp>
        <p:nvSpPr>
          <p:cNvPr id="21" name="TextBox 20"/>
          <p:cNvSpPr txBox="1"/>
          <p:nvPr/>
        </p:nvSpPr>
        <p:spPr>
          <a:xfrm>
            <a:off x="502920" y="3200400"/>
            <a:ext cx="1737360" cy="594360"/>
          </a:xfrm>
          <a:prstGeom prst="rect">
            <a:avLst/>
          </a:prstGeom>
          <a:noFill/>
        </p:spPr>
        <p:txBody>
          <a:bodyPr wrap="square" lIns="36576" tIns="36576" rIns="36576" bIns="36576" anchor="ctr">
            <a:spAutoFit/>
          </a:bodyPr>
          <a:lstStyle/>
          <a:p>
            <a:pPr algn="l">
              <a:spcAft>
                <a:spcPts val="400"/>
              </a:spcAft>
            </a:pPr>
            <a:r>
              <a:rPr sz="3000" b="1" i="0">
                <a:solidFill>
                  <a:srgbClr val="C02034"/>
                </a:solidFill>
                <a:latin typeface="Lato"/>
              </a:rPr>
              <a:t>28%</a:t>
            </a:r>
          </a:p>
        </p:txBody>
      </p:sp>
      <p:sp>
        <p:nvSpPr>
          <p:cNvPr id="22" name="TextBox 21"/>
          <p:cNvSpPr txBox="1"/>
          <p:nvPr/>
        </p:nvSpPr>
        <p:spPr>
          <a:xfrm>
            <a:off x="2240279" y="3200400"/>
            <a:ext cx="2103120" cy="594360"/>
          </a:xfrm>
          <a:prstGeom prst="rect">
            <a:avLst/>
          </a:prstGeom>
          <a:noFill/>
        </p:spPr>
        <p:txBody>
          <a:bodyPr wrap="square" lIns="36576" tIns="36576" rIns="36576" bIns="36576" anchor="ctr">
            <a:spAutoFit/>
          </a:bodyPr>
          <a:lstStyle/>
          <a:p>
            <a:pPr algn="l">
              <a:spcAft>
                <a:spcPts val="400"/>
              </a:spcAft>
            </a:pPr>
            <a:r>
              <a:rPr sz="1400" b="0" i="0">
                <a:solidFill>
                  <a:srgbClr val="262626"/>
                </a:solidFill>
                <a:latin typeface="Lato"/>
              </a:rPr>
              <a:t>phần cải thiện là giả</a:t>
            </a:r>
          </a:p>
        </p:txBody>
      </p:sp>
      <p:sp>
        <p:nvSpPr>
          <p:cNvPr id="23" name="TextBox 22"/>
          <p:cNvSpPr txBox="1"/>
          <p:nvPr/>
        </p:nvSpPr>
        <p:spPr>
          <a:xfrm>
            <a:off x="502920" y="3840480"/>
            <a:ext cx="3840480" cy="411480"/>
          </a:xfrm>
          <a:prstGeom prst="rect">
            <a:avLst/>
          </a:prstGeom>
          <a:noFill/>
        </p:spPr>
        <p:txBody>
          <a:bodyPr wrap="square" lIns="36576" tIns="36576" rIns="36576" bIns="36576" anchor="t">
            <a:spAutoFit/>
          </a:bodyPr>
          <a:lstStyle/>
          <a:p>
            <a:pPr algn="l">
              <a:spcAft>
                <a:spcPts val="400"/>
              </a:spcAft>
            </a:pPr>
            <a:r>
              <a:rPr sz="1400" b="1" i="0">
                <a:solidFill>
                  <a:srgbClr val="262626"/>
                </a:solidFill>
                <a:latin typeface="Lato"/>
              </a:rPr>
              <a:t>→ Bỏ khỏi train và đánh giá</a:t>
            </a:r>
          </a:p>
        </p:txBody>
      </p:sp>
      <p:sp>
        <p:nvSpPr>
          <p:cNvPr id="24" name="Rectangle 23"/>
          <p:cNvSpPr/>
          <p:nvPr/>
        </p:nvSpPr>
        <p:spPr>
          <a:xfrm>
            <a:off x="4663440" y="2697480"/>
            <a:ext cx="4114800" cy="157276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663440" y="2697480"/>
            <a:ext cx="4114800" cy="73152"/>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00600" y="2834640"/>
            <a:ext cx="3840480" cy="365760"/>
          </a:xfrm>
          <a:prstGeom prst="rect">
            <a:avLst/>
          </a:prstGeom>
          <a:noFill/>
        </p:spPr>
        <p:txBody>
          <a:bodyPr wrap="square" lIns="36576" tIns="36576" rIns="36576" bIns="36576" anchor="t">
            <a:spAutoFit/>
          </a:bodyPr>
          <a:lstStyle/>
          <a:p>
            <a:pPr algn="l">
              <a:spcAft>
                <a:spcPts val="400"/>
              </a:spcAft>
            </a:pPr>
            <a:r>
              <a:rPr sz="1500" b="1" i="0">
                <a:solidFill>
                  <a:srgbClr val="262626"/>
                </a:solidFill>
                <a:latin typeface="Lato"/>
              </a:rPr>
              <a:t>2 · Đặc trưng slope</a:t>
            </a:r>
          </a:p>
        </p:txBody>
      </p:sp>
      <p:sp>
        <p:nvSpPr>
          <p:cNvPr id="27" name="TextBox 26"/>
          <p:cNvSpPr txBox="1"/>
          <p:nvPr/>
        </p:nvSpPr>
        <p:spPr>
          <a:xfrm>
            <a:off x="4800600" y="3200400"/>
            <a:ext cx="1737360" cy="594360"/>
          </a:xfrm>
          <a:prstGeom prst="rect">
            <a:avLst/>
          </a:prstGeom>
          <a:noFill/>
        </p:spPr>
        <p:txBody>
          <a:bodyPr wrap="square" lIns="36576" tIns="36576" rIns="36576" bIns="36576" anchor="ctr">
            <a:spAutoFit/>
          </a:bodyPr>
          <a:lstStyle/>
          <a:p>
            <a:pPr algn="l">
              <a:spcAft>
                <a:spcPts val="400"/>
              </a:spcAft>
            </a:pPr>
            <a:r>
              <a:rPr sz="3000" b="1" i="0">
                <a:solidFill>
                  <a:srgbClr val="C02034"/>
                </a:solidFill>
                <a:latin typeface="Lato"/>
              </a:rPr>
              <a:t>88%</a:t>
            </a:r>
          </a:p>
        </p:txBody>
      </p:sp>
      <p:sp>
        <p:nvSpPr>
          <p:cNvPr id="28" name="TextBox 27"/>
          <p:cNvSpPr txBox="1"/>
          <p:nvPr/>
        </p:nvSpPr>
        <p:spPr>
          <a:xfrm>
            <a:off x="6537960" y="3200400"/>
            <a:ext cx="2103120" cy="594360"/>
          </a:xfrm>
          <a:prstGeom prst="rect">
            <a:avLst/>
          </a:prstGeom>
          <a:noFill/>
        </p:spPr>
        <p:txBody>
          <a:bodyPr wrap="square" lIns="36576" tIns="36576" rIns="36576" bIns="36576" anchor="ctr">
            <a:spAutoFit/>
          </a:bodyPr>
          <a:lstStyle/>
          <a:p>
            <a:pPr algn="l">
              <a:spcAft>
                <a:spcPts val="400"/>
              </a:spcAft>
            </a:pPr>
            <a:r>
              <a:rPr sz="1400" b="0" i="0">
                <a:solidFill>
                  <a:srgbClr val="262626"/>
                </a:solidFill>
                <a:latin typeface="Lato"/>
              </a:rPr>
              <a:t>phần cải thiện là giả</a:t>
            </a:r>
          </a:p>
        </p:txBody>
      </p:sp>
      <p:sp>
        <p:nvSpPr>
          <p:cNvPr id="29" name="TextBox 28"/>
          <p:cNvSpPr txBox="1"/>
          <p:nvPr/>
        </p:nvSpPr>
        <p:spPr>
          <a:xfrm>
            <a:off x="4800600" y="3840480"/>
            <a:ext cx="3840480" cy="411480"/>
          </a:xfrm>
          <a:prstGeom prst="rect">
            <a:avLst/>
          </a:prstGeom>
          <a:noFill/>
        </p:spPr>
        <p:txBody>
          <a:bodyPr wrap="square" lIns="36576" tIns="36576" rIns="36576" bIns="36576" anchor="t">
            <a:spAutoFit/>
          </a:bodyPr>
          <a:lstStyle/>
          <a:p>
            <a:pPr algn="l">
              <a:spcAft>
                <a:spcPts val="400"/>
              </a:spcAft>
            </a:pPr>
            <a:r>
              <a:rPr sz="1400" b="1" i="0">
                <a:solidFill>
                  <a:srgbClr val="262626"/>
                </a:solidFill>
                <a:latin typeface="Lato"/>
              </a:rPr>
              <a:t>→ Bỏ hẳn slope</a:t>
            </a:r>
          </a:p>
        </p:txBody>
      </p:sp>
      <p:sp>
        <p:nvSpPr>
          <p:cNvPr id="30" name="Rectangle 29"/>
          <p:cNvSpPr/>
          <p:nvPr/>
        </p:nvSpPr>
        <p:spPr>
          <a:xfrm>
            <a:off x="365760" y="4389120"/>
            <a:ext cx="4114800" cy="157276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5760" y="4389120"/>
            <a:ext cx="4114800" cy="7315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 y="4526280"/>
            <a:ext cx="3840480" cy="365760"/>
          </a:xfrm>
          <a:prstGeom prst="rect">
            <a:avLst/>
          </a:prstGeom>
          <a:noFill/>
        </p:spPr>
        <p:txBody>
          <a:bodyPr wrap="square" lIns="36576" tIns="36576" rIns="36576" bIns="36576" anchor="t">
            <a:spAutoFit/>
          </a:bodyPr>
          <a:lstStyle/>
          <a:p>
            <a:pPr algn="l">
              <a:spcAft>
                <a:spcPts val="400"/>
              </a:spcAft>
            </a:pPr>
            <a:r>
              <a:rPr sz="1500" b="1" i="0">
                <a:solidFill>
                  <a:srgbClr val="262626"/>
                </a:solidFill>
                <a:latin typeface="Lato"/>
              </a:rPr>
              <a:t>3 · Ngưỡng tính trên cả set</a:t>
            </a:r>
          </a:p>
        </p:txBody>
      </p:sp>
      <p:sp>
        <p:nvSpPr>
          <p:cNvPr id="33" name="TextBox 32"/>
          <p:cNvSpPr txBox="1"/>
          <p:nvPr/>
        </p:nvSpPr>
        <p:spPr>
          <a:xfrm>
            <a:off x="502920" y="4892040"/>
            <a:ext cx="1737360" cy="594360"/>
          </a:xfrm>
          <a:prstGeom prst="rect">
            <a:avLst/>
          </a:prstGeom>
          <a:noFill/>
        </p:spPr>
        <p:txBody>
          <a:bodyPr wrap="square" lIns="36576" tIns="36576" rIns="36576" bIns="36576" anchor="ctr">
            <a:spAutoFit/>
          </a:bodyPr>
          <a:lstStyle/>
          <a:p>
            <a:pPr algn="l">
              <a:spcAft>
                <a:spcPts val="400"/>
              </a:spcAft>
            </a:pPr>
            <a:r>
              <a:rPr sz="3000" b="1" i="0">
                <a:solidFill>
                  <a:srgbClr val="7F7F7F"/>
                </a:solidFill>
                <a:latin typeface="Lato"/>
              </a:rPr>
              <a:t>−0.08pp</a:t>
            </a:r>
          </a:p>
        </p:txBody>
      </p:sp>
      <p:sp>
        <p:nvSpPr>
          <p:cNvPr id="34" name="TextBox 33"/>
          <p:cNvSpPr txBox="1"/>
          <p:nvPr/>
        </p:nvSpPr>
        <p:spPr>
          <a:xfrm>
            <a:off x="2240279" y="4892040"/>
            <a:ext cx="2103120" cy="594360"/>
          </a:xfrm>
          <a:prstGeom prst="rect">
            <a:avLst/>
          </a:prstGeom>
          <a:noFill/>
        </p:spPr>
        <p:txBody>
          <a:bodyPr wrap="square" lIns="36576" tIns="36576" rIns="36576" bIns="36576" anchor="ctr">
            <a:spAutoFit/>
          </a:bodyPr>
          <a:lstStyle/>
          <a:p>
            <a:pPr algn="l">
              <a:spcAft>
                <a:spcPts val="400"/>
              </a:spcAft>
            </a:pPr>
            <a:r>
              <a:rPr sz="1400" b="0" i="0">
                <a:solidFill>
                  <a:srgbClr val="262626"/>
                </a:solidFill>
                <a:latin typeface="Lato"/>
              </a:rPr>
              <a:t>không đáng kể</a:t>
            </a:r>
          </a:p>
        </p:txBody>
      </p:sp>
      <p:sp>
        <p:nvSpPr>
          <p:cNvPr id="35" name="TextBox 34"/>
          <p:cNvSpPr txBox="1"/>
          <p:nvPr/>
        </p:nvSpPr>
        <p:spPr>
          <a:xfrm>
            <a:off x="502920" y="5532120"/>
            <a:ext cx="3840480" cy="411480"/>
          </a:xfrm>
          <a:prstGeom prst="rect">
            <a:avLst/>
          </a:prstGeom>
          <a:noFill/>
        </p:spPr>
        <p:txBody>
          <a:bodyPr wrap="square" lIns="36576" tIns="36576" rIns="36576" bIns="36576" anchor="t">
            <a:spAutoFit/>
          </a:bodyPr>
          <a:lstStyle/>
          <a:p>
            <a:pPr algn="l">
              <a:spcAft>
                <a:spcPts val="400"/>
              </a:spcAft>
            </a:pPr>
            <a:r>
              <a:rPr sz="1400" b="0" i="0">
                <a:solidFill>
                  <a:srgbClr val="262626"/>
                </a:solidFill>
                <a:latin typeface="Lato"/>
              </a:rPr>
              <a:t>→ Vẫn sửa: chỉ dùng thông tin có lúc chạy</a:t>
            </a:r>
          </a:p>
        </p:txBody>
      </p:sp>
      <p:sp>
        <p:nvSpPr>
          <p:cNvPr id="36" name="Rectangle 35"/>
          <p:cNvSpPr/>
          <p:nvPr/>
        </p:nvSpPr>
        <p:spPr>
          <a:xfrm>
            <a:off x="4663440" y="4389120"/>
            <a:ext cx="4114800" cy="157276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663440" y="4389120"/>
            <a:ext cx="4114800" cy="7315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00600" y="4526280"/>
            <a:ext cx="3840480" cy="365760"/>
          </a:xfrm>
          <a:prstGeom prst="rect">
            <a:avLst/>
          </a:prstGeom>
          <a:noFill/>
        </p:spPr>
        <p:txBody>
          <a:bodyPr wrap="square" lIns="36576" tIns="36576" rIns="36576" bIns="36576" anchor="t">
            <a:spAutoFit/>
          </a:bodyPr>
          <a:lstStyle/>
          <a:p>
            <a:pPr algn="l">
              <a:spcAft>
                <a:spcPts val="400"/>
              </a:spcAft>
            </a:pPr>
            <a:r>
              <a:rPr sz="1500" b="1" i="0">
                <a:solidFill>
                  <a:srgbClr val="262626"/>
                </a:solidFill>
                <a:latin typeface="Lato"/>
              </a:rPr>
              <a:t>4 · Chọn đặc trưng trên toàn bộ dữ liệu</a:t>
            </a:r>
          </a:p>
        </p:txBody>
      </p:sp>
      <p:sp>
        <p:nvSpPr>
          <p:cNvPr id="39" name="TextBox 38"/>
          <p:cNvSpPr txBox="1"/>
          <p:nvPr/>
        </p:nvSpPr>
        <p:spPr>
          <a:xfrm>
            <a:off x="4800600" y="4892040"/>
            <a:ext cx="1737360" cy="594360"/>
          </a:xfrm>
          <a:prstGeom prst="rect">
            <a:avLst/>
          </a:prstGeom>
          <a:noFill/>
        </p:spPr>
        <p:txBody>
          <a:bodyPr wrap="square" lIns="36576" tIns="36576" rIns="36576" bIns="36576" anchor="ctr">
            <a:spAutoFit/>
          </a:bodyPr>
          <a:lstStyle/>
          <a:p>
            <a:pPr algn="l">
              <a:spcAft>
                <a:spcPts val="400"/>
              </a:spcAft>
            </a:pPr>
            <a:r>
              <a:rPr sz="3000" b="1" i="0">
                <a:solidFill>
                  <a:srgbClr val="7F7F7F"/>
                </a:solidFill>
                <a:latin typeface="Lato"/>
              </a:rPr>
              <a:t>−0.07pp</a:t>
            </a:r>
          </a:p>
        </p:txBody>
      </p:sp>
      <p:sp>
        <p:nvSpPr>
          <p:cNvPr id="40" name="TextBox 39"/>
          <p:cNvSpPr txBox="1"/>
          <p:nvPr/>
        </p:nvSpPr>
        <p:spPr>
          <a:xfrm>
            <a:off x="6537960" y="4892040"/>
            <a:ext cx="2103120" cy="594360"/>
          </a:xfrm>
          <a:prstGeom prst="rect">
            <a:avLst/>
          </a:prstGeom>
          <a:noFill/>
        </p:spPr>
        <p:txBody>
          <a:bodyPr wrap="square" lIns="36576" tIns="36576" rIns="36576" bIns="36576" anchor="ctr">
            <a:spAutoFit/>
          </a:bodyPr>
          <a:lstStyle/>
          <a:p>
            <a:pPr algn="l">
              <a:spcAft>
                <a:spcPts val="400"/>
              </a:spcAft>
            </a:pPr>
            <a:r>
              <a:rPr sz="1400" b="0" i="0">
                <a:solidFill>
                  <a:srgbClr val="262626"/>
                </a:solidFill>
                <a:latin typeface="Lato"/>
              </a:rPr>
              <a:t>không đáng kể</a:t>
            </a:r>
          </a:p>
        </p:txBody>
      </p:sp>
      <p:sp>
        <p:nvSpPr>
          <p:cNvPr id="41" name="TextBox 40"/>
          <p:cNvSpPr txBox="1"/>
          <p:nvPr/>
        </p:nvSpPr>
        <p:spPr>
          <a:xfrm>
            <a:off x="4800600" y="5532120"/>
            <a:ext cx="3840480" cy="411480"/>
          </a:xfrm>
          <a:prstGeom prst="rect">
            <a:avLst/>
          </a:prstGeom>
          <a:noFill/>
        </p:spPr>
        <p:txBody>
          <a:bodyPr wrap="square" lIns="36576" tIns="36576" rIns="36576" bIns="36576" anchor="t">
            <a:spAutoFit/>
          </a:bodyPr>
          <a:lstStyle/>
          <a:p>
            <a:pPr algn="l">
              <a:spcAft>
                <a:spcPts val="400"/>
              </a:spcAft>
            </a:pPr>
            <a:r>
              <a:rPr sz="1400" b="0" i="0">
                <a:solidFill>
                  <a:srgbClr val="262626"/>
                </a:solidFill>
                <a:latin typeface="Lato"/>
              </a:rPr>
              <a:t>→ Vẫn sửa, vì không tốn gì</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KÊNH 1: REP THAM CHIẾU ĐƯỢC ĐÁNH GIÁ</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18</a:t>
            </a:r>
          </a:p>
        </p:txBody>
      </p:sp>
      <p:sp>
        <p:nvSpPr>
          <p:cNvPr id="17" name="TextBox 16"/>
          <p:cNvSpPr txBox="1"/>
          <p:nvPr/>
        </p:nvSpPr>
        <p:spPr>
          <a:xfrm>
            <a:off x="365760" y="1828800"/>
            <a:ext cx="2011680" cy="457200"/>
          </a:xfrm>
          <a:prstGeom prst="rect">
            <a:avLst/>
          </a:prstGeom>
          <a:noFill/>
        </p:spPr>
        <p:txBody>
          <a:bodyPr wrap="square" lIns="36576" tIns="36576" rIns="36576" bIns="36576" anchor="ctr">
            <a:spAutoFit/>
          </a:bodyPr>
          <a:lstStyle/>
          <a:p>
            <a:pPr algn="l">
              <a:spcAft>
                <a:spcPts val="400"/>
              </a:spcAft>
            </a:pPr>
            <a:r>
              <a:rPr sz="1500" b="1" i="0">
                <a:solidFill>
                  <a:srgbClr val="262626"/>
                </a:solidFill>
                <a:latin typeface="Lato"/>
              </a:rPr>
              <a:t>Cách đánh giá cũ</a:t>
            </a:r>
          </a:p>
        </p:txBody>
      </p:sp>
      <p:sp>
        <p:nvSpPr>
          <p:cNvPr id="18" name="Rectangle 17"/>
          <p:cNvSpPr/>
          <p:nvPr/>
        </p:nvSpPr>
        <p:spPr>
          <a:xfrm>
            <a:off x="2514600" y="1828800"/>
            <a:ext cx="457200" cy="45720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a:rPr>
              <a:t>1</a:t>
            </a:r>
          </a:p>
        </p:txBody>
      </p:sp>
      <p:sp>
        <p:nvSpPr>
          <p:cNvPr id="19" name="Rectangle 18"/>
          <p:cNvSpPr/>
          <p:nvPr/>
        </p:nvSpPr>
        <p:spPr>
          <a:xfrm>
            <a:off x="3044952" y="1828800"/>
            <a:ext cx="457200" cy="45720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a:rPr>
              <a:t>2</a:t>
            </a:r>
          </a:p>
        </p:txBody>
      </p:sp>
      <p:sp>
        <p:nvSpPr>
          <p:cNvPr id="20" name="Rectangle 19"/>
          <p:cNvSpPr/>
          <p:nvPr/>
        </p:nvSpPr>
        <p:spPr>
          <a:xfrm>
            <a:off x="3575304" y="1828800"/>
            <a:ext cx="457200" cy="45720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a:rPr>
              <a:t>3</a:t>
            </a:r>
          </a:p>
        </p:txBody>
      </p:sp>
      <p:sp>
        <p:nvSpPr>
          <p:cNvPr id="21" name="Rectangle 20"/>
          <p:cNvSpPr/>
          <p:nvPr/>
        </p:nvSpPr>
        <p:spPr>
          <a:xfrm>
            <a:off x="4105656"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4</a:t>
            </a:r>
          </a:p>
        </p:txBody>
      </p:sp>
      <p:sp>
        <p:nvSpPr>
          <p:cNvPr id="22" name="Rectangle 21"/>
          <p:cNvSpPr/>
          <p:nvPr/>
        </p:nvSpPr>
        <p:spPr>
          <a:xfrm>
            <a:off x="4636008"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5</a:t>
            </a:r>
          </a:p>
        </p:txBody>
      </p:sp>
      <p:sp>
        <p:nvSpPr>
          <p:cNvPr id="23" name="Rectangle 22"/>
          <p:cNvSpPr/>
          <p:nvPr/>
        </p:nvSpPr>
        <p:spPr>
          <a:xfrm>
            <a:off x="5166360"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6</a:t>
            </a:r>
          </a:p>
        </p:txBody>
      </p:sp>
      <p:sp>
        <p:nvSpPr>
          <p:cNvPr id="24" name="Rectangle 23"/>
          <p:cNvSpPr/>
          <p:nvPr/>
        </p:nvSpPr>
        <p:spPr>
          <a:xfrm>
            <a:off x="5696712"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7</a:t>
            </a:r>
          </a:p>
        </p:txBody>
      </p:sp>
      <p:sp>
        <p:nvSpPr>
          <p:cNvPr id="25" name="Rectangle 24"/>
          <p:cNvSpPr/>
          <p:nvPr/>
        </p:nvSpPr>
        <p:spPr>
          <a:xfrm>
            <a:off x="6227064"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8</a:t>
            </a:r>
          </a:p>
        </p:txBody>
      </p:sp>
      <p:sp>
        <p:nvSpPr>
          <p:cNvPr id="26" name="Rectangle 25"/>
          <p:cNvSpPr/>
          <p:nvPr/>
        </p:nvSpPr>
        <p:spPr>
          <a:xfrm>
            <a:off x="6757416"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9</a:t>
            </a:r>
          </a:p>
        </p:txBody>
      </p:sp>
      <p:sp>
        <p:nvSpPr>
          <p:cNvPr id="27" name="Rectangle 26"/>
          <p:cNvSpPr/>
          <p:nvPr/>
        </p:nvSpPr>
        <p:spPr>
          <a:xfrm>
            <a:off x="7287768"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10</a:t>
            </a:r>
          </a:p>
        </p:txBody>
      </p:sp>
      <p:sp>
        <p:nvSpPr>
          <p:cNvPr id="28" name="TextBox 27"/>
          <p:cNvSpPr txBox="1"/>
          <p:nvPr/>
        </p:nvSpPr>
        <p:spPr>
          <a:xfrm>
            <a:off x="7818120" y="1828800"/>
            <a:ext cx="457200" cy="457200"/>
          </a:xfrm>
          <a:prstGeom prst="rect">
            <a:avLst/>
          </a:prstGeom>
          <a:noFill/>
        </p:spPr>
        <p:txBody>
          <a:bodyPr wrap="square" lIns="36576" tIns="36576" rIns="36576" bIns="36576" anchor="ctr">
            <a:spAutoFit/>
          </a:bodyPr>
          <a:lstStyle/>
          <a:p>
            <a:pPr algn="l">
              <a:spcAft>
                <a:spcPts val="400"/>
              </a:spcAft>
            </a:pPr>
            <a:r>
              <a:rPr sz="2000" b="0" i="0">
                <a:solidFill>
                  <a:srgbClr val="7F7F7F"/>
                </a:solidFill>
                <a:latin typeface="Lato"/>
              </a:rPr>
              <a:t>…</a:t>
            </a:r>
          </a:p>
        </p:txBody>
      </p:sp>
      <p:sp>
        <p:nvSpPr>
          <p:cNvPr id="29" name="TextBox 28"/>
          <p:cNvSpPr txBox="1"/>
          <p:nvPr/>
        </p:nvSpPr>
        <p:spPr>
          <a:xfrm>
            <a:off x="365760" y="2423160"/>
            <a:ext cx="2011680" cy="457200"/>
          </a:xfrm>
          <a:prstGeom prst="rect">
            <a:avLst/>
          </a:prstGeom>
          <a:noFill/>
        </p:spPr>
        <p:txBody>
          <a:bodyPr wrap="square" lIns="36576" tIns="36576" rIns="36576" bIns="36576" anchor="ctr">
            <a:spAutoFit/>
          </a:bodyPr>
          <a:lstStyle/>
          <a:p>
            <a:pPr algn="l">
              <a:spcAft>
                <a:spcPts val="400"/>
              </a:spcAft>
            </a:pPr>
            <a:r>
              <a:rPr sz="1500" b="1" i="0">
                <a:solidFill>
                  <a:srgbClr val="262626"/>
                </a:solidFill>
                <a:latin typeface="Lato"/>
              </a:rPr>
              <a:t>Đã sửa</a:t>
            </a:r>
          </a:p>
        </p:txBody>
      </p:sp>
      <p:sp>
        <p:nvSpPr>
          <p:cNvPr id="30" name="Rectangle 29"/>
          <p:cNvSpPr/>
          <p:nvPr/>
        </p:nvSpPr>
        <p:spPr>
          <a:xfrm>
            <a:off x="2514600" y="242316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1</a:t>
            </a:r>
          </a:p>
        </p:txBody>
      </p:sp>
      <p:sp>
        <p:nvSpPr>
          <p:cNvPr id="31" name="Rectangle 30"/>
          <p:cNvSpPr/>
          <p:nvPr/>
        </p:nvSpPr>
        <p:spPr>
          <a:xfrm>
            <a:off x="3044952" y="242316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2</a:t>
            </a:r>
          </a:p>
        </p:txBody>
      </p:sp>
      <p:sp>
        <p:nvSpPr>
          <p:cNvPr id="32" name="Rectangle 31"/>
          <p:cNvSpPr/>
          <p:nvPr/>
        </p:nvSpPr>
        <p:spPr>
          <a:xfrm>
            <a:off x="3575304" y="242316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3</a:t>
            </a:r>
          </a:p>
        </p:txBody>
      </p:sp>
      <p:sp>
        <p:nvSpPr>
          <p:cNvPr id="33" name="Rectangle 32"/>
          <p:cNvSpPr/>
          <p:nvPr/>
        </p:nvSpPr>
        <p:spPr>
          <a:xfrm>
            <a:off x="4105656"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4</a:t>
            </a:r>
          </a:p>
        </p:txBody>
      </p:sp>
      <p:sp>
        <p:nvSpPr>
          <p:cNvPr id="34" name="Rectangle 33"/>
          <p:cNvSpPr/>
          <p:nvPr/>
        </p:nvSpPr>
        <p:spPr>
          <a:xfrm>
            <a:off x="4636008"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5</a:t>
            </a:r>
          </a:p>
        </p:txBody>
      </p:sp>
      <p:sp>
        <p:nvSpPr>
          <p:cNvPr id="35" name="Rectangle 34"/>
          <p:cNvSpPr/>
          <p:nvPr/>
        </p:nvSpPr>
        <p:spPr>
          <a:xfrm>
            <a:off x="5166360"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6</a:t>
            </a:r>
          </a:p>
        </p:txBody>
      </p:sp>
      <p:sp>
        <p:nvSpPr>
          <p:cNvPr id="36" name="Rectangle 35"/>
          <p:cNvSpPr/>
          <p:nvPr/>
        </p:nvSpPr>
        <p:spPr>
          <a:xfrm>
            <a:off x="5696712"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7</a:t>
            </a:r>
          </a:p>
        </p:txBody>
      </p:sp>
      <p:sp>
        <p:nvSpPr>
          <p:cNvPr id="37" name="Rectangle 36"/>
          <p:cNvSpPr/>
          <p:nvPr/>
        </p:nvSpPr>
        <p:spPr>
          <a:xfrm>
            <a:off x="6227064"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8</a:t>
            </a:r>
          </a:p>
        </p:txBody>
      </p:sp>
      <p:sp>
        <p:nvSpPr>
          <p:cNvPr id="38" name="Rectangle 37"/>
          <p:cNvSpPr/>
          <p:nvPr/>
        </p:nvSpPr>
        <p:spPr>
          <a:xfrm>
            <a:off x="6757416"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9</a:t>
            </a:r>
          </a:p>
        </p:txBody>
      </p:sp>
      <p:sp>
        <p:nvSpPr>
          <p:cNvPr id="39" name="Rectangle 38"/>
          <p:cNvSpPr/>
          <p:nvPr/>
        </p:nvSpPr>
        <p:spPr>
          <a:xfrm>
            <a:off x="7287768"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10</a:t>
            </a:r>
          </a:p>
        </p:txBody>
      </p:sp>
      <p:sp>
        <p:nvSpPr>
          <p:cNvPr id="40" name="TextBox 39"/>
          <p:cNvSpPr txBox="1"/>
          <p:nvPr/>
        </p:nvSpPr>
        <p:spPr>
          <a:xfrm>
            <a:off x="7818120" y="2423160"/>
            <a:ext cx="457200" cy="457200"/>
          </a:xfrm>
          <a:prstGeom prst="rect">
            <a:avLst/>
          </a:prstGeom>
          <a:noFill/>
        </p:spPr>
        <p:txBody>
          <a:bodyPr wrap="square" lIns="36576" tIns="36576" rIns="36576" bIns="36576" anchor="ctr">
            <a:spAutoFit/>
          </a:bodyPr>
          <a:lstStyle/>
          <a:p>
            <a:pPr algn="l">
              <a:spcAft>
                <a:spcPts val="400"/>
              </a:spcAft>
            </a:pPr>
            <a:r>
              <a:rPr sz="2000" b="0" i="0">
                <a:solidFill>
                  <a:srgbClr val="7F7F7F"/>
                </a:solidFill>
                <a:latin typeface="Lato"/>
              </a:rPr>
              <a:t>…</a:t>
            </a:r>
          </a:p>
        </p:txBody>
      </p:sp>
      <p:sp>
        <p:nvSpPr>
          <p:cNvPr id="41" name="TextBox 40"/>
          <p:cNvSpPr txBox="1"/>
          <p:nvPr/>
        </p:nvSpPr>
        <p:spPr>
          <a:xfrm>
            <a:off x="365760" y="3108960"/>
            <a:ext cx="8412480" cy="310896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0" i="0">
                <a:solidFill>
                  <a:srgbClr val="262626"/>
                </a:solidFill>
                <a:latin typeface="Lato"/>
              </a:rPr>
              <a:t>N1 lấy μ, σ từ chính 3 rep tham chiếu. Với 3 điểm, z-score của chúng bị ràng buộc: tổng bằng 0, tổng bình phương bằng 2, nên </a:t>
            </a:r>
            <a:r>
              <a:rPr sz="1600" b="1" i="0">
                <a:solidFill>
                  <a:srgbClr val="262626"/>
                </a:solidFill>
                <a:latin typeface="Lato"/>
              </a:rPr>
              <a:t>mọi</a:t>
            </a:r>
            <a:r>
              <a:rPr sz="1600" b="0" i="0">
                <a:solidFill>
                  <a:srgbClr val="262626"/>
                </a:solidFill>
                <a:latin typeface="Lato"/>
              </a:rPr>
              <a:t> đặc trưng có |z| ≤ 2/√3 ≈ 1.155 cùng lúc.</a:t>
            </a:r>
          </a:p>
          <a:p>
            <a:pPr marL="164592" indent="-164592" algn="l">
              <a:lnSpc>
                <a:spcPct val="105000"/>
              </a:lnSpc>
              <a:spcAft>
                <a:spcPts val="900"/>
              </a:spcAft>
              <a:buClr>
                <a:srgbClr val="7F7F7F"/>
              </a:buClr>
              <a:buChar char="•"/>
            </a:pPr>
            <a:r>
              <a:rPr sz="1600" b="1" i="0">
                <a:solidFill>
                  <a:srgbClr val="262626"/>
                </a:solidFill>
                <a:latin typeface="Lato"/>
              </a:rPr>
              <a:t>100%</a:t>
            </a:r>
            <a:r>
              <a:rPr sz="1600" b="0" i="0">
                <a:solidFill>
                  <a:srgbClr val="262626"/>
                </a:solidFill>
                <a:latin typeface="Lato"/>
              </a:rPr>
              <a:t> rep tham chiếu có dấu hiệu này, so với </a:t>
            </a:r>
            <a:r>
              <a:rPr sz="1600" b="1" i="0">
                <a:solidFill>
                  <a:srgbClr val="262626"/>
                </a:solidFill>
                <a:latin typeface="Lato"/>
              </a:rPr>
              <a:t>0.01%</a:t>
            </a:r>
            <a:r>
              <a:rPr sz="1600" b="0" i="0">
                <a:solidFill>
                  <a:srgbClr val="262626"/>
                </a:solidFill>
                <a:latin typeface="Lato"/>
              </a:rPr>
              <a:t> các rep khác: mô hình nhận ra ngay “rep đầu set”, mà rep đầu set thì FCF thấp.</a:t>
            </a:r>
          </a:p>
          <a:p>
            <a:pPr marL="164592" indent="-164592" algn="l">
              <a:lnSpc>
                <a:spcPct val="105000"/>
              </a:lnSpc>
              <a:spcAft>
                <a:spcPts val="900"/>
              </a:spcAft>
              <a:buClr>
                <a:srgbClr val="7F7F7F"/>
              </a:buClr>
              <a:buChar char="•"/>
            </a:pPr>
            <a:r>
              <a:rPr sz="1600" b="0" i="0">
                <a:solidFill>
                  <a:srgbClr val="262626"/>
                </a:solidFill>
                <a:latin typeface="Lato"/>
              </a:rPr>
              <a:t>Control xáo nhãn: </a:t>
            </a:r>
            <a:r>
              <a:rPr sz="1600" b="1" i="0">
                <a:solidFill>
                  <a:srgbClr val="262626"/>
                </a:solidFill>
                <a:latin typeface="Lato"/>
              </a:rPr>
              <a:t>28%</a:t>
            </a:r>
            <a:r>
              <a:rPr sz="1600" b="0" i="0">
                <a:solidFill>
                  <a:srgbClr val="262626"/>
                </a:solidFill>
                <a:latin typeface="Lato"/>
              </a:rPr>
              <a:t> phần cải thiện của N1 là giả (+0.79 trong +2.79pp).</a:t>
            </a:r>
          </a:p>
          <a:p>
            <a:pPr marL="164592" indent="-164592" algn="l">
              <a:lnSpc>
                <a:spcPct val="105000"/>
              </a:lnSpc>
              <a:spcAft>
                <a:spcPts val="900"/>
              </a:spcAft>
              <a:buClr>
                <a:srgbClr val="7F7F7F"/>
              </a:buClr>
              <a:buChar char="•"/>
            </a:pPr>
            <a:r>
              <a:rPr sz="1600" b="0" i="0">
                <a:solidFill>
                  <a:srgbClr val="262626"/>
                </a:solidFill>
                <a:latin typeface="Lato"/>
              </a:rPr>
              <a:t>Đã sửa: bỏ rep tham chiếu khỏi cả train lẫn đánh giá. N1 vẫn còn lợi thật: +1.74pp, control −0.07pp.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KÊNH 2: ĐẶC TRƯNG SLOPE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19</a:t>
            </a:r>
          </a:p>
        </p:txBody>
      </p:sp>
      <p:sp>
        <p:nvSpPr>
          <p:cNvPr id="17" name="TextBox 16"/>
          <p:cNvSpPr txBox="1"/>
          <p:nvPr/>
        </p:nvSpPr>
        <p:spPr>
          <a:xfrm>
            <a:off x="365760" y="1783080"/>
            <a:ext cx="8412480" cy="914400"/>
          </a:xfrm>
          <a:prstGeom prst="rect">
            <a:avLst/>
          </a:prstGeom>
          <a:noFill/>
        </p:spPr>
        <p:txBody>
          <a:bodyPr wrap="square" lIns="36576" tIns="36576" rIns="36576" bIns="36576" anchor="t">
            <a:spAutoFit/>
          </a:bodyPr>
          <a:lstStyle/>
          <a:p>
            <a:pPr algn="l">
              <a:lnSpc>
                <a:spcPct val="105000"/>
              </a:lnSpc>
              <a:spcAft>
                <a:spcPts val="1000"/>
              </a:spcAft>
            </a:pPr>
            <a:r>
              <a:rPr sz="1600" b="1" i="0">
                <a:solidFill>
                  <a:srgbClr val="262626"/>
                </a:solidFill>
                <a:latin typeface="Lato"/>
              </a:rPr>
              <a:t>Slope</a:t>
            </a:r>
            <a:r>
              <a:rPr sz="1600" b="0" i="0">
                <a:solidFill>
                  <a:srgbClr val="262626"/>
                </a:solidFill>
                <a:latin typeface="Lato"/>
              </a:rPr>
              <a:t>: hệ số dốc của đường hồi quy tuyến tính giữa MNF (đã chuẩn hoá) và số thứ tự rep, tính trên w rep gần nhất. Ý tưởng: MNF đang giảm nhanh nghĩa là cơ đang mỏi.</a:t>
            </a:r>
          </a:p>
        </p:txBody>
      </p:sp>
      <p:sp>
        <p:nvSpPr>
          <p:cNvPr id="18" name="TextBox 17"/>
          <p:cNvSpPr txBox="1"/>
          <p:nvPr/>
        </p:nvSpPr>
        <p:spPr>
          <a:xfrm>
            <a:off x="365760" y="2788920"/>
            <a:ext cx="2011680" cy="457200"/>
          </a:xfrm>
          <a:prstGeom prst="rect">
            <a:avLst/>
          </a:prstGeom>
          <a:noFill/>
        </p:spPr>
        <p:txBody>
          <a:bodyPr wrap="square" lIns="36576" tIns="36576" rIns="36576" bIns="36576" anchor="ctr">
            <a:spAutoFit/>
          </a:bodyPr>
          <a:lstStyle/>
          <a:p>
            <a:pPr algn="l">
              <a:spcAft>
                <a:spcPts val="400"/>
              </a:spcAft>
            </a:pPr>
            <a:r>
              <a:rPr sz="1500" b="1" i="0">
                <a:solidFill>
                  <a:srgbClr val="262626"/>
                </a:solidFill>
                <a:latin typeface="Lato"/>
              </a:rPr>
              <a:t>Ví dụ w = 5</a:t>
            </a:r>
          </a:p>
        </p:txBody>
      </p:sp>
      <p:sp>
        <p:nvSpPr>
          <p:cNvPr id="19" name="Rectangle 18"/>
          <p:cNvSpPr/>
          <p:nvPr/>
        </p:nvSpPr>
        <p:spPr>
          <a:xfrm>
            <a:off x="2514600" y="278892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1</a:t>
            </a:r>
          </a:p>
        </p:txBody>
      </p:sp>
      <p:sp>
        <p:nvSpPr>
          <p:cNvPr id="20" name="Rectangle 19"/>
          <p:cNvSpPr/>
          <p:nvPr/>
        </p:nvSpPr>
        <p:spPr>
          <a:xfrm>
            <a:off x="3044952" y="278892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2</a:t>
            </a:r>
          </a:p>
        </p:txBody>
      </p:sp>
      <p:sp>
        <p:nvSpPr>
          <p:cNvPr id="21" name="Rectangle 20"/>
          <p:cNvSpPr/>
          <p:nvPr/>
        </p:nvSpPr>
        <p:spPr>
          <a:xfrm>
            <a:off x="3575304" y="278892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3</a:t>
            </a:r>
          </a:p>
        </p:txBody>
      </p:sp>
      <p:sp>
        <p:nvSpPr>
          <p:cNvPr id="22" name="Rectangle 21"/>
          <p:cNvSpPr/>
          <p:nvPr/>
        </p:nvSpPr>
        <p:spPr>
          <a:xfrm>
            <a:off x="4105656" y="278892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4</a:t>
            </a:r>
          </a:p>
        </p:txBody>
      </p:sp>
      <p:sp>
        <p:nvSpPr>
          <p:cNvPr id="23" name="Rectangle 22"/>
          <p:cNvSpPr/>
          <p:nvPr/>
        </p:nvSpPr>
        <p:spPr>
          <a:xfrm>
            <a:off x="4636008"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5</a:t>
            </a:r>
          </a:p>
        </p:txBody>
      </p:sp>
      <p:sp>
        <p:nvSpPr>
          <p:cNvPr id="24" name="Rectangle 23"/>
          <p:cNvSpPr/>
          <p:nvPr/>
        </p:nvSpPr>
        <p:spPr>
          <a:xfrm>
            <a:off x="5166360"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6</a:t>
            </a:r>
          </a:p>
        </p:txBody>
      </p:sp>
      <p:sp>
        <p:nvSpPr>
          <p:cNvPr id="25" name="Rectangle 24"/>
          <p:cNvSpPr/>
          <p:nvPr/>
        </p:nvSpPr>
        <p:spPr>
          <a:xfrm>
            <a:off x="5696712"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7</a:t>
            </a:r>
          </a:p>
        </p:txBody>
      </p:sp>
      <p:sp>
        <p:nvSpPr>
          <p:cNvPr id="26" name="Rectangle 25"/>
          <p:cNvSpPr/>
          <p:nvPr/>
        </p:nvSpPr>
        <p:spPr>
          <a:xfrm>
            <a:off x="6227064"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8</a:t>
            </a:r>
          </a:p>
        </p:txBody>
      </p:sp>
      <p:sp>
        <p:nvSpPr>
          <p:cNvPr id="27" name="Rectangle 26"/>
          <p:cNvSpPr/>
          <p:nvPr/>
        </p:nvSpPr>
        <p:spPr>
          <a:xfrm>
            <a:off x="6757416"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9</a:t>
            </a:r>
          </a:p>
        </p:txBody>
      </p:sp>
      <p:sp>
        <p:nvSpPr>
          <p:cNvPr id="28" name="Rectangle 27"/>
          <p:cNvSpPr/>
          <p:nvPr/>
        </p:nvSpPr>
        <p:spPr>
          <a:xfrm>
            <a:off x="7287768"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10</a:t>
            </a:r>
          </a:p>
        </p:txBody>
      </p:sp>
      <p:sp>
        <p:nvSpPr>
          <p:cNvPr id="29" name="TextBox 28"/>
          <p:cNvSpPr txBox="1"/>
          <p:nvPr/>
        </p:nvSpPr>
        <p:spPr>
          <a:xfrm>
            <a:off x="7818120" y="2788920"/>
            <a:ext cx="457200" cy="457200"/>
          </a:xfrm>
          <a:prstGeom prst="rect">
            <a:avLst/>
          </a:prstGeom>
          <a:noFill/>
        </p:spPr>
        <p:txBody>
          <a:bodyPr wrap="square" lIns="36576" tIns="36576" rIns="36576" bIns="36576" anchor="ctr">
            <a:spAutoFit/>
          </a:bodyPr>
          <a:lstStyle/>
          <a:p>
            <a:pPr algn="l">
              <a:spcAft>
                <a:spcPts val="400"/>
              </a:spcAft>
            </a:pPr>
            <a:r>
              <a:rPr sz="2000" b="0" i="0">
                <a:solidFill>
                  <a:srgbClr val="7F7F7F"/>
                </a:solidFill>
                <a:latin typeface="Lato"/>
              </a:rPr>
              <a:t>…</a:t>
            </a:r>
          </a:p>
        </p:txBody>
      </p:sp>
      <p:sp>
        <p:nvSpPr>
          <p:cNvPr id="30" name="Rectangle 29"/>
          <p:cNvSpPr/>
          <p:nvPr/>
        </p:nvSpPr>
        <p:spPr>
          <a:xfrm>
            <a:off x="2514600" y="3337560"/>
            <a:ext cx="228600" cy="2286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88920" y="3273552"/>
            <a:ext cx="5029200" cy="365760"/>
          </a:xfrm>
          <a:prstGeom prst="rect">
            <a:avLst/>
          </a:prstGeom>
          <a:noFill/>
        </p:spPr>
        <p:txBody>
          <a:bodyPr wrap="square" lIns="36576" tIns="36576" rIns="36576" bIns="36576" anchor="t">
            <a:spAutoFit/>
          </a:bodyPr>
          <a:lstStyle/>
          <a:p>
            <a:pPr algn="l">
              <a:spcAft>
                <a:spcPts val="400"/>
              </a:spcAft>
            </a:pPr>
            <a:r>
              <a:rPr sz="1400" b="0" i="0">
                <a:solidFill>
                  <a:srgbClr val="262626"/>
                </a:solidFill>
                <a:latin typeface="Lato"/>
              </a:rPr>
              <a:t>chưa đủ w rep: slope được đặt bằng 0</a:t>
            </a:r>
          </a:p>
        </p:txBody>
      </p:sp>
      <p:sp>
        <p:nvSpPr>
          <p:cNvPr id="32" name="TextBox 31"/>
          <p:cNvSpPr txBox="1"/>
          <p:nvPr/>
        </p:nvSpPr>
        <p:spPr>
          <a:xfrm>
            <a:off x="365760" y="3794760"/>
            <a:ext cx="8412480" cy="2423159"/>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1" i="0">
                <a:solidFill>
                  <a:srgbClr val="262626"/>
                </a:solidFill>
                <a:latin typeface="Lato"/>
              </a:rPr>
              <a:t>Cơ chế 1</a:t>
            </a:r>
            <a:r>
              <a:rPr sz="1600" b="0" i="0">
                <a:solidFill>
                  <a:srgbClr val="262626"/>
                </a:solidFill>
                <a:latin typeface="Lato"/>
              </a:rPr>
              <a:t>: w − 1 rep đầu set luôn có slope = 0, một dấu hiệu “rep đầu set” gần như hoàn hảo.</a:t>
            </a:r>
          </a:p>
          <a:p>
            <a:pPr marL="164592" indent="-164592" algn="l">
              <a:lnSpc>
                <a:spcPct val="105000"/>
              </a:lnSpc>
              <a:spcAft>
                <a:spcPts val="900"/>
              </a:spcAft>
              <a:buClr>
                <a:srgbClr val="7F7F7F"/>
              </a:buClr>
              <a:buChar char="•"/>
            </a:pPr>
            <a:r>
              <a:rPr sz="1600" b="1" i="0">
                <a:solidFill>
                  <a:srgbClr val="262626"/>
                </a:solidFill>
                <a:latin typeface="Lato"/>
              </a:rPr>
              <a:t>Cơ chế 2</a:t>
            </a:r>
            <a:r>
              <a:rPr sz="1600" b="0" i="0">
                <a:solidFill>
                  <a:srgbClr val="262626"/>
                </a:solidFill>
                <a:latin typeface="Lato"/>
              </a:rPr>
              <a:t>: slope tính trên ít điểm dao động mạnh hơn, nên độ lớn của slope tự nó cho biết rep đang ở gần đầu set.</a:t>
            </a:r>
          </a:p>
          <a:p>
            <a:pPr marL="164592" indent="-164592" algn="l">
              <a:lnSpc>
                <a:spcPct val="105000"/>
              </a:lnSpc>
              <a:spcAft>
                <a:spcPts val="900"/>
              </a:spcAft>
              <a:buClr>
                <a:srgbClr val="7F7F7F"/>
              </a:buClr>
              <a:buChar char="•"/>
            </a:pPr>
            <a:r>
              <a:rPr sz="1600" b="0" i="0">
                <a:solidFill>
                  <a:srgbClr val="262626"/>
                </a:solidFill>
                <a:latin typeface="Lato"/>
              </a:rPr>
              <a:t>Cả hai đều mã hoá vị trí của rep trong set, tức gần như mã hoá FCF.</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KÊNH 2: ĐO PHẦN GIẢ CỦA SLOPE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20</a:t>
            </a:r>
          </a:p>
        </p:txBody>
      </p:sp>
      <p:graphicFrame>
        <p:nvGraphicFramePr>
          <p:cNvPr id="17" name="Chart 16"/>
          <p:cNvGraphicFramePr>
            <a:graphicFrameLocks noGrp="1"/>
          </p:cNvGraphicFramePr>
          <p:nvPr/>
        </p:nvGraphicFramePr>
        <p:xfrm>
          <a:off x="365760" y="1783080"/>
          <a:ext cx="841248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365760" y="3977639"/>
            <a:ext cx="8412480" cy="224028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0" i="0">
                <a:solidFill>
                  <a:srgbClr val="262626"/>
                </a:solidFill>
                <a:latin typeface="Lato"/>
              </a:rPr>
              <a:t>Control xáo thứ tự rep trong set: phá xu hướng mỏi nhưng giữ nguyên cấu trúc cửa sổ.</a:t>
            </a:r>
          </a:p>
          <a:p>
            <a:pPr marL="164592" indent="-164592" algn="l">
              <a:lnSpc>
                <a:spcPct val="105000"/>
              </a:lnSpc>
              <a:spcAft>
                <a:spcPts val="900"/>
              </a:spcAft>
              <a:buClr>
                <a:srgbClr val="7F7F7F"/>
              </a:buClr>
              <a:buChar char="•"/>
            </a:pPr>
            <a:r>
              <a:rPr sz="1600" b="0" i="0">
                <a:solidFill>
                  <a:srgbClr val="262626"/>
                </a:solidFill>
                <a:latin typeface="Lato"/>
              </a:rPr>
              <a:t>Control vẫn cải thiện +2.50 trong +2.84pp, tức </a:t>
            </a:r>
            <a:r>
              <a:rPr sz="1600" b="1" i="0">
                <a:solidFill>
                  <a:srgbClr val="262626"/>
                </a:solidFill>
                <a:latin typeface="Lato"/>
              </a:rPr>
              <a:t>88%</a:t>
            </a:r>
            <a:r>
              <a:rPr sz="1600" b="0" i="0">
                <a:solidFill>
                  <a:srgbClr val="262626"/>
                </a:solidFill>
                <a:latin typeface="Lato"/>
              </a:rPr>
              <a:t> là giả. Phần thật khoảng 0.4pp và không tăng theo độ dài cửa sổ.</a:t>
            </a:r>
          </a:p>
          <a:p>
            <a:pPr marL="164592" indent="-164592" algn="l">
              <a:lnSpc>
                <a:spcPct val="105000"/>
              </a:lnSpc>
              <a:spcAft>
                <a:spcPts val="900"/>
              </a:spcAft>
              <a:buClr>
                <a:srgbClr val="7F7F7F"/>
              </a:buClr>
              <a:buChar char="•"/>
            </a:pPr>
            <a:r>
              <a:rPr sz="1600" b="0" i="0">
                <a:solidFill>
                  <a:srgbClr val="262626"/>
                </a:solidFill>
                <a:latin typeface="Lato"/>
              </a:rPr>
              <a:t>Đã sửa: bỏ hẳn slope. Lợi kèm theo: có dự đoán từ rep thứ 4, thay vì phải chờ 7–11 rep.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KÊNH 3 VÀ 4</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21</a:t>
            </a:r>
          </a:p>
        </p:txBody>
      </p:sp>
      <p:sp>
        <p:nvSpPr>
          <p:cNvPr id="17" name="TextBox 16"/>
          <p:cNvSpPr txBox="1"/>
          <p:nvPr/>
        </p:nvSpPr>
        <p:spPr>
          <a:xfrm>
            <a:off x="365760" y="1783080"/>
            <a:ext cx="4069080" cy="685800"/>
          </a:xfrm>
          <a:prstGeom prst="rect">
            <a:avLst/>
          </a:prstGeom>
          <a:noFill/>
        </p:spPr>
        <p:txBody>
          <a:bodyPr wrap="square" lIns="36576" tIns="36576" rIns="36576" bIns="36576" anchor="t">
            <a:spAutoFit/>
          </a:bodyPr>
          <a:lstStyle/>
          <a:p>
            <a:pPr algn="l">
              <a:spcAft>
                <a:spcPts val="400"/>
              </a:spcAft>
            </a:pPr>
            <a:r>
              <a:rPr sz="1700" b="1" i="0">
                <a:solidFill>
                  <a:srgbClr val="262626"/>
                </a:solidFill>
                <a:latin typeface="Lato"/>
              </a:rPr>
              <a:t>Kênh 3 · Ngưỡng tính trên cả set</a:t>
            </a:r>
          </a:p>
        </p:txBody>
      </p:sp>
      <p:sp>
        <p:nvSpPr>
          <p:cNvPr id="18" name="Rectangle 17"/>
          <p:cNvSpPr/>
          <p:nvPr/>
        </p:nvSpPr>
        <p:spPr>
          <a:xfrm>
            <a:off x="365760" y="2514600"/>
            <a:ext cx="4069080" cy="2743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2651760"/>
            <a:ext cx="4069080" cy="3566160"/>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500" b="0" i="0">
                <a:solidFill>
                  <a:srgbClr val="262626"/>
                </a:solidFill>
                <a:latin typeface="Lato"/>
              </a:rPr>
              <a:t>ZC, SSC, WAMP đếm số lần tín hiệu vượt một ngưỡng; ngưỡng ban đầu tính từ độ lệch chuẩn σ của </a:t>
            </a:r>
            <a:r>
              <a:rPr sz="1500" b="1" i="0">
                <a:solidFill>
                  <a:srgbClr val="262626"/>
                </a:solidFill>
                <a:latin typeface="Lato"/>
              </a:rPr>
              <a:t>cả set</a:t>
            </a:r>
            <a:r>
              <a:rPr sz="1500" b="0" i="0">
                <a:solidFill>
                  <a:srgbClr val="262626"/>
                </a:solidFill>
                <a:latin typeface="Lato"/>
              </a:rPr>
              <a:t>.</a:t>
            </a:r>
          </a:p>
          <a:p>
            <a:pPr marL="164592" indent="-164592" algn="l">
              <a:lnSpc>
                <a:spcPct val="105000"/>
              </a:lnSpc>
              <a:spcAft>
                <a:spcPts val="800"/>
              </a:spcAft>
              <a:buClr>
                <a:srgbClr val="7F7F7F"/>
              </a:buClr>
              <a:buChar char="•"/>
            </a:pPr>
            <a:r>
              <a:rPr sz="1500" b="0" i="0">
                <a:solidFill>
                  <a:srgbClr val="262626"/>
                </a:solidFill>
                <a:latin typeface="Lato"/>
              </a:rPr>
              <a:t>Biên độ tăng khi mỏi, nên σ cả set chứa thông tin của các rep chưa xảy ra.</a:t>
            </a:r>
          </a:p>
          <a:p>
            <a:pPr marL="164592" indent="-164592" algn="l">
              <a:lnSpc>
                <a:spcPct val="105000"/>
              </a:lnSpc>
              <a:spcAft>
                <a:spcPts val="800"/>
              </a:spcAft>
              <a:buClr>
                <a:srgbClr val="7F7F7F"/>
              </a:buClr>
              <a:buChar char="•"/>
            </a:pPr>
            <a:r>
              <a:rPr sz="1500" b="0" i="0">
                <a:solidFill>
                  <a:srgbClr val="262626"/>
                </a:solidFill>
                <a:latin typeface="Lato"/>
              </a:rPr>
              <a:t>Đổi sang σ của 3 rep tham chiếu: RMSE 24.41% → 24.33%, chênh </a:t>
            </a:r>
            <a:r>
              <a:rPr sz="1500" b="1" i="0">
                <a:solidFill>
                  <a:srgbClr val="262626"/>
                </a:solidFill>
                <a:latin typeface="Lato"/>
              </a:rPr>
              <a:t>−0.08pp</a:t>
            </a:r>
            <a:r>
              <a:rPr sz="1500" b="0" i="0">
                <a:solidFill>
                  <a:srgbClr val="262626"/>
                </a:solidFill>
                <a:latin typeface="Lato"/>
              </a:rPr>
              <a:t> [−0.25, +0.09], không đáng kể.</a:t>
            </a:r>
          </a:p>
          <a:p>
            <a:pPr marL="164592" indent="-164592" algn="l">
              <a:lnSpc>
                <a:spcPct val="105000"/>
              </a:lnSpc>
              <a:spcAft>
                <a:spcPts val="800"/>
              </a:spcAft>
              <a:buClr>
                <a:srgbClr val="7F7F7F"/>
              </a:buClr>
              <a:buChar char="•"/>
            </a:pPr>
            <a:r>
              <a:rPr sz="1500" b="0" i="0">
                <a:solidFill>
                  <a:srgbClr val="262626"/>
                </a:solidFill>
                <a:latin typeface="Lato"/>
              </a:rPr>
              <a:t>Vẫn giữ bản mới vì thiết bị tính được nó lúc chạy.</a:t>
            </a:r>
          </a:p>
        </p:txBody>
      </p:sp>
      <p:sp>
        <p:nvSpPr>
          <p:cNvPr id="20" name="TextBox 19"/>
          <p:cNvSpPr txBox="1"/>
          <p:nvPr/>
        </p:nvSpPr>
        <p:spPr>
          <a:xfrm>
            <a:off x="4709160" y="1783080"/>
            <a:ext cx="4069080" cy="685800"/>
          </a:xfrm>
          <a:prstGeom prst="rect">
            <a:avLst/>
          </a:prstGeom>
          <a:noFill/>
        </p:spPr>
        <p:txBody>
          <a:bodyPr wrap="square" lIns="36576" tIns="36576" rIns="36576" bIns="36576" anchor="t">
            <a:spAutoFit/>
          </a:bodyPr>
          <a:lstStyle/>
          <a:p>
            <a:pPr algn="l">
              <a:spcAft>
                <a:spcPts val="400"/>
              </a:spcAft>
            </a:pPr>
            <a:r>
              <a:rPr sz="1700" b="1" i="0">
                <a:solidFill>
                  <a:srgbClr val="262626"/>
                </a:solidFill>
                <a:latin typeface="Lato"/>
              </a:rPr>
              <a:t>Kênh 4 · Chọn đặc trưng trên toàn bộ dữ liệu</a:t>
            </a:r>
          </a:p>
        </p:txBody>
      </p:sp>
      <p:sp>
        <p:nvSpPr>
          <p:cNvPr id="21" name="Rectangle 20"/>
          <p:cNvSpPr/>
          <p:nvPr/>
        </p:nvSpPr>
        <p:spPr>
          <a:xfrm>
            <a:off x="4709160" y="2514600"/>
            <a:ext cx="4069080" cy="2743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09160" y="2651760"/>
            <a:ext cx="4069080" cy="3566160"/>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500" b="0" i="0">
                <a:solidFill>
                  <a:srgbClr val="262626"/>
                </a:solidFill>
                <a:latin typeface="Lato"/>
              </a:rPr>
              <a:t>Chọn đặc trưng bằng dữ liệu của cả 13 người, kể cả người đang test, là dùng trước thông tin của tập test.</a:t>
            </a:r>
          </a:p>
          <a:p>
            <a:pPr marL="164592" indent="-164592" algn="l">
              <a:lnSpc>
                <a:spcPct val="105000"/>
              </a:lnSpc>
              <a:spcAft>
                <a:spcPts val="800"/>
              </a:spcAft>
              <a:buClr>
                <a:srgbClr val="7F7F7F"/>
              </a:buClr>
              <a:buChar char="•"/>
            </a:pPr>
            <a:r>
              <a:rPr sz="1500" b="0" i="0">
                <a:solidFill>
                  <a:srgbClr val="262626"/>
                </a:solidFill>
                <a:latin typeface="Lato"/>
              </a:rPr>
              <a:t>Đo lại khi chọn riêng trong từng lượt LOSO: chênh </a:t>
            </a:r>
            <a:r>
              <a:rPr sz="1500" b="1" i="0">
                <a:solidFill>
                  <a:srgbClr val="262626"/>
                </a:solidFill>
                <a:latin typeface="Lato"/>
              </a:rPr>
              <a:t>−0.07pp</a:t>
            </a:r>
            <a:r>
              <a:rPr sz="1500" b="0" i="0">
                <a:solidFill>
                  <a:srgbClr val="262626"/>
                </a:solidFill>
                <a:latin typeface="Lato"/>
              </a:rPr>
              <a:t>.</a:t>
            </a:r>
          </a:p>
          <a:p>
            <a:pPr marL="164592" indent="-164592" algn="l">
              <a:lnSpc>
                <a:spcPct val="105000"/>
              </a:lnSpc>
              <a:spcAft>
                <a:spcPts val="800"/>
              </a:spcAft>
              <a:buClr>
                <a:srgbClr val="7F7F7F"/>
              </a:buClr>
              <a:buChar char="•"/>
            </a:pPr>
            <a:r>
              <a:rPr sz="1500" b="0" i="0">
                <a:solidFill>
                  <a:srgbClr val="262626"/>
                </a:solidFill>
                <a:latin typeface="Lato"/>
              </a:rPr>
              <a:t>11/12 đặc trưng được chọn giống nhau ở cả 13 lượt, nên phép chọn gần như cố định.</a:t>
            </a:r>
          </a:p>
          <a:p>
            <a:pPr marL="164592" indent="-164592" algn="l">
              <a:lnSpc>
                <a:spcPct val="105000"/>
              </a:lnSpc>
              <a:spcAft>
                <a:spcPts val="800"/>
              </a:spcAft>
              <a:buClr>
                <a:srgbClr val="7F7F7F"/>
              </a:buClr>
              <a:buChar char="•"/>
            </a:pPr>
            <a:r>
              <a:rPr sz="1500" b="0" i="0">
                <a:solidFill>
                  <a:srgbClr val="262626"/>
                </a:solidFill>
                <a:latin typeface="Lato"/>
              </a:rPr>
              <a:t>Vẫn chọn trong từng lượt vì không tốn gì.</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CON SỐ CẢI THIỆN CO LẠI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22</a:t>
            </a:r>
          </a:p>
        </p:txBody>
      </p:sp>
      <p:pic>
        <p:nvPicPr>
          <p:cNvPr id="17" name="Picture 16" descr="h6_con_so_co_lai.png"/>
          <p:cNvPicPr>
            <a:picLocks noChangeAspect="1"/>
          </p:cNvPicPr>
          <p:nvPr/>
        </p:nvPicPr>
        <p:blipFill>
          <a:blip r:embed="rId3"/>
          <a:stretch>
            <a:fillRect/>
          </a:stretch>
        </p:blipFill>
        <p:spPr>
          <a:xfrm>
            <a:off x="1814732" y="1737360"/>
            <a:ext cx="5514535" cy="2834640"/>
          </a:xfrm>
          <a:prstGeom prst="rect">
            <a:avLst/>
          </a:prstGeom>
        </p:spPr>
      </p:pic>
      <p:sp>
        <p:nvSpPr>
          <p:cNvPr id="18" name="TextBox 17"/>
          <p:cNvSpPr txBox="1"/>
          <p:nvPr/>
        </p:nvSpPr>
        <p:spPr>
          <a:xfrm>
            <a:off x="365760" y="4663440"/>
            <a:ext cx="8412480" cy="1600200"/>
          </a:xfrm>
          <a:prstGeom prst="rect">
            <a:avLst/>
          </a:prstGeom>
          <a:noFill/>
        </p:spPr>
        <p:txBody>
          <a:bodyPr wrap="square" lIns="36576" tIns="36576" rIns="36576" bIns="36576" anchor="t">
            <a:spAutoFit/>
          </a:bodyPr>
          <a:lstStyle/>
          <a:p>
            <a:pPr marL="164592" indent="-164592" algn="l">
              <a:lnSpc>
                <a:spcPct val="105000"/>
              </a:lnSpc>
              <a:spcAft>
                <a:spcPts val="400"/>
              </a:spcAft>
              <a:buClr>
                <a:srgbClr val="7F7F7F"/>
              </a:buClr>
              <a:buChar char="•"/>
            </a:pPr>
            <a:r>
              <a:rPr sz="1300" b="0" i="0">
                <a:solidFill>
                  <a:srgbClr val="262626"/>
                </a:solidFill>
                <a:latin typeface="Lato"/>
              </a:rPr>
              <a:t>Mỗi cột: mức cải thiện RMSE của N1 so với chính bộ đặc trưng đó không chuẩn hoá, trên cùng tập rep.</a:t>
            </a:r>
          </a:p>
          <a:p>
            <a:pPr marL="164592" indent="-164592" algn="l">
              <a:lnSpc>
                <a:spcPct val="105000"/>
              </a:lnSpc>
              <a:spcAft>
                <a:spcPts val="400"/>
              </a:spcAft>
              <a:buClr>
                <a:srgbClr val="7F7F7F"/>
              </a:buClr>
              <a:buChar char="•"/>
            </a:pPr>
            <a:r>
              <a:rPr sz="1300" b="1" i="0">
                <a:solidFill>
                  <a:srgbClr val="262626"/>
                </a:solidFill>
                <a:latin typeface="Lato"/>
              </a:rPr>
              <a:t>3 cơ chọn theo kết quả</a:t>
            </a:r>
            <a:r>
              <a:rPr sz="1300" b="0" i="0">
                <a:solidFill>
                  <a:srgbClr val="262626"/>
                </a:solidFill>
                <a:latin typeface="Lato"/>
              </a:rPr>
              <a:t>: 3 cơ có |ρ| lớn nhất (delta trước trái, delta giữa phải, bicep trái). FCF tăng theo thời gian, nên chọn cơ theo ρ là chọn theo chính biến mục tiêu → loại.</a:t>
            </a:r>
          </a:p>
          <a:p>
            <a:pPr marL="164592" indent="-164592" algn="l">
              <a:lnSpc>
                <a:spcPct val="105000"/>
              </a:lnSpc>
              <a:spcAft>
                <a:spcPts val="400"/>
              </a:spcAft>
              <a:buClr>
                <a:srgbClr val="7F7F7F"/>
              </a:buClr>
              <a:buChar char="•"/>
            </a:pPr>
            <a:r>
              <a:rPr sz="1300" b="1" i="0">
                <a:solidFill>
                  <a:srgbClr val="262626"/>
                </a:solidFill>
                <a:latin typeface="Lato"/>
              </a:rPr>
              <a:t>Chỉ bicep</a:t>
            </a:r>
            <a:r>
              <a:rPr sz="1300" b="0" i="0">
                <a:solidFill>
                  <a:srgbClr val="262626"/>
                </a:solidFill>
                <a:latin typeface="Lato"/>
              </a:rPr>
              <a:t>: chọn sau khi thấy số; trên tập nhỏ mẫu số không ổn định → loại.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ĐẶT CẠNH CÁC BASELINE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23</a:t>
            </a:r>
          </a:p>
        </p:txBody>
      </p:sp>
      <p:graphicFrame>
        <p:nvGraphicFramePr>
          <p:cNvPr id="17" name="Chart 16"/>
          <p:cNvGraphicFramePr>
            <a:graphicFrameLocks noGrp="1"/>
          </p:cNvGraphicFramePr>
          <p:nvPr/>
        </p:nvGraphicFramePr>
        <p:xfrm>
          <a:off x="365760" y="1737360"/>
          <a:ext cx="84124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365760" y="4572000"/>
            <a:ext cx="8412480" cy="1691639"/>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RMSE (%) trên tập đánh giá 10 318 rep, LOSO 13 người, sau khi sửa các kênh data leakage.</a:t>
            </a:r>
          </a:p>
          <a:p>
            <a:pPr marL="164592" indent="-164592" algn="l">
              <a:lnSpc>
                <a:spcPct val="105000"/>
              </a:lnSpc>
              <a:spcAft>
                <a:spcPts val="600"/>
              </a:spcAft>
              <a:buClr>
                <a:srgbClr val="7F7F7F"/>
              </a:buClr>
              <a:buChar char="•"/>
            </a:pPr>
            <a:r>
              <a:rPr sz="1500" b="0" i="0">
                <a:solidFill>
                  <a:srgbClr val="262626"/>
                </a:solidFill>
                <a:latin typeface="Lato"/>
              </a:rPr>
              <a:t>Rep-count baseline (k, cơ) tốt hơn sEMG </a:t>
            </a:r>
            <a:r>
              <a:rPr sz="1500" b="1" i="0">
                <a:solidFill>
                  <a:srgbClr val="262626"/>
                </a:solidFill>
                <a:latin typeface="Lato"/>
              </a:rPr>
              <a:t>4.93pp</a:t>
            </a:r>
            <a:r>
              <a:rPr sz="1500" b="0" i="0">
                <a:solidFill>
                  <a:srgbClr val="262626"/>
                </a:solidFill>
                <a:latin typeface="Lato"/>
              </a:rPr>
              <a:t>; chỉ biết k cũng đã tốt hơn sEMG.</a:t>
            </a:r>
          </a:p>
          <a:p>
            <a:pPr marL="164592" indent="-164592" algn="l">
              <a:lnSpc>
                <a:spcPct val="105000"/>
              </a:lnSpc>
              <a:spcAft>
                <a:spcPts val="600"/>
              </a:spcAft>
              <a:buClr>
                <a:srgbClr val="7F7F7F"/>
              </a:buClr>
              <a:buChar char="•"/>
            </a:pPr>
            <a:r>
              <a:rPr sz="1500" b="0" i="0">
                <a:solidFill>
                  <a:srgbClr val="262626"/>
                </a:solidFill>
                <a:latin typeface="Lato"/>
              </a:rPr>
              <a:t>Cho mô hình sEMG biết thêm k: 20.85%, vẫn kém rep-count baseline (k, cơ) 1.45pp.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CHECKPOINT THÁNG 4</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24</a:t>
            </a:r>
          </a:p>
        </p:txBody>
      </p:sp>
      <p:sp>
        <p:nvSpPr>
          <p:cNvPr id="17" name="TextBox 16"/>
          <p:cNvSpPr txBox="1"/>
          <p:nvPr/>
        </p:nvSpPr>
        <p:spPr>
          <a:xfrm>
            <a:off x="365760" y="1737360"/>
            <a:ext cx="2377440" cy="822960"/>
          </a:xfrm>
          <a:prstGeom prst="rect">
            <a:avLst/>
          </a:prstGeom>
          <a:noFill/>
        </p:spPr>
        <p:txBody>
          <a:bodyPr wrap="square" lIns="36576" tIns="36576" rIns="36576" bIns="36576" anchor="b">
            <a:spAutoFit/>
          </a:bodyPr>
          <a:lstStyle/>
          <a:p>
            <a:pPr algn="l">
              <a:spcAft>
                <a:spcPts val="400"/>
              </a:spcAft>
            </a:pPr>
            <a:r>
              <a:rPr sz="4800" b="1" i="0">
                <a:solidFill>
                  <a:srgbClr val="C02034"/>
                </a:solidFill>
                <a:latin typeface="Lato"/>
              </a:rPr>
              <a:t>2.97%</a:t>
            </a:r>
          </a:p>
        </p:txBody>
      </p:sp>
      <p:sp>
        <p:nvSpPr>
          <p:cNvPr id="18" name="TextBox 17"/>
          <p:cNvSpPr txBox="1"/>
          <p:nvPr/>
        </p:nvSpPr>
        <p:spPr>
          <a:xfrm>
            <a:off x="365760" y="2606039"/>
            <a:ext cx="237744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đo đúng như
kế hoạch</a:t>
            </a:r>
          </a:p>
        </p:txBody>
      </p:sp>
      <p:sp>
        <p:nvSpPr>
          <p:cNvPr id="19" name="TextBox 18"/>
          <p:cNvSpPr txBox="1"/>
          <p:nvPr/>
        </p:nvSpPr>
        <p:spPr>
          <a:xfrm>
            <a:off x="3017520" y="1737360"/>
            <a:ext cx="2377440" cy="822960"/>
          </a:xfrm>
          <a:prstGeom prst="rect">
            <a:avLst/>
          </a:prstGeom>
          <a:noFill/>
        </p:spPr>
        <p:txBody>
          <a:bodyPr wrap="square" lIns="36576" tIns="36576" rIns="36576" bIns="36576" anchor="b">
            <a:spAutoFit/>
          </a:bodyPr>
          <a:lstStyle/>
          <a:p>
            <a:pPr algn="l">
              <a:spcAft>
                <a:spcPts val="400"/>
              </a:spcAft>
            </a:pPr>
            <a:r>
              <a:rPr sz="4800" b="1" i="0">
                <a:solidFill>
                  <a:srgbClr val="262626"/>
                </a:solidFill>
                <a:latin typeface="Lato"/>
              </a:rPr>
              <a:t>15%</a:t>
            </a:r>
          </a:p>
        </p:txBody>
      </p:sp>
      <p:sp>
        <p:nvSpPr>
          <p:cNvPr id="20" name="TextBox 19"/>
          <p:cNvSpPr txBox="1"/>
          <p:nvPr/>
        </p:nvSpPr>
        <p:spPr>
          <a:xfrm>
            <a:off x="3017520" y="2606039"/>
            <a:ext cx="237744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ngưỡng của
kế hoạch</a:t>
            </a:r>
          </a:p>
        </p:txBody>
      </p:sp>
      <p:sp>
        <p:nvSpPr>
          <p:cNvPr id="21" name="TextBox 20"/>
          <p:cNvSpPr txBox="1"/>
          <p:nvPr/>
        </p:nvSpPr>
        <p:spPr>
          <a:xfrm>
            <a:off x="365760" y="3566160"/>
            <a:ext cx="8412480" cy="265176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700" b="0" i="0">
                <a:solidFill>
                  <a:srgbClr val="262626"/>
                </a:solidFill>
                <a:latin typeface="Lato"/>
              </a:rPr>
              <a:t>Đo đúng văn bản kế hoạch: N1 áp lên 4 đặc trưng của C1 (MNF, MDF, tổng công suất, RMS), so với chính 4 đặc trưng đó không chuẩn hoá: RMSE 26.90% so với 27.72%.</a:t>
            </a:r>
          </a:p>
          <a:p>
            <a:pPr marL="164592" indent="-164592" algn="l">
              <a:lnSpc>
                <a:spcPct val="105000"/>
              </a:lnSpc>
              <a:spcAft>
                <a:spcPts val="1000"/>
              </a:spcAft>
              <a:buClr>
                <a:srgbClr val="7F7F7F"/>
              </a:buClr>
              <a:buChar char="•"/>
            </a:pPr>
            <a:r>
              <a:rPr sz="1700" b="0" i="0">
                <a:solidFill>
                  <a:srgbClr val="262626"/>
                </a:solidFill>
                <a:latin typeface="Lato"/>
              </a:rPr>
              <a:t>Khoảng tin cậy 95% [0.39, 5.22]%, xa ngưỡng 15%.</a:t>
            </a:r>
          </a:p>
          <a:p>
            <a:pPr marL="164592" indent="-164592" algn="l">
              <a:lnSpc>
                <a:spcPct val="105000"/>
              </a:lnSpc>
              <a:spcAft>
                <a:spcPts val="1000"/>
              </a:spcAft>
              <a:buClr>
                <a:srgbClr val="7F7F7F"/>
              </a:buClr>
              <a:buChar char="•"/>
            </a:pPr>
            <a:r>
              <a:rPr sz="1700" b="0" i="0">
                <a:solidFill>
                  <a:srgbClr val="262626"/>
                </a:solidFill>
                <a:latin typeface="Lato"/>
              </a:rPr>
              <a:t>Kế hoạch ghi: không đạt thì đổi hướng. Đây là lần đầu checkpoint được đo đúng như văn bản; các con số trước đó đo trên cấu hình khác.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ĐỘ BỀN KHI ĐỘ DÀI SET THAY ĐỔI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25</a:t>
            </a:r>
          </a:p>
        </p:txBody>
      </p:sp>
      <p:graphicFrame>
        <p:nvGraphicFramePr>
          <p:cNvPr id="17" name="Chart 16"/>
          <p:cNvGraphicFramePr>
            <a:graphicFrameLocks noGrp="1"/>
          </p:cNvGraphicFramePr>
          <p:nvPr/>
        </p:nvGraphicFramePr>
        <p:xfrm>
          <a:off x="365760" y="1783080"/>
          <a:ext cx="39319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4572000" y="1783080"/>
            <a:ext cx="4206240" cy="443484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500" b="0" i="0">
                <a:solidFill>
                  <a:srgbClr val="262626"/>
                </a:solidFill>
                <a:latin typeface="Lato"/>
              </a:rPr>
              <a:t>Thiết kế: bỏ một dải độ dài set khỏi tập train, rồi test trên đúng dải đó, như người dùng có set dài hoặc ngắn hơn mọi người trong dữ liệu huấn luyện.</a:t>
            </a:r>
          </a:p>
          <a:p>
            <a:pPr marL="164592" indent="-164592" algn="l">
              <a:lnSpc>
                <a:spcPct val="105000"/>
              </a:lnSpc>
              <a:spcAft>
                <a:spcPts val="900"/>
              </a:spcAft>
              <a:buClr>
                <a:srgbClr val="7F7F7F"/>
              </a:buClr>
              <a:buChar char="•"/>
            </a:pPr>
            <a:r>
              <a:rPr sz="1500" b="0" i="0">
                <a:solidFill>
                  <a:srgbClr val="262626"/>
                </a:solidFill>
                <a:latin typeface="Lato"/>
              </a:rPr>
              <a:t>Cột: mức tốt hơn naive baseline (%).</a:t>
            </a:r>
          </a:p>
          <a:p>
            <a:pPr marL="164592" indent="-164592" algn="l">
              <a:lnSpc>
                <a:spcPct val="105000"/>
              </a:lnSpc>
              <a:spcAft>
                <a:spcPts val="900"/>
              </a:spcAft>
              <a:buClr>
                <a:srgbClr val="7F7F7F"/>
              </a:buClr>
              <a:buChar char="•"/>
            </a:pPr>
            <a:r>
              <a:rPr sz="1500" b="0" i="0">
                <a:solidFill>
                  <a:srgbClr val="262626"/>
                </a:solidFill>
                <a:latin typeface="Lato"/>
              </a:rPr>
              <a:t>Rep-count baseline kém cả naive, vì nó chỉ biết FCF trung bình của các độ dài set đã gặp. sEMG vẫn hơn naive.</a:t>
            </a:r>
          </a:p>
          <a:p>
            <a:pPr marL="164592" indent="-164592" algn="l">
              <a:lnSpc>
                <a:spcPct val="105000"/>
              </a:lnSpc>
              <a:spcAft>
                <a:spcPts val="900"/>
              </a:spcAft>
              <a:buClr>
                <a:srgbClr val="7F7F7F"/>
              </a:buClr>
              <a:buChar char="•"/>
            </a:pPr>
            <a:r>
              <a:rPr sz="1500" b="0" i="0">
                <a:solidFill>
                  <a:srgbClr val="262626"/>
                </a:solidFill>
                <a:latin typeface="Lato"/>
              </a:rPr>
              <a:t>Luận điểm mạnh nhất còn lại của sEMG trên Zenodo: về </a:t>
            </a:r>
            <a:r>
              <a:rPr sz="1500" b="1" i="0">
                <a:solidFill>
                  <a:srgbClr val="262626"/>
                </a:solidFill>
                <a:latin typeface="Lato"/>
              </a:rPr>
              <a:t>độ bền</a:t>
            </a:r>
            <a:r>
              <a:rPr sz="1500" b="0" i="0">
                <a:solidFill>
                  <a:srgbClr val="262626"/>
                </a:solidFill>
                <a:latin typeface="Lato"/>
              </a:rPr>
              <a:t>, không phải độ chính xác.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RIR Ở VÙNG GẦN FAILURE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26</a:t>
            </a:r>
          </a:p>
        </p:txBody>
      </p:sp>
      <p:graphicFrame>
        <p:nvGraphicFramePr>
          <p:cNvPr id="17" name="Table 16"/>
          <p:cNvGraphicFramePr>
            <a:graphicFrameLocks noGrp="1"/>
          </p:cNvGraphicFramePr>
          <p:nvPr/>
        </p:nvGraphicFramePr>
        <p:xfrm>
          <a:off x="365760" y="1783080"/>
          <a:ext cx="4023360" cy="2688336"/>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02336">
                <a:tc>
                  <a:txBody>
                    <a:bodyPr/>
                    <a:lstStyle/>
                    <a:p>
                      <a:pPr algn="l">
                        <a:spcAft>
                          <a:spcPts val="0"/>
                        </a:spcAft>
                      </a:pPr>
                      <a:r>
                        <a:rPr sz="15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500" b="1" i="0">
                          <a:solidFill>
                            <a:srgbClr val="FFFFFF"/>
                          </a:solidFill>
                          <a:latin typeface="Lato"/>
                        </a:rPr>
                        <a:t>MAE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57200">
                <a:tc>
                  <a:txBody>
                    <a:bodyPr/>
                    <a:lstStyle/>
                    <a:p>
                      <a:pPr algn="l">
                        <a:spcAft>
                          <a:spcPts val="0"/>
                        </a:spcAft>
                      </a:pPr>
                      <a:r>
                        <a:rPr sz="15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4.752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500" b="1" i="0">
                          <a:solidFill>
                            <a:srgbClr val="262626"/>
                          </a:solidFill>
                          <a:latin typeface="Lato"/>
                        </a:rPr>
                        <a:t>Rep-count baseline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4.660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500" b="1" i="0">
                          <a:solidFill>
                            <a:srgbClr val="262626"/>
                          </a:solidFill>
                          <a:latin typeface="Lato"/>
                        </a:rPr>
                        <a:t>sEMG, cấu hình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C02034"/>
                          </a:solidFill>
                          <a:latin typeface="Lato"/>
                        </a:rPr>
                        <a:t>4.355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500" b="1" i="0">
                          <a:solidFill>
                            <a:srgbClr val="262626"/>
                          </a:solidFill>
                          <a:latin typeface="Lato"/>
                        </a:rPr>
                        <a:t>sEMG +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4.288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457200">
                <a:tc>
                  <a:txBody>
                    <a:bodyPr/>
                    <a:lstStyle/>
                    <a:p>
                      <a:pPr algn="l">
                        <a:spcAft>
                          <a:spcPts val="0"/>
                        </a:spcAft>
                      </a:pPr>
                      <a:r>
                        <a:rPr sz="1500" b="1" i="0">
                          <a:solidFill>
                            <a:srgbClr val="262626"/>
                          </a:solidFill>
                          <a:latin typeface="Lato"/>
                        </a:rPr>
                        <a:t>Rep-count baseline (k,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1F3864"/>
                          </a:solidFill>
                          <a:latin typeface="Lato"/>
                        </a:rPr>
                        <a:t>4.222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
        <p:nvSpPr>
          <p:cNvPr id="18" name="TextBox 17"/>
          <p:cNvSpPr txBox="1"/>
          <p:nvPr/>
        </p:nvSpPr>
        <p:spPr>
          <a:xfrm>
            <a:off x="4663440" y="1783080"/>
            <a:ext cx="4114800" cy="443484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500" b="0" i="0">
                <a:solidFill>
                  <a:srgbClr val="262626"/>
                </a:solidFill>
                <a:latin typeface="Lato"/>
              </a:rPr>
              <a:t>1 409 rep có RIR &lt; 10 của tập đánh giá.</a:t>
            </a:r>
          </a:p>
          <a:p>
            <a:pPr marL="164592" indent="-164592" algn="l">
              <a:lnSpc>
                <a:spcPct val="105000"/>
              </a:lnSpc>
              <a:spcAft>
                <a:spcPts val="900"/>
              </a:spcAft>
              <a:buClr>
                <a:srgbClr val="7F7F7F"/>
              </a:buClr>
              <a:buChar char="•"/>
            </a:pPr>
            <a:r>
              <a:rPr sz="1500" b="0" i="0">
                <a:solidFill>
                  <a:srgbClr val="262626"/>
                </a:solidFill>
                <a:latin typeface="Lato"/>
              </a:rPr>
              <a:t>sEMG tốt hơn rep-count baseline (k) </a:t>
            </a:r>
            <a:r>
              <a:rPr sz="1500" b="1" i="0">
                <a:solidFill>
                  <a:srgbClr val="262626"/>
                </a:solidFill>
                <a:latin typeface="Lato"/>
              </a:rPr>
              <a:t>0.305 rep</a:t>
            </a:r>
            <a:r>
              <a:rPr sz="1500" b="0" i="0">
                <a:solidFill>
                  <a:srgbClr val="262626"/>
                </a:solidFill>
                <a:latin typeface="Lato"/>
              </a:rPr>
              <a:t> [0.116, 0.490]: lần đầu sEMG thắng một rep-count baseline với khoảng tin cậy không chứa 0.</a:t>
            </a:r>
          </a:p>
          <a:p>
            <a:pPr marL="164592" indent="-164592" algn="l">
              <a:lnSpc>
                <a:spcPct val="105000"/>
              </a:lnSpc>
              <a:spcAft>
                <a:spcPts val="900"/>
              </a:spcAft>
              <a:buClr>
                <a:srgbClr val="7F7F7F"/>
              </a:buClr>
              <a:buChar char="•"/>
            </a:pPr>
            <a:r>
              <a:rPr sz="1500" b="0" i="0">
                <a:solidFill>
                  <a:srgbClr val="262626"/>
                </a:solidFill>
                <a:latin typeface="Lato"/>
              </a:rPr>
              <a:t>Nhưng chỉ cần biết thêm động tác, rep-count baseline đã ngang hoặc tốt hơn sEMG.</a:t>
            </a:r>
          </a:p>
          <a:p>
            <a:pPr marL="164592" indent="-164592" algn="l">
              <a:lnSpc>
                <a:spcPct val="105000"/>
              </a:lnSpc>
              <a:spcAft>
                <a:spcPts val="900"/>
              </a:spcAft>
              <a:buClr>
                <a:srgbClr val="7F7F7F"/>
              </a:buClr>
              <a:buChar char="•"/>
            </a:pPr>
            <a:r>
              <a:rPr sz="1500" b="0" i="0">
                <a:solidFill>
                  <a:srgbClr val="262626"/>
                </a:solidFill>
                <a:latin typeface="Lato"/>
              </a:rPr>
              <a:t>Thông tin sEMG mang về RIR gần như trùng với thông tin “đây là động tác nào”.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CHUẨN HOÁ THEO MVC</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27</a:t>
            </a:r>
          </a:p>
        </p:txBody>
      </p:sp>
      <p:graphicFrame>
        <p:nvGraphicFramePr>
          <p:cNvPr id="17" name="Chart 16"/>
          <p:cNvGraphicFramePr>
            <a:graphicFrameLocks noGrp="1"/>
          </p:cNvGraphicFramePr>
          <p:nvPr/>
        </p:nvGraphicFramePr>
        <p:xfrm>
          <a:off x="365760" y="1737360"/>
          <a:ext cx="45720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5120640" y="1737360"/>
            <a:ext cx="3657600" cy="292608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500" b="0" i="0">
                <a:solidFill>
                  <a:srgbClr val="262626"/>
                </a:solidFill>
                <a:latin typeface="Lato"/>
              </a:rPr>
              <a:t>Pipeline của C1 </a:t>
            </a:r>
            <a:r>
              <a:rPr sz="1500" b="1" i="0">
                <a:solidFill>
                  <a:srgbClr val="262626"/>
                </a:solidFill>
                <a:latin typeface="Lato"/>
              </a:rPr>
              <a:t>không cần MVC</a:t>
            </a:r>
            <a:r>
              <a:rPr sz="1500" b="0" i="0">
                <a:solidFill>
                  <a:srgbClr val="262626"/>
                </a:solidFill>
                <a:latin typeface="Lato"/>
              </a:rPr>
              <a:t>: chia cho MVC rồi lấy % thay đổi so với rep đầu thì hằng số MVC triệt tiêu.</a:t>
            </a:r>
          </a:p>
          <a:p>
            <a:pPr marL="164592" indent="-164592" algn="l">
              <a:lnSpc>
                <a:spcPct val="105000"/>
              </a:lnSpc>
              <a:spcAft>
                <a:spcPts val="1000"/>
              </a:spcAft>
              <a:buClr>
                <a:srgbClr val="7F7F7F"/>
              </a:buClr>
              <a:buChar char="•"/>
            </a:pPr>
            <a:r>
              <a:rPr sz="1500" b="0" i="0">
                <a:solidFill>
                  <a:srgbClr val="262626"/>
                </a:solidFill>
                <a:latin typeface="Lato"/>
              </a:rPr>
              <a:t>Trong pipeline của nhóm, chuẩn hoá theo MVC </a:t>
            </a:r>
            <a:r>
              <a:rPr sz="1500" b="1" i="0">
                <a:solidFill>
                  <a:srgbClr val="262626"/>
                </a:solidFill>
                <a:latin typeface="Lato"/>
              </a:rPr>
              <a:t>kém</a:t>
            </a:r>
            <a:r>
              <a:rPr sz="1500" b="0" i="0">
                <a:solidFill>
                  <a:srgbClr val="262626"/>
                </a:solidFill>
                <a:latin typeface="Lato"/>
              </a:rPr>
              <a:t> theo 3 rep tham chiếu </a:t>
            </a:r>
            <a:r>
              <a:rPr sz="1500" b="1" i="0">
                <a:solidFill>
                  <a:srgbClr val="262626"/>
                </a:solidFill>
                <a:latin typeface="Lato"/>
              </a:rPr>
              <a:t>2.11pp</a:t>
            </a:r>
            <a:r>
              <a:rPr sz="1500" b="0" i="0">
                <a:solidFill>
                  <a:srgbClr val="262626"/>
                </a:solidFill>
                <a:latin typeface="Lato"/>
              </a:rPr>
              <a:t> (12/13 người).</a:t>
            </a:r>
          </a:p>
        </p:txBody>
      </p:sp>
      <p:sp>
        <p:nvSpPr>
          <p:cNvPr id="19" name="TextBox 18"/>
          <p:cNvSpPr txBox="1"/>
          <p:nvPr/>
        </p:nvSpPr>
        <p:spPr>
          <a:xfrm>
            <a:off x="365760" y="4709160"/>
            <a:ext cx="8412480" cy="1554479"/>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Cùng chiều với WSD (kém 2.70pp): kết quả </a:t>
            </a:r>
            <a:r>
              <a:rPr sz="1500" b="1" i="0">
                <a:solidFill>
                  <a:srgbClr val="262626"/>
                </a:solidFill>
                <a:latin typeface="Lato"/>
              </a:rPr>
              <a:t>lặp lại qua hai dataset</a:t>
            </a:r>
            <a:r>
              <a:rPr sz="1500" b="0" i="0">
                <a:solidFill>
                  <a:srgbClr val="262626"/>
                </a:solidFill>
                <a:latin typeface="Lato"/>
              </a:rPr>
              <a:t>.</a:t>
            </a:r>
          </a:p>
          <a:p>
            <a:pPr marL="164592" indent="-164592" algn="l">
              <a:lnSpc>
                <a:spcPct val="105000"/>
              </a:lnSpc>
              <a:spcAft>
                <a:spcPts val="600"/>
              </a:spcAft>
              <a:buClr>
                <a:srgbClr val="7F7F7F"/>
              </a:buClr>
              <a:buChar char="•"/>
            </a:pPr>
            <a:r>
              <a:rPr sz="1500" b="0" i="0">
                <a:solidFill>
                  <a:srgbClr val="262626"/>
                </a:solidFill>
                <a:latin typeface="Lato"/>
              </a:rPr>
              <a:t>Chuẩn hoá theo MVC vẫn tốt hơn không chuẩn hoá 0.81pp, nhưng kém rep-count baseline (k, cơ) 6.95pp.</a:t>
            </a:r>
          </a:p>
          <a:p>
            <a:pPr marL="164592" indent="-164592" algn="l">
              <a:lnSpc>
                <a:spcPct val="105000"/>
              </a:lnSpc>
              <a:spcAft>
                <a:spcPts val="600"/>
              </a:spcAft>
              <a:buClr>
                <a:srgbClr val="7F7F7F"/>
              </a:buClr>
              <a:buChar char="•"/>
            </a:pPr>
            <a:r>
              <a:rPr sz="1500" b="0" i="0">
                <a:solidFill>
                  <a:srgbClr val="262626"/>
                </a:solidFill>
                <a:latin typeface="Lato"/>
              </a:rPr>
              <a:t>Khai báo trước và chạy ngày 1/10; 51 cột, cùng tập đánh giá 10 318 rep.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SO VỚI CÁC NGHIÊN CỨU LIÊN QUAN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28</a:t>
            </a:r>
          </a:p>
        </p:txBody>
      </p:sp>
      <p:graphicFrame>
        <p:nvGraphicFramePr>
          <p:cNvPr id="17" name="Table 16"/>
          <p:cNvGraphicFramePr>
            <a:graphicFrameLocks noGrp="1"/>
          </p:cNvGraphicFramePr>
          <p:nvPr/>
        </p:nvGraphicFramePr>
        <p:xfrm>
          <a:off x="365760" y="1737360"/>
          <a:ext cx="8412479" cy="3968496"/>
        </p:xfrm>
        <a:graphic>
          <a:graphicData uri="http://schemas.openxmlformats.org/drawingml/2006/table">
            <a:tbl>
              <a:tblPr/>
              <a:tblGrid>
                <a:gridCol w="13258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874519">
                  <a:extLst>
                    <a:ext uri="{9D8B030D-6E8A-4147-A177-3AD203B41FA5}">
                      <a16:colId xmlns:a16="http://schemas.microsoft.com/office/drawing/2014/main" val="20004"/>
                    </a:ext>
                  </a:extLst>
                </a:gridCol>
              </a:tblGrid>
              <a:tr h="310896">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100" b="1" i="0">
                          <a:solidFill>
                            <a:srgbClr val="FFFFFF"/>
                          </a:solidFill>
                          <a:latin typeface="Lato"/>
                        </a:rPr>
                        <a:t>C1 · Kiki và cs., 2026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100" b="1" i="0">
                          <a:solidFill>
                            <a:srgbClr val="FFFFFF"/>
                          </a:solidFill>
                          <a:latin typeface="Lato"/>
                        </a:rPr>
                        <a:t>C2 · JEK, 01/2026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100" b="1" i="0">
                          <a:solidFill>
                            <a:srgbClr val="FFFFFF"/>
                          </a:solidFill>
                          <a:latin typeface="Lato"/>
                        </a:rPr>
                        <a:t>C3 · arXiv, 12/2025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100" b="1" i="0">
                          <a:solidFill>
                            <a:srgbClr val="FFFFFF"/>
                          </a:solidFill>
                          <a:latin typeface="Lato"/>
                        </a:rPr>
                        <a:t>Nhóm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57200">
                <a:tc>
                  <a:txBody>
                    <a:bodyPr/>
                    <a:lstStyle/>
                    <a:p>
                      <a:pPr algn="l">
                        <a:spcAft>
                          <a:spcPts val="0"/>
                        </a:spcAft>
                      </a:pPr>
                      <a:r>
                        <a:rPr sz="1100" b="1" i="0">
                          <a:solidFill>
                            <a:srgbClr val="262626"/>
                          </a:solidFill>
                          <a:latin typeface="Lato"/>
                        </a:rPr>
                        <a:t>Tác vụ</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Lặp trái–phải với cobot đến khi mỏi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Giữ tĩnh bicep đến thất bại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Preacher curl đến thất bại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Xoay vai (WSD); 12 động tác chi trên (Zenodo)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100" b="1" i="0">
                          <a:solidFill>
                            <a:srgbClr val="262626"/>
                          </a:solidFill>
                          <a:latin typeface="Lato"/>
                        </a:rPr>
                        <a:t>Số người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12 nam; 192 bản ghi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13; 631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34 và 13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100" b="1" i="0">
                          <a:solidFill>
                            <a:srgbClr val="262626"/>
                          </a:solidFill>
                          <a:latin typeface="Lato"/>
                        </a:rPr>
                        <a:t>Tín hiệu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1 IMU cổ tay</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sEMG; IMU để đếm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100" b="1" i="0">
                          <a:solidFill>
                            <a:srgbClr val="262626"/>
                          </a:solidFill>
                          <a:latin typeface="Lato"/>
                        </a:rPr>
                        <a:t>Đầu ra</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FCF liên tục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 thời gian giữ đã trôi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RIR ≤ 2, có hoặc 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FCF liên tục; RIR</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457200">
                <a:tc>
                  <a:txBody>
                    <a:bodyPr/>
                    <a:lstStyle/>
                    <a:p>
                      <a:pPr algn="l">
                        <a:spcAft>
                          <a:spcPts val="0"/>
                        </a:spcAft>
                      </a:pPr>
                      <a:r>
                        <a:rPr sz="1100" b="1" i="0">
                          <a:solidFill>
                            <a:srgbClr val="262626"/>
                          </a:solidFill>
                          <a:latin typeface="Lato"/>
                        </a:rPr>
                        <a:t>Cách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Huấn luyện riêng từng người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LOSO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457200">
                <a:tc>
                  <a:txBody>
                    <a:bodyPr/>
                    <a:lstStyle/>
                    <a:p>
                      <a:pPr algn="l">
                        <a:spcAft>
                          <a:spcPts val="0"/>
                        </a:spcAft>
                      </a:pPr>
                      <a:r>
                        <a:rPr sz="1100" b="1" i="0">
                          <a:solidFill>
                            <a:srgbClr val="262626"/>
                          </a:solidFill>
                          <a:latin typeface="Lato"/>
                        </a:rPr>
                        <a:t>Rep-count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Không có</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Không áp dụng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Có, ở mọi bảng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457200">
                <a:tc>
                  <a:txBody>
                    <a:bodyPr/>
                    <a:lstStyle/>
                    <a:p>
                      <a:pPr algn="l">
                        <a:spcAft>
                          <a:spcPts val="0"/>
                        </a:spcAft>
                      </a:pPr>
                      <a:r>
                        <a:rPr sz="1100" b="1" i="0">
                          <a:solidFill>
                            <a:srgbClr val="262626"/>
                          </a:solidFill>
                          <a:latin typeface="Lato"/>
                        </a:rPr>
                        <a:t>Triển khai nhúng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Pi 5: 112 ms; iPhone: 23.5 ms; không đo năng lượng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Đang đo trên ESP32-S3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457200">
                <a:tc>
                  <a:txBody>
                    <a:bodyPr/>
                    <a:lstStyle/>
                    <a:p>
                      <a:pPr algn="l">
                        <a:spcAft>
                          <a:spcPts val="0"/>
                        </a:spcAft>
                      </a:pPr>
                      <a:r>
                        <a:rPr sz="1100" b="1" i="0">
                          <a:solidFill>
                            <a:srgbClr val="262626"/>
                          </a:solidFill>
                          <a:latin typeface="Lato"/>
                        </a:rPr>
                        <a:t>Kết quả</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RMSE 20.8% đến 26.9%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F1 0.82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Rep-count 12.67%; sEMG 20.62 đến 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365760" y="5797296"/>
            <a:ext cx="8412480" cy="411480"/>
          </a:xfrm>
          <a:prstGeom prst="rect">
            <a:avLst/>
          </a:prstGeom>
          <a:noFill/>
        </p:spPr>
        <p:txBody>
          <a:bodyPr wrap="square" lIns="36576" tIns="36576" rIns="36576" bIns="36576" anchor="t">
            <a:spAutoFit/>
          </a:bodyPr>
          <a:lstStyle/>
          <a:p>
            <a:pPr algn="l">
              <a:lnSpc>
                <a:spcPct val="105000"/>
              </a:lnSpc>
              <a:spcAft>
                <a:spcPts val="1000"/>
              </a:spcAft>
            </a:pPr>
            <a:r>
              <a:rPr sz="1400" b="0" i="0">
                <a:solidFill>
                  <a:srgbClr val="262626"/>
                </a:solidFill>
                <a:latin typeface="Lato"/>
              </a:rPr>
              <a:t>Không so trực tiếp RMSE: khác tác vụ, dữ liệu và cách đánh giá.</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ĐÁNH GIÁ GIAI ĐOẠN ZENODO</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ĐẠT ĐƯỢC</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29</a:t>
            </a:r>
          </a:p>
        </p:txBody>
      </p:sp>
      <p:sp>
        <p:nvSpPr>
          <p:cNvPr id="17" name="TextBox 16"/>
          <p:cNvSpPr txBox="1"/>
          <p:nvPr/>
        </p:nvSpPr>
        <p:spPr>
          <a:xfrm>
            <a:off x="365760" y="1828800"/>
            <a:ext cx="8412480" cy="4389120"/>
          </a:xfrm>
          <a:prstGeom prst="rect">
            <a:avLst/>
          </a:prstGeom>
          <a:noFill/>
        </p:spPr>
        <p:txBody>
          <a:bodyPr wrap="square" lIns="36576" tIns="36576" rIns="36576" bIns="36576" anchor="t">
            <a:spAutoFit/>
          </a:bodyPr>
          <a:lstStyle/>
          <a:p>
            <a:pPr marL="164592" indent="-164592" algn="l">
              <a:lnSpc>
                <a:spcPct val="105000"/>
              </a:lnSpc>
              <a:spcAft>
                <a:spcPts val="1100"/>
              </a:spcAft>
              <a:buClr>
                <a:srgbClr val="7F7F7F"/>
              </a:buClr>
              <a:buChar char="•"/>
            </a:pPr>
            <a:r>
              <a:rPr sz="1800" b="0" i="0">
                <a:solidFill>
                  <a:srgbClr val="262626"/>
                </a:solidFill>
                <a:latin typeface="Lato"/>
              </a:rPr>
              <a:t>Tín hiệu mỏi có thật: tần số giảm theo thời gian ở cả 12 cơ.</a:t>
            </a:r>
          </a:p>
          <a:p>
            <a:pPr marL="164592" indent="-164592" algn="l">
              <a:lnSpc>
                <a:spcPct val="105000"/>
              </a:lnSpc>
              <a:spcAft>
                <a:spcPts val="1100"/>
              </a:spcAft>
              <a:buClr>
                <a:srgbClr val="7F7F7F"/>
              </a:buClr>
              <a:buChar char="•"/>
            </a:pPr>
            <a:r>
              <a:rPr sz="1800" b="0" i="0">
                <a:solidFill>
                  <a:srgbClr val="262626"/>
                </a:solidFill>
                <a:latin typeface="Lato"/>
              </a:rPr>
              <a:t>Pipeline sạch: tìm và sửa hai kênh data leakage (rep tham chiếu, slope), kiểm thêm hai kênh nghi ngờ.</a:t>
            </a:r>
          </a:p>
          <a:p>
            <a:pPr marL="164592" indent="-164592" algn="l">
              <a:lnSpc>
                <a:spcPct val="105000"/>
              </a:lnSpc>
              <a:spcAft>
                <a:spcPts val="1100"/>
              </a:spcAft>
              <a:buClr>
                <a:srgbClr val="7F7F7F"/>
              </a:buClr>
              <a:buChar char="•"/>
            </a:pPr>
            <a:r>
              <a:rPr sz="1800" b="0" i="0">
                <a:solidFill>
                  <a:srgbClr val="262626"/>
                </a:solidFill>
                <a:latin typeface="Lato"/>
              </a:rPr>
              <a:t>Rep-count baseline là đối thủ thật của sEMG; từ đó có mặt trong mọi bảng.</a:t>
            </a:r>
          </a:p>
          <a:p>
            <a:pPr marL="164592" indent="-164592" algn="l">
              <a:lnSpc>
                <a:spcPct val="105000"/>
              </a:lnSpc>
              <a:spcAft>
                <a:spcPts val="1100"/>
              </a:spcAft>
              <a:buClr>
                <a:srgbClr val="7F7F7F"/>
              </a:buClr>
              <a:buChar char="•"/>
            </a:pPr>
            <a:r>
              <a:rPr sz="1800" b="0" i="0">
                <a:solidFill>
                  <a:srgbClr val="262626"/>
                </a:solidFill>
                <a:latin typeface="Lato"/>
              </a:rPr>
              <a:t>Checkpoint tháng 4 đo đúng như kế hoạch: </a:t>
            </a:r>
            <a:r>
              <a:rPr sz="1800" b="1" i="0">
                <a:solidFill>
                  <a:srgbClr val="262626"/>
                </a:solidFill>
                <a:latin typeface="Lato"/>
              </a:rPr>
              <a:t>2.97%</a:t>
            </a:r>
            <a:r>
              <a:rPr sz="1800" b="0" i="0">
                <a:solidFill>
                  <a:srgbClr val="262626"/>
                </a:solidFill>
                <a:latin typeface="Lato"/>
              </a:rPr>
              <a:t>, không đạt ngưỡng 15%.</a:t>
            </a:r>
          </a:p>
          <a:p>
            <a:pPr marL="164592" indent="-164592" algn="l">
              <a:lnSpc>
                <a:spcPct val="105000"/>
              </a:lnSpc>
              <a:spcAft>
                <a:spcPts val="1100"/>
              </a:spcAft>
              <a:buClr>
                <a:srgbClr val="7F7F7F"/>
              </a:buClr>
              <a:buChar char="•"/>
            </a:pPr>
            <a:r>
              <a:rPr sz="1800" b="0" i="0">
                <a:solidFill>
                  <a:srgbClr val="262626"/>
                </a:solidFill>
                <a:latin typeface="Lato"/>
              </a:rPr>
              <a:t>Còn một luận điểm cho sEMG: bền hơn rep-count baseline khi độ dài set thay đổi.</a:t>
            </a:r>
          </a:p>
          <a:p>
            <a:pPr marL="164592" indent="-164592" algn="l">
              <a:lnSpc>
                <a:spcPct val="105000"/>
              </a:lnSpc>
              <a:spcAft>
                <a:spcPts val="1100"/>
              </a:spcAft>
              <a:buClr>
                <a:srgbClr val="7F7F7F"/>
              </a:buClr>
              <a:buChar char="•"/>
            </a:pPr>
            <a:r>
              <a:rPr sz="1800" b="0" i="0">
                <a:solidFill>
                  <a:srgbClr val="262626"/>
                </a:solidFill>
                <a:latin typeface="Lato"/>
              </a:rPr>
              <a:t>Biết các điều trên trước khi bỏ bốn tháng và chi phí thu dữ liệu 24 người.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ĐÁNH GIÁ GIAI ĐOẠN ZENODO</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CHƯA KIỂM ĐỊNH ĐƯỢC</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30</a:t>
            </a:r>
          </a:p>
        </p:txBody>
      </p:sp>
      <p:sp>
        <p:nvSpPr>
          <p:cNvPr id="17" name="TextBox 16"/>
          <p:cNvSpPr txBox="1"/>
          <p:nvPr/>
        </p:nvSpPr>
        <p:spPr>
          <a:xfrm>
            <a:off x="365760" y="1828800"/>
            <a:ext cx="8412480" cy="329184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700" b="1" i="0">
                <a:solidFill>
                  <a:srgbClr val="262626"/>
                </a:solidFill>
                <a:latin typeface="Lato"/>
              </a:rPr>
              <a:t>Mức tải</a:t>
            </a:r>
            <a:r>
              <a:rPr sz="1700" b="0" i="0">
                <a:solidFill>
                  <a:srgbClr val="262626"/>
                </a:solidFill>
                <a:latin typeface="Lato"/>
              </a:rPr>
              <a:t>: Zenodo không có biến tải; độ dài set lẫn với động tác, nên luận điểm độ bền chưa tách được.</a:t>
            </a:r>
          </a:p>
          <a:p>
            <a:pPr marL="164592" indent="-164592" algn="l">
              <a:lnSpc>
                <a:spcPct val="105000"/>
              </a:lnSpc>
              <a:spcAft>
                <a:spcPts val="900"/>
              </a:spcAft>
              <a:buClr>
                <a:srgbClr val="7F7F7F"/>
              </a:buClr>
              <a:buChar char="•"/>
            </a:pPr>
            <a:r>
              <a:rPr sz="1700" b="1" i="0">
                <a:solidFill>
                  <a:srgbClr val="262626"/>
                </a:solidFill>
                <a:latin typeface="Lato"/>
              </a:rPr>
              <a:t>Chuẩn hoá ngoài set</a:t>
            </a:r>
            <a:r>
              <a:rPr sz="1700" b="0" i="0">
                <a:solidFill>
                  <a:srgbClr val="262626"/>
                </a:solidFill>
                <a:latin typeface="Lato"/>
              </a:rPr>
              <a:t>: chỉ có một bản ghi MVC mỗi cơ, đo ở điều kiện co tĩnh, nên chưa kiểm được neo ngoài set đo tốt hơn.</a:t>
            </a:r>
          </a:p>
          <a:p>
            <a:pPr marL="164592" indent="-164592" algn="l">
              <a:lnSpc>
                <a:spcPct val="105000"/>
              </a:lnSpc>
              <a:spcAft>
                <a:spcPts val="900"/>
              </a:spcAft>
              <a:buClr>
                <a:srgbClr val="7F7F7F"/>
              </a:buClr>
              <a:buChar char="•"/>
            </a:pPr>
            <a:r>
              <a:rPr sz="1700" b="1" i="0">
                <a:solidFill>
                  <a:srgbClr val="262626"/>
                </a:solidFill>
                <a:latin typeface="Lato"/>
              </a:rPr>
              <a:t>RIR</a:t>
            </a:r>
            <a:r>
              <a:rPr sz="1700" b="0" i="0">
                <a:solidFill>
                  <a:srgbClr val="262626"/>
                </a:solidFill>
                <a:latin typeface="Lato"/>
              </a:rPr>
              <a:t>: 86% rep có RIR ≥ 10, chỉ đánh giá được trên 1 409 rep.</a:t>
            </a:r>
          </a:p>
          <a:p>
            <a:pPr marL="164592" indent="-164592" algn="l">
              <a:lnSpc>
                <a:spcPct val="105000"/>
              </a:lnSpc>
              <a:spcAft>
                <a:spcPts val="900"/>
              </a:spcAft>
              <a:buClr>
                <a:srgbClr val="7F7F7F"/>
              </a:buClr>
              <a:buChar char="•"/>
            </a:pPr>
            <a:r>
              <a:rPr sz="1700" b="1" i="0">
                <a:solidFill>
                  <a:srgbClr val="262626"/>
                </a:solidFill>
                <a:latin typeface="Lato"/>
              </a:rPr>
              <a:t>Miền tập kháng lực</a:t>
            </a:r>
            <a:r>
              <a:rPr sz="1700" b="0" i="0">
                <a:solidFill>
                  <a:srgbClr val="262626"/>
                </a:solidFill>
                <a:latin typeface="Lato"/>
              </a:rPr>
              <a:t>: chỉ 5/141 set ≤ 20 rep.</a:t>
            </a:r>
          </a:p>
          <a:p>
            <a:pPr marL="164592" indent="-164592" algn="l">
              <a:lnSpc>
                <a:spcPct val="105000"/>
              </a:lnSpc>
              <a:spcAft>
                <a:spcPts val="900"/>
              </a:spcAft>
              <a:buClr>
                <a:srgbClr val="7F7F7F"/>
              </a:buClr>
              <a:buChar char="•"/>
            </a:pPr>
            <a:r>
              <a:rPr sz="1700" b="1" i="0">
                <a:solidFill>
                  <a:srgbClr val="262626"/>
                </a:solidFill>
                <a:latin typeface="Lato"/>
              </a:rPr>
              <a:t>Phần cứng</a:t>
            </a:r>
            <a:r>
              <a:rPr sz="1700" b="0" i="0">
                <a:solidFill>
                  <a:srgbClr val="262626"/>
                </a:solidFill>
                <a:latin typeface="Lato"/>
              </a:rPr>
              <a:t>: mọi số liệu đến từ thiết bị đo của dataset, chưa qua mạch thu của nhóm.</a:t>
            </a:r>
          </a:p>
        </p:txBody>
      </p:sp>
      <p:sp>
        <p:nvSpPr>
          <p:cNvPr id="18" name="Rectangle 17"/>
          <p:cNvSpPr/>
          <p:nvPr/>
        </p:nvSpPr>
        <p:spPr>
          <a:xfrm>
            <a:off x="365760" y="5257800"/>
            <a:ext cx="8412480"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5349240"/>
            <a:ext cx="8412480" cy="868680"/>
          </a:xfrm>
          <a:prstGeom prst="rect">
            <a:avLst/>
          </a:prstGeom>
          <a:noFill/>
        </p:spPr>
        <p:txBody>
          <a:bodyPr wrap="square" lIns="36576" tIns="36576" rIns="36576" bIns="36576" anchor="t">
            <a:spAutoFit/>
          </a:bodyPr>
          <a:lstStyle/>
          <a:p>
            <a:pPr algn="l">
              <a:lnSpc>
                <a:spcPct val="105000"/>
              </a:lnSpc>
              <a:spcAft>
                <a:spcPts val="1000"/>
              </a:spcAft>
            </a:pPr>
            <a:r>
              <a:rPr sz="1600" b="0" i="0">
                <a:solidFill>
                  <a:srgbClr val="262626"/>
                </a:solidFill>
                <a:latin typeface="Lato"/>
              </a:rPr>
              <a:t>→ WSD4FEDSRM có đúng ba thứ Zenodo thiếu: </a:t>
            </a:r>
            <a:r>
              <a:rPr sz="1600" b="1" i="0">
                <a:solidFill>
                  <a:srgbClr val="262626"/>
                </a:solidFill>
                <a:latin typeface="Lato"/>
              </a:rPr>
              <a:t>mức tải có kiểm soát</a:t>
            </a:r>
            <a:r>
              <a:rPr sz="1600" b="0" i="0">
                <a:solidFill>
                  <a:srgbClr val="262626"/>
                </a:solidFill>
                <a:latin typeface="Lato"/>
              </a:rPr>
              <a:t>, </a:t>
            </a:r>
            <a:r>
              <a:rPr sz="1600" b="1" i="0">
                <a:solidFill>
                  <a:srgbClr val="262626"/>
                </a:solidFill>
                <a:latin typeface="Lato"/>
              </a:rPr>
              <a:t>MVIC cho mọi người</a:t>
            </a:r>
            <a:r>
              <a:rPr sz="1600" b="0" i="0">
                <a:solidFill>
                  <a:srgbClr val="262626"/>
                </a:solidFill>
                <a:latin typeface="Lato"/>
              </a:rPr>
              <a:t>, và </a:t>
            </a:r>
            <a:r>
              <a:rPr sz="1600" b="1" i="0">
                <a:solidFill>
                  <a:srgbClr val="262626"/>
                </a:solidFill>
                <a:latin typeface="Lato"/>
              </a:rPr>
              <a:t>set ngắn hơn</a:t>
            </a:r>
            <a:r>
              <a:rPr sz="1600" b="0" i="0">
                <a:solidFill>
                  <a:srgbClr val="262626"/>
                </a:solidFill>
                <a:latin typeface="Lato"/>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31</a:t>
            </a:r>
          </a:p>
        </p:txBody>
      </p:sp>
      <p:sp>
        <p:nvSpPr>
          <p:cNvPr id="17" name="TextBox 16"/>
          <p:cNvSpPr txBox="1"/>
          <p:nvPr/>
        </p:nvSpPr>
        <p:spPr>
          <a:xfrm>
            <a:off x="365760" y="1874519"/>
            <a:ext cx="8412480" cy="4343400"/>
          </a:xfrm>
          <a:prstGeom prst="rect">
            <a:avLst/>
          </a:prstGeom>
          <a:noFill/>
        </p:spPr>
        <p:txBody>
          <a:bodyPr wrap="square" lIns="36576" tIns="36576" rIns="36576" bIns="36576" anchor="t">
            <a:spAutoFit/>
          </a:bodyPr>
          <a:lstStyle/>
          <a:p>
            <a:pPr marL="164592" indent="-164592" algn="l">
              <a:lnSpc>
                <a:spcPct val="105000"/>
              </a:lnSpc>
              <a:spcAft>
                <a:spcPts val="1200"/>
              </a:spcAft>
              <a:buClr>
                <a:srgbClr val="7F7F7F"/>
              </a:buClr>
              <a:buChar char="•"/>
            </a:pPr>
            <a:r>
              <a:rPr sz="2000" b="0" i="0">
                <a:solidFill>
                  <a:srgbClr val="262626"/>
                </a:solidFill>
                <a:latin typeface="Lato"/>
              </a:rPr>
              <a:t>34 người; 2 động tác xoay vai (trong, ngoài) × 3 mức tải 35 / 45 / 55% MVIC.</a:t>
            </a:r>
          </a:p>
          <a:p>
            <a:pPr marL="164592" indent="-164592" algn="l">
              <a:lnSpc>
                <a:spcPct val="105000"/>
              </a:lnSpc>
              <a:spcAft>
                <a:spcPts val="1200"/>
              </a:spcAft>
              <a:buClr>
                <a:srgbClr val="7F7F7F"/>
              </a:buClr>
              <a:buChar char="•"/>
            </a:pPr>
            <a:r>
              <a:rPr sz="2000" b="0" i="0">
                <a:solidFill>
                  <a:srgbClr val="262626"/>
                </a:solidFill>
                <a:latin typeface="Lato"/>
              </a:rPr>
              <a:t>sEMG 6 cơ vai, 1000 Hz; IMU 100 Hz. Nhịp khoá bằng metronome, 3 s mỗi rep, tập đến khi Borg RPE 20.</a:t>
            </a:r>
          </a:p>
          <a:p>
            <a:pPr marL="164592" indent="-164592" algn="l">
              <a:lnSpc>
                <a:spcPct val="105000"/>
              </a:lnSpc>
              <a:spcAft>
                <a:spcPts val="1200"/>
              </a:spcAft>
              <a:buClr>
                <a:srgbClr val="7F7F7F"/>
              </a:buClr>
              <a:buChar char="•"/>
            </a:pPr>
            <a:r>
              <a:rPr sz="2000" b="0" i="0">
                <a:solidFill>
                  <a:srgbClr val="262626"/>
                </a:solidFill>
                <a:latin typeface="Lato"/>
              </a:rPr>
              <a:t>Set trung vị 19 rep (4–67): gần miền tập kháng lực hơn Zenodo (55 rep).</a:t>
            </a:r>
          </a:p>
          <a:p>
            <a:pPr marL="164592" indent="-164592" algn="l">
              <a:lnSpc>
                <a:spcPct val="105000"/>
              </a:lnSpc>
              <a:spcAft>
                <a:spcPts val="1200"/>
              </a:spcAft>
              <a:buClr>
                <a:srgbClr val="7F7F7F"/>
              </a:buClr>
              <a:buChar char="•"/>
            </a:pPr>
            <a:r>
              <a:rPr sz="2000" b="1" i="0">
                <a:solidFill>
                  <a:srgbClr val="262626"/>
                </a:solidFill>
                <a:latin typeface="Lato"/>
              </a:rPr>
              <a:t>MVIC</a:t>
            </a:r>
            <a:r>
              <a:rPr sz="2000" b="0" i="0">
                <a:solidFill>
                  <a:srgbClr val="262626"/>
                </a:solidFill>
                <a:latin typeface="Lato"/>
              </a:rPr>
              <a:t> (lực co cơ tĩnh tối đa) đo đầu buổi cho cả 34 người: lần đầu kiểm được chuẩn hoá ngoài set.</a:t>
            </a:r>
          </a:p>
          <a:p>
            <a:pPr marL="164592" indent="-164592" algn="l">
              <a:lnSpc>
                <a:spcPct val="105000"/>
              </a:lnSpc>
              <a:spcAft>
                <a:spcPts val="1200"/>
              </a:spcAft>
              <a:buClr>
                <a:srgbClr val="7F7F7F"/>
              </a:buClr>
              <a:buChar char="•"/>
            </a:pPr>
            <a:r>
              <a:rPr sz="2000" b="0" i="0">
                <a:solidFill>
                  <a:srgbClr val="262626"/>
                </a:solidFill>
                <a:latin typeface="Lato"/>
              </a:rPr>
              <a:t>182 set, 19 047 rep sau lọc; 44% rep có RIR ≥ 10, so với 86% trên Zenodo.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SO SÁNH HAI DATASET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32</a:t>
            </a:r>
          </a:p>
        </p:txBody>
      </p:sp>
      <p:graphicFrame>
        <p:nvGraphicFramePr>
          <p:cNvPr id="17" name="Table 16"/>
          <p:cNvGraphicFramePr>
            <a:graphicFrameLocks noGrp="1"/>
          </p:cNvGraphicFramePr>
          <p:nvPr/>
        </p:nvGraphicFramePr>
        <p:xfrm>
          <a:off x="365760" y="1737360"/>
          <a:ext cx="8412480" cy="4279392"/>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47472">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Zenodo 14182446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WSD4FEDSRM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93192">
                <a:tc>
                  <a:txBody>
                    <a:bodyPr/>
                    <a:lstStyle/>
                    <a:p>
                      <a:pPr algn="l">
                        <a:spcAft>
                          <a:spcPts val="0"/>
                        </a:spcAft>
                      </a:pPr>
                      <a:r>
                        <a:rPr sz="1300" b="1" i="0">
                          <a:solidFill>
                            <a:srgbClr val="262626"/>
                          </a:solidFill>
                          <a:latin typeface="Lato"/>
                        </a:rPr>
                        <a:t>Số người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93192">
                <a:tc>
                  <a:txBody>
                    <a:bodyPr/>
                    <a:lstStyle/>
                    <a:p>
                      <a:pPr algn="l">
                        <a:spcAft>
                          <a:spcPts val="0"/>
                        </a:spcAft>
                      </a:pPr>
                      <a:r>
                        <a:rPr sz="1300" b="1" i="0">
                          <a:solidFill>
                            <a:srgbClr val="262626"/>
                          </a:solidFill>
                          <a:latin typeface="Lato"/>
                        </a:rPr>
                        <a:t>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12: 8 đơn khớp + 4 phức hợp; một cơ chủ vận mỗi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Xoay vai trong và ngoài; 6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393192">
                <a:tc>
                  <a:txBody>
                    <a:bodyPr/>
                    <a:lstStyle/>
                    <a:p>
                      <a:pPr algn="l">
                        <a:spcAft>
                          <a:spcPts val="0"/>
                        </a:spcAft>
                      </a:pPr>
                      <a:r>
                        <a:rPr sz="1300" b="1" i="0">
                          <a:solidFill>
                            <a:srgbClr val="262626"/>
                          </a:solidFill>
                          <a:latin typeface="Lato"/>
                        </a:rPr>
                        <a:t>Tải và nhịp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Không có trong tài liệu dataset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35 / 45 / 55% MVIC; metronome 3 s mỗi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393192">
                <a:tc>
                  <a:txBody>
                    <a:bodyPr/>
                    <a:lstStyle/>
                    <a:p>
                      <a:pPr algn="l">
                        <a:spcAft>
                          <a:spcPts val="0"/>
                        </a:spcAft>
                      </a:pPr>
                      <a:r>
                        <a:rPr sz="1300" b="1" i="0">
                          <a:solidFill>
                            <a:srgbClr val="262626"/>
                          </a:solidFill>
                          <a:latin typeface="Lato"/>
                        </a:rPr>
                        <a:t>Điểm kết thúc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Mỏi tự cảm nhận, 3 mức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Borg RPE 20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393192">
                <a:tc>
                  <a:txBody>
                    <a:bodyPr/>
                    <a:lstStyle/>
                    <a:p>
                      <a:pPr algn="l">
                        <a:spcAft>
                          <a:spcPts val="0"/>
                        </a:spcAft>
                      </a:pPr>
                      <a:r>
                        <a:rPr sz="1300" b="1" i="0">
                          <a:solidFill>
                            <a:srgbClr val="262626"/>
                          </a:solidFill>
                          <a:latin typeface="Lato"/>
                        </a:rPr>
                        <a:t>Tần số lấy mẫu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sEMG 1259 Hz</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sEMG 1000 Hz; IMU 100 Hz</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393192">
                <a:tc>
                  <a:txBody>
                    <a:bodyPr/>
                    <a:lstStyle/>
                    <a:p>
                      <a:pPr algn="l">
                        <a:spcAft>
                          <a:spcPts val="0"/>
                        </a:spcAft>
                      </a:pPr>
                      <a:r>
                        <a:rPr sz="1300" b="1" i="0">
                          <a:solidFill>
                            <a:srgbClr val="262626"/>
                          </a:solidFill>
                          <a:latin typeface="Lato"/>
                        </a:rPr>
                        <a:t>Set dùng được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156 → 141 set; 10 318 rep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204 → 182 set; 19 047 rep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393192">
                <a:tc>
                  <a:txBody>
                    <a:bodyPr/>
                    <a:lstStyle/>
                    <a:p>
                      <a:pPr algn="l">
                        <a:spcAft>
                          <a:spcPts val="0"/>
                        </a:spcAft>
                      </a:pPr>
                      <a:r>
                        <a:rPr sz="1300" b="1" i="0">
                          <a:solidFill>
                            <a:srgbClr val="262626"/>
                          </a:solidFill>
                          <a:latin typeface="Lato"/>
                        </a:rPr>
                        <a:t>Rep mỗi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Trung vị 55; 12–376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Trung vị 19; 4–67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393192">
                <a:tc>
                  <a:txBody>
                    <a:bodyPr/>
                    <a:lstStyle/>
                    <a:p>
                      <a:pPr algn="l">
                        <a:spcAft>
                          <a:spcPts val="0"/>
                        </a:spcAft>
                      </a:pPr>
                      <a:r>
                        <a:rPr sz="1300" b="1" i="0">
                          <a:solidFill>
                            <a:srgbClr val="262626"/>
                          </a:solidFill>
                          <a:latin typeface="Lato"/>
                        </a:rPr>
                        <a:t>Tách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Từ đường bao biên độ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Từ con quay hồi chuyển ở cánh tay</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r h="393192">
                <a:tc>
                  <a:txBody>
                    <a:bodyPr/>
                    <a:lstStyle/>
                    <a:p>
                      <a:pPr algn="l">
                        <a:spcAft>
                          <a:spcPts val="0"/>
                        </a:spcAft>
                      </a:pPr>
                      <a:r>
                        <a:rPr sz="1300" b="1" i="0">
                          <a:solidFill>
                            <a:srgbClr val="262626"/>
                          </a:solidFill>
                          <a:latin typeface="Lato"/>
                        </a:rPr>
                        <a:t>Naive baseline (RMSE)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27.76%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9"/>
                  </a:ext>
                </a:extLst>
              </a:tr>
              <a:tr h="393192">
                <a:tc>
                  <a:txBody>
                    <a:bodyPr/>
                    <a:lstStyle/>
                    <a:p>
                      <a:pPr algn="l">
                        <a:spcAft>
                          <a:spcPts val="0"/>
                        </a:spcAft>
                      </a:pPr>
                      <a:r>
                        <a:rPr sz="1300" b="1" i="0">
                          <a:solidFill>
                            <a:srgbClr val="262626"/>
                          </a:solidFill>
                          <a:latin typeface="Lato"/>
                        </a:rPr>
                        <a:t>Rep có RIR ≥ 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86.3%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44.0%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TIỀN XỬ LÝ</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33</a:t>
            </a:r>
          </a:p>
        </p:txBody>
      </p:sp>
      <p:graphicFrame>
        <p:nvGraphicFramePr>
          <p:cNvPr id="17" name="Table 16"/>
          <p:cNvGraphicFramePr>
            <a:graphicFrameLocks noGrp="1"/>
          </p:cNvGraphicFramePr>
          <p:nvPr/>
        </p:nvGraphicFramePr>
        <p:xfrm>
          <a:off x="365760" y="1737360"/>
          <a:ext cx="8412480" cy="3877056"/>
        </p:xfrm>
        <a:graphic>
          <a:graphicData uri="http://schemas.openxmlformats.org/drawingml/2006/table">
            <a:tbl>
              <a:tblPr/>
              <a:tblGrid>
                <a:gridCol w="164592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365760">
                <a:tc>
                  <a:txBody>
                    <a:bodyPr/>
                    <a:lstStyle/>
                    <a:p>
                      <a:pPr algn="l">
                        <a:spcAft>
                          <a:spcPts val="0"/>
                        </a:spcAft>
                      </a:pPr>
                      <a:r>
                        <a:rPr sz="1400" b="1" i="0">
                          <a:solidFill>
                            <a:srgbClr val="FFFFFF"/>
                          </a:solidFill>
                          <a:latin typeface="Lato"/>
                        </a:rPr>
                        <a:t>Bước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Thiết lập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38912">
                <a:tc>
                  <a:txBody>
                    <a:bodyPr/>
                    <a:lstStyle/>
                    <a:p>
                      <a:pPr algn="l">
                        <a:spcAft>
                          <a:spcPts val="0"/>
                        </a:spcAft>
                      </a:pPr>
                      <a:r>
                        <a:rPr sz="1400" b="1" i="0">
                          <a:solidFill>
                            <a:srgbClr val="262626"/>
                          </a:solidFill>
                          <a:latin typeface="Lato"/>
                        </a:rPr>
                        <a:t>Loại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Thời lượng EMG lệch thời lượng theo Borg quá 10 s → loại 1 set (lệch 41.1 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38912">
                <a:tc>
                  <a:txBody>
                    <a:bodyPr/>
                    <a:lstStyle/>
                    <a:p>
                      <a:pPr algn="l">
                        <a:spcAft>
                          <a:spcPts val="0"/>
                        </a:spcAft>
                      </a:pPr>
                      <a:r>
                        <a:rPr sz="1400" b="1" i="0">
                          <a:solidFill>
                            <a:srgbClr val="262626"/>
                          </a:solidFill>
                          <a:latin typeface="Lato"/>
                        </a:rPr>
                        <a:t>Kiểm kênh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Loại 2 kênh EMG hỏng (biên độ tới 10³⁴ mV); ngưỡng 10 mV, cách dữ liệu tốt 33 bậc độ lớn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38912">
                <a:tc>
                  <a:txBody>
                    <a:bodyPr/>
                    <a:lstStyle/>
                    <a:p>
                      <a:pPr algn="l">
                        <a:spcAft>
                          <a:spcPts val="0"/>
                        </a:spcAft>
                      </a:pPr>
                      <a:r>
                        <a:rPr sz="1400" b="1" i="0">
                          <a:solidFill>
                            <a:srgbClr val="262626"/>
                          </a:solidFill>
                          <a:latin typeface="Lato"/>
                        </a:rPr>
                        <a:t>Tách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Con quay cánh tay, trục có dấu; lọc 0.08–2.5 Hz; đỉnh cách ≥ 2 s; rep dài 2.0–4.5 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38912">
                <a:tc>
                  <a:txBody>
                    <a:bodyPr/>
                    <a:lstStyle/>
                    <a:p>
                      <a:pPr algn="l">
                        <a:spcAft>
                          <a:spcPts val="0"/>
                        </a:spcAft>
                      </a:pPr>
                      <a:r>
                        <a:rPr sz="1400" b="1" i="0">
                          <a:solidFill>
                            <a:srgbClr val="262626"/>
                          </a:solidFill>
                          <a:latin typeface="Lato"/>
                        </a:rPr>
                        <a:t>Lọc 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Butterworth bậc 4, 20–450 Hz, nhân quả (như thiết bị thật chạy theo thời gian thực)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438912">
                <a:tc>
                  <a:txBody>
                    <a:bodyPr/>
                    <a:lstStyle/>
                    <a:p>
                      <a:pPr algn="l">
                        <a:spcAft>
                          <a:spcPts val="0"/>
                        </a:spcAft>
                      </a:pPr>
                      <a:r>
                        <a:rPr sz="1400" b="1" i="0">
                          <a:solidFill>
                            <a:srgbClr val="262626"/>
                          </a:solidFill>
                          <a:latin typeface="Lato"/>
                        </a:rPr>
                        <a:t>Nhãn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FCF = k / N_total; RIR = min(N_total − k, 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438912">
                <a:tc>
                  <a:txBody>
                    <a:bodyPr/>
                    <a:lstStyle/>
                    <a:p>
                      <a:pPr algn="l">
                        <a:spcAft>
                          <a:spcPts val="0"/>
                        </a:spcAft>
                      </a:pPr>
                      <a:r>
                        <a:rPr sz="1400" b="1" i="0">
                          <a:solidFill>
                            <a:srgbClr val="262626"/>
                          </a:solidFill>
                          <a:latin typeface="Lato"/>
                        </a:rPr>
                        <a:t>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Bỏ 3 rep tham chiếu khỏi cả train lẫn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438912">
                <a:tc>
                  <a:txBody>
                    <a:bodyPr/>
                    <a:lstStyle/>
                    <a:p>
                      <a:pPr algn="l">
                        <a:spcAft>
                          <a:spcPts val="0"/>
                        </a:spcAft>
                      </a:pPr>
                      <a:r>
                        <a:rPr sz="1400" b="1" i="0">
                          <a:solidFill>
                            <a:srgbClr val="262626"/>
                          </a:solidFill>
                          <a:latin typeface="Lato"/>
                        </a:rPr>
                        <a:t>Lọc IQR</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Như Zenodo: 23 451 → 19 047 rep, 203 → 182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438912">
                <a:tc>
                  <a:txBody>
                    <a:bodyPr/>
                    <a:lstStyle/>
                    <a:p>
                      <a:pPr algn="l">
                        <a:spcAft>
                          <a:spcPts val="0"/>
                        </a:spcAft>
                      </a:pPr>
                      <a:r>
                        <a:rPr sz="1400" b="1" i="0">
                          <a:solidFill>
                            <a:srgbClr val="262626"/>
                          </a:solidFill>
                          <a:latin typeface="Lato"/>
                        </a:rPr>
                        <a:t>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Theo MVIC: ln(x / μ_MVIC), cấu hình chính · theo 3 rep tham chiếu · không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365760" y="5724144"/>
            <a:ext cx="8412480" cy="411480"/>
          </a:xfrm>
          <a:prstGeom prst="rect">
            <a:avLst/>
          </a:prstGeom>
          <a:noFill/>
        </p:spPr>
        <p:txBody>
          <a:bodyPr wrap="square" lIns="36576" tIns="36576" rIns="36576" bIns="36576" anchor="t">
            <a:spAutoFit/>
          </a:bodyPr>
          <a:lstStyle/>
          <a:p>
            <a:pPr algn="l">
              <a:lnSpc>
                <a:spcPct val="105000"/>
              </a:lnSpc>
              <a:spcAft>
                <a:spcPts val="1000"/>
              </a:spcAft>
            </a:pPr>
            <a:r>
              <a:rPr sz="1500" b="0" i="0">
                <a:solidFill>
                  <a:srgbClr val="262626"/>
                </a:solidFill>
                <a:latin typeface="Lato"/>
              </a:rPr>
              <a:t>Toàn bộ pipeline khoá trước khi chạy mô hình nào.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NĂM CÂU HỎI KHAI BÁO TRƯỚC</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34</a:t>
            </a:r>
          </a:p>
        </p:txBody>
      </p:sp>
      <p:sp>
        <p:nvSpPr>
          <p:cNvPr id="17" name="TextBox 16"/>
          <p:cNvSpPr txBox="1"/>
          <p:nvPr/>
        </p:nvSpPr>
        <p:spPr>
          <a:xfrm>
            <a:off x="365760" y="1737360"/>
            <a:ext cx="8412480" cy="777240"/>
          </a:xfrm>
          <a:prstGeom prst="rect">
            <a:avLst/>
          </a:prstGeom>
          <a:noFill/>
        </p:spPr>
        <p:txBody>
          <a:bodyPr wrap="square" lIns="36576" tIns="36576" rIns="36576" bIns="36576" anchor="t">
            <a:spAutoFit/>
          </a:bodyPr>
          <a:lstStyle/>
          <a:p>
            <a:pPr algn="l">
              <a:spcAft>
                <a:spcPts val="400"/>
              </a:spcAft>
            </a:pPr>
            <a:r>
              <a:rPr sz="1700" b="0" i="0">
                <a:solidFill>
                  <a:srgbClr val="262626"/>
                </a:solidFill>
                <a:latin typeface="Lato"/>
              </a:rPr>
              <a:t>Kế hoạch phân tích khoá ngày </a:t>
            </a:r>
            <a:r>
              <a:rPr sz="1700" b="1" i="0">
                <a:solidFill>
                  <a:srgbClr val="262626"/>
                </a:solidFill>
                <a:latin typeface="Lato"/>
              </a:rPr>
              <a:t>18/9</a:t>
            </a:r>
            <a:r>
              <a:rPr sz="1700" b="0" i="0">
                <a:solidFill>
                  <a:srgbClr val="262626"/>
                </a:solidFill>
                <a:latin typeface="Lato"/>
              </a:rPr>
              <a:t>, trước khi chạy bất kỳ mô hình nào; kết quả chỉ được nối thêm, không sửa phần đã khai.</a:t>
            </a:r>
          </a:p>
        </p:txBody>
      </p:sp>
      <p:sp>
        <p:nvSpPr>
          <p:cNvPr id="18" name="Oval 17"/>
          <p:cNvSpPr/>
          <p:nvPr/>
        </p:nvSpPr>
        <p:spPr>
          <a:xfrm>
            <a:off x="365760" y="2697479"/>
            <a:ext cx="457200" cy="45720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1</a:t>
            </a:r>
          </a:p>
        </p:txBody>
      </p:sp>
      <p:sp>
        <p:nvSpPr>
          <p:cNvPr id="19" name="TextBox 18"/>
          <p:cNvSpPr txBox="1"/>
          <p:nvPr/>
        </p:nvSpPr>
        <p:spPr>
          <a:xfrm>
            <a:off x="1005840" y="2651760"/>
            <a:ext cx="7772400" cy="548640"/>
          </a:xfrm>
          <a:prstGeom prst="rect">
            <a:avLst/>
          </a:prstGeom>
          <a:noFill/>
        </p:spPr>
        <p:txBody>
          <a:bodyPr wrap="square" lIns="36576" tIns="36576" rIns="36576" bIns="36576" anchor="ctr">
            <a:spAutoFit/>
          </a:bodyPr>
          <a:lstStyle/>
          <a:p>
            <a:pPr algn="l">
              <a:spcAft>
                <a:spcPts val="400"/>
              </a:spcAft>
            </a:pPr>
            <a:r>
              <a:rPr sz="1800" b="1" i="0">
                <a:solidFill>
                  <a:srgbClr val="262626"/>
                </a:solidFill>
                <a:latin typeface="Lato"/>
              </a:rPr>
              <a:t>Ở điều kiện bình thường, rep-count baseline có còn tốt hơn sEMG?</a:t>
            </a:r>
          </a:p>
        </p:txBody>
      </p:sp>
      <p:sp>
        <p:nvSpPr>
          <p:cNvPr id="20" name="Oval 19"/>
          <p:cNvSpPr/>
          <p:nvPr/>
        </p:nvSpPr>
        <p:spPr>
          <a:xfrm>
            <a:off x="365760" y="3392424"/>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2</a:t>
            </a:r>
          </a:p>
        </p:txBody>
      </p:sp>
      <p:sp>
        <p:nvSpPr>
          <p:cNvPr id="21" name="TextBox 20"/>
          <p:cNvSpPr txBox="1"/>
          <p:nvPr/>
        </p:nvSpPr>
        <p:spPr>
          <a:xfrm>
            <a:off x="1005840" y="3346704"/>
            <a:ext cx="7772400" cy="548640"/>
          </a:xfrm>
          <a:prstGeom prst="rect">
            <a:avLst/>
          </a:prstGeom>
          <a:noFill/>
        </p:spPr>
        <p:txBody>
          <a:bodyPr wrap="square" lIns="36576" tIns="36576" rIns="36576" bIns="36576" anchor="ctr">
            <a:spAutoFit/>
          </a:bodyPr>
          <a:lstStyle/>
          <a:p>
            <a:pPr algn="l">
              <a:spcAft>
                <a:spcPts val="400"/>
              </a:spcAft>
            </a:pPr>
            <a:r>
              <a:rPr sz="1800" b="0" i="0">
                <a:solidFill>
                  <a:srgbClr val="262626"/>
                </a:solidFill>
                <a:latin typeface="Lato"/>
              </a:rPr>
              <a:t>Chuẩn hoá theo MVIC có tốt hơn theo 3 rep tham chiếu? (dự báo: có)</a:t>
            </a:r>
          </a:p>
        </p:txBody>
      </p:sp>
      <p:sp>
        <p:nvSpPr>
          <p:cNvPr id="22" name="Oval 21"/>
          <p:cNvSpPr/>
          <p:nvPr/>
        </p:nvSpPr>
        <p:spPr>
          <a:xfrm>
            <a:off x="365760" y="4087368"/>
            <a:ext cx="457200" cy="45720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3</a:t>
            </a:r>
          </a:p>
        </p:txBody>
      </p:sp>
      <p:sp>
        <p:nvSpPr>
          <p:cNvPr id="23" name="TextBox 22"/>
          <p:cNvSpPr txBox="1"/>
          <p:nvPr/>
        </p:nvSpPr>
        <p:spPr>
          <a:xfrm>
            <a:off x="1005840" y="4041648"/>
            <a:ext cx="7772400" cy="548640"/>
          </a:xfrm>
          <a:prstGeom prst="rect">
            <a:avLst/>
          </a:prstGeom>
          <a:noFill/>
        </p:spPr>
        <p:txBody>
          <a:bodyPr wrap="square" lIns="36576" tIns="36576" rIns="36576" bIns="36576" anchor="ctr">
            <a:spAutoFit/>
          </a:bodyPr>
          <a:lstStyle/>
          <a:p>
            <a:pPr algn="l">
              <a:spcAft>
                <a:spcPts val="400"/>
              </a:spcAft>
            </a:pPr>
            <a:r>
              <a:rPr sz="1800" b="1" i="0">
                <a:solidFill>
                  <a:srgbClr val="262626"/>
                </a:solidFill>
                <a:latin typeface="Lato"/>
              </a:rPr>
              <a:t>Ở mức tải chưa gặp khi train, sEMG có bền hơn rep-count baseline?</a:t>
            </a:r>
          </a:p>
        </p:txBody>
      </p:sp>
      <p:sp>
        <p:nvSpPr>
          <p:cNvPr id="24" name="Oval 23"/>
          <p:cNvSpPr/>
          <p:nvPr/>
        </p:nvSpPr>
        <p:spPr>
          <a:xfrm>
            <a:off x="365760" y="4782312"/>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4</a:t>
            </a:r>
          </a:p>
        </p:txBody>
      </p:sp>
      <p:sp>
        <p:nvSpPr>
          <p:cNvPr id="25" name="TextBox 24"/>
          <p:cNvSpPr txBox="1"/>
          <p:nvPr/>
        </p:nvSpPr>
        <p:spPr>
          <a:xfrm>
            <a:off x="1005840" y="4736592"/>
            <a:ext cx="7772400" cy="548640"/>
          </a:xfrm>
          <a:prstGeom prst="rect">
            <a:avLst/>
          </a:prstGeom>
          <a:noFill/>
        </p:spPr>
        <p:txBody>
          <a:bodyPr wrap="square" lIns="36576" tIns="36576" rIns="36576" bIns="36576" anchor="ctr">
            <a:spAutoFit/>
          </a:bodyPr>
          <a:lstStyle/>
          <a:p>
            <a:pPr algn="l">
              <a:spcAft>
                <a:spcPts val="400"/>
              </a:spcAft>
            </a:pPr>
            <a:r>
              <a:rPr sz="1800" b="0" i="0">
                <a:solidFill>
                  <a:srgbClr val="262626"/>
                </a:solidFill>
                <a:latin typeface="Lato"/>
              </a:rPr>
              <a:t>sEMG có nhận ra đang tập động tác nào, mức tải nào?</a:t>
            </a:r>
          </a:p>
        </p:txBody>
      </p:sp>
      <p:sp>
        <p:nvSpPr>
          <p:cNvPr id="26" name="Oval 25"/>
          <p:cNvSpPr/>
          <p:nvPr/>
        </p:nvSpPr>
        <p:spPr>
          <a:xfrm>
            <a:off x="365760" y="5477255"/>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5</a:t>
            </a:r>
          </a:p>
        </p:txBody>
      </p:sp>
      <p:sp>
        <p:nvSpPr>
          <p:cNvPr id="27" name="TextBox 26"/>
          <p:cNvSpPr txBox="1"/>
          <p:nvPr/>
        </p:nvSpPr>
        <p:spPr>
          <a:xfrm>
            <a:off x="1005840" y="5431536"/>
            <a:ext cx="7772400" cy="548640"/>
          </a:xfrm>
          <a:prstGeom prst="rect">
            <a:avLst/>
          </a:prstGeom>
          <a:noFill/>
        </p:spPr>
        <p:txBody>
          <a:bodyPr wrap="square" lIns="36576" tIns="36576" rIns="36576" bIns="36576" anchor="ctr">
            <a:spAutoFit/>
          </a:bodyPr>
          <a:lstStyle/>
          <a:p>
            <a:pPr algn="l">
              <a:spcAft>
                <a:spcPts val="400"/>
              </a:spcAft>
            </a:pPr>
            <a:r>
              <a:rPr sz="1800" b="0" i="0">
                <a:solidFill>
                  <a:srgbClr val="262626"/>
                </a:solidFill>
                <a:latin typeface="Lato"/>
              </a:rPr>
              <a:t>Ước lượng RIR thay vì FCF có đổi kết luận?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HAI DATASET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35</a:t>
            </a:r>
          </a:p>
        </p:txBody>
      </p:sp>
      <p:graphicFrame>
        <p:nvGraphicFramePr>
          <p:cNvPr id="17" name="Chart 16"/>
          <p:cNvGraphicFramePr>
            <a:graphicFrameLocks noGrp="1"/>
          </p:cNvGraphicFramePr>
          <p:nvPr/>
        </p:nvGraphicFramePr>
        <p:xfrm>
          <a:off x="365760" y="1691639"/>
          <a:ext cx="84124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365760" y="4800600"/>
            <a:ext cx="8412480" cy="1463039"/>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RMSE (%), mỗi nhóm cột là một tập rep riêng. Trên cả hai dataset, rep-count baseline tốt hơn sEMG, kể cả khi tải thay đổi; ngoại lệ duy nhất là độ dài set mới trên Zenodo.</a:t>
            </a:r>
          </a:p>
          <a:p>
            <a:pPr marL="164592" indent="-164592" algn="l">
              <a:lnSpc>
                <a:spcPct val="105000"/>
              </a:lnSpc>
              <a:spcAft>
                <a:spcPts val="600"/>
              </a:spcAft>
              <a:buClr>
                <a:srgbClr val="7F7F7F"/>
              </a:buClr>
              <a:buChar char="•"/>
            </a:pPr>
            <a:r>
              <a:rPr sz="1500" b="0" i="0">
                <a:solidFill>
                  <a:srgbClr val="262626"/>
                </a:solidFill>
                <a:latin typeface="Lato"/>
              </a:rPr>
              <a:t>Rep-count baseline tốt nhất được chọn sau khi thấy số; baseline khai báo trước vẫn tốt hơn sEMG chính </a:t>
            </a:r>
            <a:r>
              <a:rPr sz="1500" b="1" i="0">
                <a:solidFill>
                  <a:srgbClr val="262626"/>
                </a:solidFill>
                <a:latin typeface="Lato"/>
              </a:rPr>
              <a:t>8.26pp</a:t>
            </a:r>
            <a:r>
              <a:rPr sz="1500" b="0" i="0">
                <a:solidFill>
                  <a:srgbClr val="262626"/>
                </a:solidFill>
                <a:latin typeface="Lato"/>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1: ĐIỀU KIỆN BÌNH THƯỜNG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36</a:t>
            </a:r>
          </a:p>
        </p:txBody>
      </p:sp>
      <p:graphicFrame>
        <p:nvGraphicFramePr>
          <p:cNvPr id="17" name="Table 16"/>
          <p:cNvGraphicFramePr>
            <a:graphicFrameLocks noGrp="1"/>
          </p:cNvGraphicFramePr>
          <p:nvPr/>
        </p:nvGraphicFramePr>
        <p:xfrm>
          <a:off x="365760" y="1737360"/>
          <a:ext cx="8412480" cy="3547872"/>
        </p:xfrm>
        <a:graphic>
          <a:graphicData uri="http://schemas.openxmlformats.org/drawingml/2006/table">
            <a:tbl>
              <a:tblPr/>
              <a:tblGrid>
                <a:gridCol w="31089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329184">
                <a:tc>
                  <a:txBody>
                    <a:bodyPr/>
                    <a:lstStyle/>
                    <a:p>
                      <a:pPr algn="l">
                        <a:spcAft>
                          <a:spcPts val="0"/>
                        </a:spcAft>
                      </a:pPr>
                      <a:r>
                        <a:rPr sz="13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Hơn naive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Nhãn xáo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Thật − xáo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292608">
                <a:tc>
                  <a:txBody>
                    <a:bodyPr/>
                    <a:lstStyle/>
                    <a:p>
                      <a:pPr algn="l">
                        <a:spcAft>
                          <a:spcPts val="0"/>
                        </a:spcAft>
                      </a:pPr>
                      <a:r>
                        <a:rPr sz="13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292608">
                <a:tc>
                  <a:txBody>
                    <a:bodyPr/>
                    <a:lstStyle/>
                    <a:p>
                      <a:pPr algn="l">
                        <a:spcAft>
                          <a:spcPts val="0"/>
                        </a:spcAft>
                      </a:pPr>
                      <a:r>
                        <a:rPr sz="130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15.50%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37.36%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292608">
                <a:tc>
                  <a:txBody>
                    <a:bodyPr/>
                    <a:lstStyle/>
                    <a:p>
                      <a:pPr algn="l">
                        <a:spcAft>
                          <a:spcPts val="0"/>
                        </a:spcAft>
                      </a:pPr>
                      <a:r>
                        <a:rPr sz="130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14.92%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39.82%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292608">
                <a:tc>
                  <a:txBody>
                    <a:bodyPr/>
                    <a:lstStyle/>
                    <a:p>
                      <a:pPr algn="l">
                        <a:spcAft>
                          <a:spcPts val="0"/>
                        </a:spcAft>
                      </a:pPr>
                      <a:r>
                        <a:rPr sz="130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15.06%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39.15%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292608">
                <a:tc>
                  <a:txBody>
                    <a:bodyPr/>
                    <a:lstStyle/>
                    <a:p>
                      <a:pPr algn="l">
                        <a:spcAft>
                          <a:spcPts val="0"/>
                        </a:spcAft>
                      </a:pPr>
                      <a:r>
                        <a:rPr sz="1300" b="1" i="0">
                          <a:solidFill>
                            <a:srgbClr val="262626"/>
                          </a:solidFill>
                          <a:latin typeface="Lato"/>
                        </a:rPr>
                        <a:t>Rep-count (k, tải,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12.67%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48.65%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292608">
                <a:tc>
                  <a:txBody>
                    <a:bodyPr/>
                    <a:lstStyle/>
                    <a:p>
                      <a:pPr algn="l">
                        <a:spcAft>
                          <a:spcPts val="0"/>
                        </a:spcAft>
                      </a:pPr>
                      <a:r>
                        <a:rPr sz="1300" b="1" i="0">
                          <a:solidFill>
                            <a:srgbClr val="262626"/>
                          </a:solidFill>
                          <a:latin typeface="Lato"/>
                        </a:rPr>
                        <a:t>Rep-count, ngoại suy từ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13.90%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43.80%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292608">
                <a:tc>
                  <a:txBody>
                    <a:bodyPr/>
                    <a:lstStyle/>
                    <a:p>
                      <a:pPr algn="l">
                        <a:spcAft>
                          <a:spcPts val="0"/>
                        </a:spcAft>
                      </a:pPr>
                      <a:r>
                        <a:rPr sz="1300" b="1" i="0">
                          <a:solidFill>
                            <a:srgbClr val="262626"/>
                          </a:solidFill>
                          <a:latin typeface="Lato"/>
                        </a:rPr>
                        <a:t>sEMG, không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22.99%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7.30%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+1.82pp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292608">
                <a:tc>
                  <a:txBody>
                    <a:bodyPr/>
                    <a:lstStyle/>
                    <a:p>
                      <a:pPr algn="l">
                        <a:spcAft>
                          <a:spcPts val="0"/>
                        </a:spcAft>
                      </a:pPr>
                      <a:r>
                        <a:rPr sz="1300" b="1" i="0">
                          <a:solidFill>
                            <a:srgbClr val="262626"/>
                          </a:solidFill>
                          <a:latin typeface="Lato"/>
                        </a:rPr>
                        <a:t>sEMG, theo MVIC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5.91%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24.73%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+1.41pp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r h="292608">
                <a:tc>
                  <a:txBody>
                    <a:bodyPr/>
                    <a:lstStyle/>
                    <a:p>
                      <a:pPr algn="l">
                        <a:spcAft>
                          <a:spcPts val="0"/>
                        </a:spcAft>
                      </a:pPr>
                      <a:r>
                        <a:rPr sz="130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20.62%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16.78%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24.87%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+4.25pp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9"/>
                  </a:ext>
                </a:extLst>
              </a:tr>
              <a:tr h="292608">
                <a:tc>
                  <a:txBody>
                    <a:bodyPr/>
                    <a:lstStyle/>
                    <a:p>
                      <a:pPr algn="l">
                        <a:spcAft>
                          <a:spcPts val="0"/>
                        </a:spcAft>
                      </a:pPr>
                      <a:r>
                        <a:rPr sz="1300" b="1" i="0">
                          <a:solidFill>
                            <a:srgbClr val="262626"/>
                          </a:solidFill>
                          <a:latin typeface="Lato"/>
                        </a:rPr>
                        <a:t>sEMG, z-score theo 3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21.43%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13.56%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24.73%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+3.31pp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10"/>
                  </a:ext>
                </a:extLst>
              </a:tr>
              <a:tr h="292608">
                <a:tc>
                  <a:txBody>
                    <a:bodyPr/>
                    <a:lstStyle/>
                    <a:p>
                      <a:pPr algn="l">
                        <a:spcAft>
                          <a:spcPts val="0"/>
                        </a:spcAft>
                      </a:pPr>
                      <a:r>
                        <a:rPr sz="1300" b="1" i="0">
                          <a:solidFill>
                            <a:srgbClr val="262626"/>
                          </a:solidFill>
                          <a:latin typeface="Lato"/>
                        </a:rPr>
                        <a:t>sEMG, tự chọn đặc trưng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5.93%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24.73%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+1.41pp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11"/>
                  </a:ext>
                </a:extLst>
              </a:tr>
            </a:tbl>
          </a:graphicData>
        </a:graphic>
      </p:graphicFrame>
      <p:sp>
        <p:nvSpPr>
          <p:cNvPr id="18" name="TextBox 17"/>
          <p:cNvSpPr txBox="1"/>
          <p:nvPr/>
        </p:nvSpPr>
        <p:spPr>
          <a:xfrm>
            <a:off x="365760" y="5376671"/>
            <a:ext cx="8412480" cy="731520"/>
          </a:xfrm>
          <a:prstGeom prst="rect">
            <a:avLst/>
          </a:prstGeom>
          <a:noFill/>
        </p:spPr>
        <p:txBody>
          <a:bodyPr wrap="square" lIns="36576" tIns="36576" rIns="36576" bIns="36576" anchor="t">
            <a:spAutoFit/>
          </a:bodyPr>
          <a:lstStyle/>
          <a:p>
            <a:pPr algn="l">
              <a:lnSpc>
                <a:spcPct val="105000"/>
              </a:lnSpc>
              <a:spcAft>
                <a:spcPts val="1000"/>
              </a:spcAft>
            </a:pPr>
            <a:r>
              <a:rPr sz="1500" b="0" i="0">
                <a:solidFill>
                  <a:srgbClr val="262626"/>
                </a:solidFill>
                <a:latin typeface="Lato"/>
              </a:rPr>
              <a:t>Mọi rep-count baseline tốt hơn mọi cấu hình sEMG. sEMG có học tín hiệu thật: luôn tốt hơn chính nó khi nhãn bị xáo.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2: MVIC HAY 3 REP THAM CHIẾU</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37</a:t>
            </a:r>
          </a:p>
        </p:txBody>
      </p:sp>
      <p:sp>
        <p:nvSpPr>
          <p:cNvPr id="17" name="TextBox 16"/>
          <p:cNvSpPr txBox="1"/>
          <p:nvPr/>
        </p:nvSpPr>
        <p:spPr>
          <a:xfrm>
            <a:off x="365760" y="1737360"/>
            <a:ext cx="2560320" cy="731520"/>
          </a:xfrm>
          <a:prstGeom prst="rect">
            <a:avLst/>
          </a:prstGeom>
          <a:noFill/>
        </p:spPr>
        <p:txBody>
          <a:bodyPr wrap="square" lIns="36576" tIns="36576" rIns="36576" bIns="36576" anchor="b">
            <a:spAutoFit/>
          </a:bodyPr>
          <a:lstStyle/>
          <a:p>
            <a:pPr algn="l">
              <a:spcAft>
                <a:spcPts val="400"/>
              </a:spcAft>
            </a:pPr>
            <a:r>
              <a:rPr sz="4000" b="1" i="0">
                <a:solidFill>
                  <a:srgbClr val="C02034"/>
                </a:solidFill>
                <a:latin typeface="Lato"/>
              </a:rPr>
              <a:t>23.32%</a:t>
            </a:r>
          </a:p>
        </p:txBody>
      </p:sp>
      <p:sp>
        <p:nvSpPr>
          <p:cNvPr id="18" name="TextBox 17"/>
          <p:cNvSpPr txBox="1"/>
          <p:nvPr/>
        </p:nvSpPr>
        <p:spPr>
          <a:xfrm>
            <a:off x="365760" y="2514600"/>
            <a:ext cx="256032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sEMG, chuẩn hoá
theo MVIC</a:t>
            </a:r>
          </a:p>
        </p:txBody>
      </p:sp>
      <p:sp>
        <p:nvSpPr>
          <p:cNvPr id="19" name="TextBox 18"/>
          <p:cNvSpPr txBox="1"/>
          <p:nvPr/>
        </p:nvSpPr>
        <p:spPr>
          <a:xfrm>
            <a:off x="3108960" y="1737360"/>
            <a:ext cx="2560320" cy="731520"/>
          </a:xfrm>
          <a:prstGeom prst="rect">
            <a:avLst/>
          </a:prstGeom>
          <a:noFill/>
        </p:spPr>
        <p:txBody>
          <a:bodyPr wrap="square" lIns="36576" tIns="36576" rIns="36576" bIns="36576" anchor="b">
            <a:spAutoFit/>
          </a:bodyPr>
          <a:lstStyle/>
          <a:p>
            <a:pPr algn="l">
              <a:spcAft>
                <a:spcPts val="400"/>
              </a:spcAft>
            </a:pPr>
            <a:r>
              <a:rPr sz="4000" b="1" i="0">
                <a:solidFill>
                  <a:srgbClr val="C02034"/>
                </a:solidFill>
                <a:latin typeface="Lato"/>
              </a:rPr>
              <a:t>20.62%</a:t>
            </a:r>
          </a:p>
        </p:txBody>
      </p:sp>
      <p:sp>
        <p:nvSpPr>
          <p:cNvPr id="20" name="TextBox 19"/>
          <p:cNvSpPr txBox="1"/>
          <p:nvPr/>
        </p:nvSpPr>
        <p:spPr>
          <a:xfrm>
            <a:off x="3108960" y="2514600"/>
            <a:ext cx="256032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sEMG, chuẩn hoá theo
3 rep tham chiếu</a:t>
            </a:r>
          </a:p>
        </p:txBody>
      </p:sp>
      <p:sp>
        <p:nvSpPr>
          <p:cNvPr id="21" name="TextBox 20"/>
          <p:cNvSpPr txBox="1"/>
          <p:nvPr/>
        </p:nvSpPr>
        <p:spPr>
          <a:xfrm>
            <a:off x="365760" y="3566160"/>
            <a:ext cx="8412480" cy="265176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700" b="0" i="0">
                <a:solidFill>
                  <a:srgbClr val="262626"/>
                </a:solidFill>
                <a:latin typeface="Lato"/>
              </a:rPr>
              <a:t>Chuẩn hoá theo MVIC kém hơn </a:t>
            </a:r>
            <a:r>
              <a:rPr sz="1700" b="1" i="0">
                <a:solidFill>
                  <a:srgbClr val="262626"/>
                </a:solidFill>
                <a:latin typeface="Lato"/>
              </a:rPr>
              <a:t>2.70pp</a:t>
            </a:r>
            <a:r>
              <a:rPr sz="1700" b="0" i="0">
                <a:solidFill>
                  <a:srgbClr val="262626"/>
                </a:solidFill>
                <a:latin typeface="Lato"/>
              </a:rPr>
              <a:t> [2.05, 3.28]: ngược với dự báo khai trước.</a:t>
            </a:r>
          </a:p>
          <a:p>
            <a:pPr marL="164592" indent="-164592" algn="l">
              <a:lnSpc>
                <a:spcPct val="105000"/>
              </a:lnSpc>
              <a:spcAft>
                <a:spcPts val="1000"/>
              </a:spcAft>
              <a:buClr>
                <a:srgbClr val="7F7F7F"/>
              </a:buClr>
              <a:buChar char="•"/>
            </a:pPr>
            <a:r>
              <a:rPr sz="1700" b="0" i="0">
                <a:solidFill>
                  <a:srgbClr val="262626"/>
                </a:solidFill>
                <a:latin typeface="Lato"/>
              </a:rPr>
              <a:t>Không phải do đo MVIC nhiễu: bỏ 19 lần đo MVIC nhiễu nhất, chênh lệch chỉ dịch 0.07pp.</a:t>
            </a:r>
          </a:p>
          <a:p>
            <a:pPr marL="164592" indent="-164592" algn="l">
              <a:lnSpc>
                <a:spcPct val="105000"/>
              </a:lnSpc>
              <a:spcAft>
                <a:spcPts val="1000"/>
              </a:spcAft>
              <a:buClr>
                <a:srgbClr val="7F7F7F"/>
              </a:buClr>
              <a:buChar char="•"/>
            </a:pPr>
            <a:r>
              <a:rPr sz="1700" b="0" i="0">
                <a:solidFill>
                  <a:srgbClr val="262626"/>
                </a:solidFill>
                <a:latin typeface="Lato"/>
              </a:rPr>
              <a:t>Trên Zenodo (kiểm ngày 1/10) cũng cùng chiều: MVC kém 3 rep tham chiếu 2.11pp.</a:t>
            </a:r>
          </a:p>
          <a:p>
            <a:pPr marL="164592" indent="-164592" algn="l">
              <a:lnSpc>
                <a:spcPct val="105000"/>
              </a:lnSpc>
              <a:spcAft>
                <a:spcPts val="1000"/>
              </a:spcAft>
              <a:buClr>
                <a:srgbClr val="7F7F7F"/>
              </a:buClr>
              <a:buChar char="•"/>
            </a:pPr>
            <a:r>
              <a:rPr sz="1700" b="0" i="0">
                <a:solidFill>
                  <a:srgbClr val="262626"/>
                </a:solidFill>
                <a:latin typeface="Lato"/>
              </a:rPr>
              <a:t>Cấu hình chính vẫn là MVIC: đổi cấu hình sau khi thấy số là chọn theo kết quả; cấu hình tốt hơn vẫn có mặt trong mọi bảng với nhãn rõ.</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3: TẢI 55% CHƯA GẶP KHI TRAIN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38</a:t>
            </a:r>
          </a:p>
        </p:txBody>
      </p:sp>
      <p:graphicFrame>
        <p:nvGraphicFramePr>
          <p:cNvPr id="17" name="Table 16"/>
          <p:cNvGraphicFramePr>
            <a:graphicFrameLocks noGrp="1"/>
          </p:cNvGraphicFramePr>
          <p:nvPr/>
        </p:nvGraphicFramePr>
        <p:xfrm>
          <a:off x="365760" y="1737360"/>
          <a:ext cx="8412480" cy="3127248"/>
        </p:xfrm>
        <a:graphic>
          <a:graphicData uri="http://schemas.openxmlformats.org/drawingml/2006/table">
            <a:tbl>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9184">
                <a:tc>
                  <a:txBody>
                    <a:bodyPr/>
                    <a:lstStyle/>
                    <a:p>
                      <a:pPr algn="l">
                        <a:spcAft>
                          <a:spcPts val="0"/>
                        </a:spcAft>
                      </a:pPr>
                      <a:r>
                        <a:rPr sz="13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CI 95%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Hơn naive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10896">
                <a:tc>
                  <a:txBody>
                    <a:bodyPr/>
                    <a:lstStyle/>
                    <a:p>
                      <a:pPr algn="l">
                        <a:spcAft>
                          <a:spcPts val="0"/>
                        </a:spcAft>
                      </a:pPr>
                      <a:r>
                        <a:rPr sz="13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[23.76, 24.24]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10896">
                <a:tc>
                  <a:txBody>
                    <a:bodyPr/>
                    <a:lstStyle/>
                    <a:p>
                      <a:pPr algn="l">
                        <a:spcAft>
                          <a:spcPts val="0"/>
                        </a:spcAft>
                      </a:pPr>
                      <a:r>
                        <a:rPr sz="130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18.00%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[16.09, 20.03]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23.76%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310896">
                <a:tc>
                  <a:txBody>
                    <a:bodyPr/>
                    <a:lstStyle/>
                    <a:p>
                      <a:pPr algn="l">
                        <a:spcAft>
                          <a:spcPts val="0"/>
                        </a:spcAft>
                      </a:pPr>
                      <a:r>
                        <a:rPr sz="130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17.65%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[15.75, 19.71]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25.29%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310896">
                <a:tc>
                  <a:txBody>
                    <a:bodyPr/>
                    <a:lstStyle/>
                    <a:p>
                      <a:pPr algn="l">
                        <a:spcAft>
                          <a:spcPts val="0"/>
                        </a:spcAft>
                      </a:pPr>
                      <a:r>
                        <a:rPr sz="130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 suy biến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[23.76, 24.24]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0.00%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310896">
                <a:tc>
                  <a:txBody>
                    <a:bodyPr/>
                    <a:lstStyle/>
                    <a:p>
                      <a:pPr algn="l">
                        <a:spcAft>
                          <a:spcPts val="0"/>
                        </a:spcAft>
                      </a:pPr>
                      <a:r>
                        <a:rPr sz="1300" b="1" i="0">
                          <a:solidFill>
                            <a:srgbClr val="262626"/>
                          </a:solidFill>
                          <a:latin typeface="Lato"/>
                        </a:rPr>
                        <a:t>Rep-count, ngoại suy từ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13.08%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[11.34, 14.84]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46.18%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310896">
                <a:tc>
                  <a:txBody>
                    <a:bodyPr/>
                    <a:lstStyle/>
                    <a:p>
                      <a:pPr algn="l">
                        <a:spcAft>
                          <a:spcPts val="0"/>
                        </a:spcAft>
                      </a:pPr>
                      <a:r>
                        <a:rPr sz="1300" b="1" i="0">
                          <a:solidFill>
                            <a:srgbClr val="262626"/>
                          </a:solidFill>
                          <a:latin typeface="Lato"/>
                        </a:rPr>
                        <a:t>sEMG, không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22.19%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[21.70, 22.69]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7.58%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310896">
                <a:tc>
                  <a:txBody>
                    <a:bodyPr/>
                    <a:lstStyle/>
                    <a:p>
                      <a:pPr algn="l">
                        <a:spcAft>
                          <a:spcPts val="0"/>
                        </a:spcAft>
                      </a:pPr>
                      <a:r>
                        <a:rPr sz="1300" b="1" i="0">
                          <a:solidFill>
                            <a:srgbClr val="262626"/>
                          </a:solidFill>
                          <a:latin typeface="Lato"/>
                        </a:rPr>
                        <a:t>sEMG, theo MVIC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22.57%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[21.97, 23.17]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5.98%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310896">
                <a:tc>
                  <a:txBody>
                    <a:bodyPr/>
                    <a:lstStyle/>
                    <a:p>
                      <a:pPr algn="l">
                        <a:spcAft>
                          <a:spcPts val="0"/>
                        </a:spcAft>
                      </a:pPr>
                      <a:r>
                        <a:rPr sz="130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19.64%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[18.72, 20.67]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18.18%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r h="310896">
                <a:tc>
                  <a:txBody>
                    <a:bodyPr/>
                    <a:lstStyle/>
                    <a:p>
                      <a:pPr algn="l">
                        <a:spcAft>
                          <a:spcPts val="0"/>
                        </a:spcAft>
                      </a:pPr>
                      <a:r>
                        <a:rPr sz="1300" b="1" i="0">
                          <a:solidFill>
                            <a:srgbClr val="262626"/>
                          </a:solidFill>
                          <a:latin typeface="Lato"/>
                        </a:rPr>
                        <a:t>sEMG, chính, nhãn xáo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23.93%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[23.66, 24.19]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0.34%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9"/>
                  </a:ext>
                </a:extLst>
              </a:tr>
            </a:tbl>
          </a:graphicData>
        </a:graphic>
      </p:graphicFrame>
      <p:sp>
        <p:nvSpPr>
          <p:cNvPr id="18" name="TextBox 17"/>
          <p:cNvSpPr txBox="1"/>
          <p:nvPr/>
        </p:nvSpPr>
        <p:spPr>
          <a:xfrm>
            <a:off x="365760" y="4974336"/>
            <a:ext cx="8412480" cy="1188720"/>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Rep-count baseline ngoại suy từ tải vẫn tốt hơn mọi cấu hình sEMG (6.56 đến 9.49pp).</a:t>
            </a:r>
          </a:p>
          <a:p>
            <a:pPr marL="164592" indent="-164592" algn="l">
              <a:lnSpc>
                <a:spcPct val="105000"/>
              </a:lnSpc>
              <a:spcAft>
                <a:spcPts val="600"/>
              </a:spcAft>
              <a:buClr>
                <a:srgbClr val="7F7F7F"/>
              </a:buClr>
              <a:buChar char="•"/>
            </a:pPr>
            <a:r>
              <a:rPr sz="1500" b="1" i="0">
                <a:solidFill>
                  <a:srgbClr val="262626"/>
                </a:solidFill>
                <a:latin typeface="Lato"/>
              </a:rPr>
              <a:t>Trên dataset này không tách được hiệu ứng mức tải khỏi hiệu ứng độ dài set.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4: NHẬN RA ĐỘNG TÁC, MỨC TẢI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39</a:t>
            </a:r>
          </a:p>
        </p:txBody>
      </p:sp>
      <p:graphicFrame>
        <p:nvGraphicFramePr>
          <p:cNvPr id="17" name="Table 16"/>
          <p:cNvGraphicFramePr>
            <a:graphicFrameLocks noGrp="1"/>
          </p:cNvGraphicFramePr>
          <p:nvPr/>
        </p:nvGraphicFramePr>
        <p:xfrm>
          <a:off x="365760" y="1783080"/>
          <a:ext cx="8412480" cy="1554480"/>
        </p:xfrm>
        <a:graphic>
          <a:graphicData uri="http://schemas.openxmlformats.org/drawingml/2006/table">
            <a:tbl>
              <a:tblPr/>
              <a:tblGrid>
                <a:gridCol w="26517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548640">
                <a:tc>
                  <a:txBody>
                    <a:bodyPr/>
                    <a:lstStyle/>
                    <a:p>
                      <a:pPr algn="l">
                        <a:spcAft>
                          <a:spcPts val="0"/>
                        </a:spcAft>
                      </a:pPr>
                      <a:r>
                        <a:rPr sz="1400" b="1" i="0">
                          <a:solidFill>
                            <a:srgbClr val="FFFFFF"/>
                          </a:solidFill>
                          <a:latin typeface="Lato"/>
                        </a:rPr>
                        <a:t>Nhãn cần nhận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sEMG đoán đúng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Luôn chọn lớp đông nhất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Hơn lớp đông nhất [CI 95%]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02920">
                <a:tc>
                  <a:txBody>
                    <a:bodyPr/>
                    <a:lstStyle/>
                    <a:p>
                      <a:pPr algn="l">
                        <a:spcAft>
                          <a:spcPts val="0"/>
                        </a:spcAft>
                      </a:pPr>
                      <a:r>
                        <a:rPr sz="1500" b="1" i="0">
                          <a:solidFill>
                            <a:srgbClr val="262626"/>
                          </a:solidFill>
                          <a:latin typeface="Lato"/>
                        </a:rPr>
                        <a:t>Động tác (trong / ngoài)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61.5%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58.0%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+3.6 điểm [+0.2, +6.9]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02920">
                <a:tc>
                  <a:txBody>
                    <a:bodyPr/>
                    <a:lstStyle/>
                    <a:p>
                      <a:pPr algn="l">
                        <a:spcAft>
                          <a:spcPts val="0"/>
                        </a:spcAft>
                      </a:pPr>
                      <a:r>
                        <a:rPr sz="1500" b="1" i="0">
                          <a:solidFill>
                            <a:srgbClr val="262626"/>
                          </a:solidFill>
                          <a:latin typeface="Lato"/>
                        </a:rPr>
                        <a:t>Mức tải (35 / 45 / 55%)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45.5%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38.3%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+7.2 điểm [+4.2, +10.4]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bl>
          </a:graphicData>
        </a:graphic>
      </p:graphicFrame>
      <p:sp>
        <p:nvSpPr>
          <p:cNvPr id="18" name="TextBox 17"/>
          <p:cNvSpPr txBox="1"/>
          <p:nvPr/>
        </p:nvSpPr>
        <p:spPr>
          <a:xfrm>
            <a:off x="365760" y="3611879"/>
            <a:ext cx="8412480" cy="260604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700" b="0" i="0">
                <a:solidFill>
                  <a:srgbClr val="262626"/>
                </a:solidFill>
                <a:latin typeface="Lato"/>
              </a:rPr>
              <a:t>sEMG gần như không nhận ra động tác: chỉ hơn cách luôn chọn động tác phổ biến nhất 3.6 điểm phần trăm.</a:t>
            </a:r>
          </a:p>
          <a:p>
            <a:pPr marL="164592" indent="-164592" algn="l">
              <a:lnSpc>
                <a:spcPct val="105000"/>
              </a:lnSpc>
              <a:spcAft>
                <a:spcPts val="1000"/>
              </a:spcAft>
              <a:buClr>
                <a:srgbClr val="7F7F7F"/>
              </a:buClr>
              <a:buChar char="•"/>
            </a:pPr>
            <a:r>
              <a:rPr sz="1700" b="0" i="0">
                <a:solidFill>
                  <a:srgbClr val="262626"/>
                </a:solidFill>
                <a:latin typeface="Lato"/>
              </a:rPr>
              <a:t>Lợi thế của rep-count baseline biết động tác vì thế đến từ độ dài set khác nhau giữa các động tác, không đến từ tín hiệu cơ.</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5: ƯỚC LƯỢNG RIR THAY VÌ FCF</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40</a:t>
            </a:r>
          </a:p>
        </p:txBody>
      </p:sp>
      <p:graphicFrame>
        <p:nvGraphicFramePr>
          <p:cNvPr id="17" name="Table 16"/>
          <p:cNvGraphicFramePr>
            <a:graphicFrameLocks noGrp="1"/>
          </p:cNvGraphicFramePr>
          <p:nvPr/>
        </p:nvGraphicFramePr>
        <p:xfrm>
          <a:off x="365760" y="1737360"/>
          <a:ext cx="7772400" cy="3127248"/>
        </p:xfrm>
        <a:graphic>
          <a:graphicData uri="http://schemas.openxmlformats.org/drawingml/2006/table">
            <a:tbl>
              <a:tblPr/>
              <a:tblGrid>
                <a:gridCol w="31089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9184">
                <a:tc>
                  <a:txBody>
                    <a:bodyPr/>
                    <a:lstStyle/>
                    <a:p>
                      <a:pPr algn="l">
                        <a:spcAft>
                          <a:spcPts val="0"/>
                        </a:spcAft>
                      </a:pPr>
                      <a:r>
                        <a:rPr sz="13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MAE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Hơn naive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Thật − xáo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10896">
                <a:tc>
                  <a:txBody>
                    <a:bodyPr/>
                    <a:lstStyle/>
                    <a:p>
                      <a:pPr algn="l">
                        <a:spcAft>
                          <a:spcPts val="0"/>
                        </a:spcAft>
                      </a:pPr>
                      <a:r>
                        <a:rPr sz="13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3.107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10896">
                <a:tc>
                  <a:txBody>
                    <a:bodyPr/>
                    <a:lstStyle/>
                    <a:p>
                      <a:pPr algn="l">
                        <a:spcAft>
                          <a:spcPts val="0"/>
                        </a:spcAft>
                      </a:pPr>
                      <a:r>
                        <a:rPr sz="130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2.599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16.40%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310896">
                <a:tc>
                  <a:txBody>
                    <a:bodyPr/>
                    <a:lstStyle/>
                    <a:p>
                      <a:pPr algn="l">
                        <a:spcAft>
                          <a:spcPts val="0"/>
                        </a:spcAft>
                      </a:pPr>
                      <a:r>
                        <a:rPr sz="130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2.504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19.43%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310896">
                <a:tc>
                  <a:txBody>
                    <a:bodyPr/>
                    <a:lstStyle/>
                    <a:p>
                      <a:pPr algn="l">
                        <a:spcAft>
                          <a:spcPts val="0"/>
                        </a:spcAft>
                      </a:pPr>
                      <a:r>
                        <a:rPr sz="130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19.17%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310896">
                <a:tc>
                  <a:txBody>
                    <a:bodyPr/>
                    <a:lstStyle/>
                    <a:p>
                      <a:pPr algn="l">
                        <a:spcAft>
                          <a:spcPts val="0"/>
                        </a:spcAft>
                      </a:pPr>
                      <a:r>
                        <a:rPr sz="1300" b="1" i="0">
                          <a:solidFill>
                            <a:srgbClr val="262626"/>
                          </a:solidFill>
                          <a:latin typeface="Lato"/>
                        </a:rPr>
                        <a:t>Rep-count (k, tải,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2.132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31.43%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310896">
                <a:tc>
                  <a:txBody>
                    <a:bodyPr/>
                    <a:lstStyle/>
                    <a:p>
                      <a:pPr algn="l">
                        <a:spcAft>
                          <a:spcPts val="0"/>
                        </a:spcAft>
                      </a:pPr>
                      <a:r>
                        <a:rPr sz="1300" b="1" i="0">
                          <a:solidFill>
                            <a:srgbClr val="262626"/>
                          </a:solidFill>
                          <a:latin typeface="Lato"/>
                        </a:rPr>
                        <a:t>Rep-count, ngoại suy từ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2.260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27.28%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310896">
                <a:tc>
                  <a:txBody>
                    <a:bodyPr/>
                    <a:lstStyle/>
                    <a:p>
                      <a:pPr algn="l">
                        <a:spcAft>
                          <a:spcPts val="0"/>
                        </a:spcAft>
                      </a:pPr>
                      <a:r>
                        <a:rPr sz="1300" b="1" i="0">
                          <a:solidFill>
                            <a:srgbClr val="262626"/>
                          </a:solidFill>
                          <a:latin typeface="Lato"/>
                        </a:rPr>
                        <a:t>sEMG, không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2.814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9.42%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+0.237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310896">
                <a:tc>
                  <a:txBody>
                    <a:bodyPr/>
                    <a:lstStyle/>
                    <a:p>
                      <a:pPr algn="l">
                        <a:spcAft>
                          <a:spcPts val="0"/>
                        </a:spcAft>
                      </a:pPr>
                      <a:r>
                        <a:rPr sz="1300" b="1" i="0">
                          <a:solidFill>
                            <a:srgbClr val="262626"/>
                          </a:solidFill>
                          <a:latin typeface="Lato"/>
                        </a:rPr>
                        <a:t>sEMG, theo MVIC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2.861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7.91%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+0.224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r h="310896">
                <a:tc>
                  <a:txBody>
                    <a:bodyPr/>
                    <a:lstStyle/>
                    <a:p>
                      <a:pPr algn="l">
                        <a:spcAft>
                          <a:spcPts val="0"/>
                        </a:spcAft>
                      </a:pPr>
                      <a:r>
                        <a:rPr sz="130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2.589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16.67%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+0.502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9"/>
                  </a:ext>
                </a:extLst>
              </a:tr>
            </a:tbl>
          </a:graphicData>
        </a:graphic>
      </p:graphicFrame>
      <p:sp>
        <p:nvSpPr>
          <p:cNvPr id="18" name="TextBox 17"/>
          <p:cNvSpPr txBox="1"/>
          <p:nvPr/>
        </p:nvSpPr>
        <p:spPr>
          <a:xfrm>
            <a:off x="365760" y="4974336"/>
            <a:ext cx="8412480" cy="1188720"/>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sEMG tốt nhất chỉ ngang rep-count baseline đơn giản nhất (2.589 so với 2.599 rep), kém các baseline biết mức tải.</a:t>
            </a:r>
          </a:p>
          <a:p>
            <a:pPr marL="164592" indent="-164592" algn="l">
              <a:lnSpc>
                <a:spcPct val="105000"/>
              </a:lnSpc>
              <a:spcAft>
                <a:spcPts val="600"/>
              </a:spcAft>
              <a:buClr>
                <a:srgbClr val="7F7F7F"/>
              </a:buClr>
              <a:buChar char="•"/>
            </a:pPr>
            <a:r>
              <a:rPr sz="1500" b="0" i="0">
                <a:solidFill>
                  <a:srgbClr val="262626"/>
                </a:solidFill>
                <a:latin typeface="Lato"/>
              </a:rPr>
              <a:t>Mức quyết định khai trước (sEMG hơn baseline biết tải ít nhất 0.25 rep): không đạt.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ĐỘ CHÍNH XÁC VÀ YÊU CẦU TRIỂN KHAI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41</a:t>
            </a:r>
          </a:p>
        </p:txBody>
      </p:sp>
      <p:graphicFrame>
        <p:nvGraphicFramePr>
          <p:cNvPr id="17" name="Table 16"/>
          <p:cNvGraphicFramePr>
            <a:graphicFrameLocks noGrp="1"/>
          </p:cNvGraphicFramePr>
          <p:nvPr/>
        </p:nvGraphicFramePr>
        <p:xfrm>
          <a:off x="365760" y="1737360"/>
          <a:ext cx="8412480" cy="3575304"/>
        </p:xfrm>
        <a:graphic>
          <a:graphicData uri="http://schemas.openxmlformats.org/drawingml/2006/table">
            <a:tbl>
              <a:tblPr/>
              <a:tblGrid>
                <a:gridCol w="2514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502920">
                <a:tc>
                  <a:txBody>
                    <a:bodyPr/>
                    <a:lstStyle/>
                    <a:p>
                      <a:pPr algn="l">
                        <a:spcAft>
                          <a:spcPts val="0"/>
                        </a:spcAft>
                      </a:pPr>
                      <a:r>
                        <a:rPr sz="12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Yêu cầu khi triển khai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Câu 1</a:t>
                      </a:r>
                    </a:p>
                    <a:p>
                      <a:pPr algn="l">
                        <a:spcAft>
                          <a:spcPts val="0"/>
                        </a:spcAft>
                      </a:pPr>
                      <a:r>
                        <a:rPr sz="12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Câu 3, tải mới</a:t>
                      </a:r>
                    </a:p>
                    <a:p>
                      <a:pPr algn="l">
                        <a:spcAft>
                          <a:spcPts val="0"/>
                        </a:spcAft>
                      </a:pPr>
                      <a:r>
                        <a:rPr sz="12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Câu 5, RIR</a:t>
                      </a:r>
                    </a:p>
                    <a:p>
                      <a:pPr algn="l">
                        <a:spcAft>
                          <a:spcPts val="0"/>
                        </a:spcAft>
                      </a:pPr>
                      <a:r>
                        <a:rPr sz="1200" b="1" i="0">
                          <a:solidFill>
                            <a:srgbClr val="FFFFFF"/>
                          </a:solidFill>
                          <a:latin typeface="Lato"/>
                        </a:rPr>
                        <a:t>MAE,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84048">
                <a:tc>
                  <a:txBody>
                    <a:bodyPr/>
                    <a:lstStyle/>
                    <a:p>
                      <a:pPr algn="l">
                        <a:spcAft>
                          <a:spcPts val="0"/>
                        </a:spcAft>
                      </a:pPr>
                      <a:r>
                        <a:rPr sz="13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3.107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84048">
                <a:tc>
                  <a:txBody>
                    <a:bodyPr/>
                    <a:lstStyle/>
                    <a:p>
                      <a:pPr algn="l">
                        <a:spcAft>
                          <a:spcPts val="0"/>
                        </a:spcAft>
                      </a:pPr>
                      <a:r>
                        <a:rPr sz="130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15.50%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18.00%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2.599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384048">
                <a:tc>
                  <a:txBody>
                    <a:bodyPr/>
                    <a:lstStyle/>
                    <a:p>
                      <a:pPr algn="l">
                        <a:spcAft>
                          <a:spcPts val="0"/>
                        </a:spcAft>
                      </a:pPr>
                      <a:r>
                        <a:rPr sz="130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Đồng hồ hoặc 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14.92%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17.65%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2.504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384048">
                <a:tc>
                  <a:txBody>
                    <a:bodyPr/>
                    <a:lstStyle/>
                    <a:p>
                      <a:pPr algn="l">
                        <a:spcAft>
                          <a:spcPts val="0"/>
                        </a:spcAft>
                      </a:pPr>
                      <a:r>
                        <a:rPr sz="130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IMU, nhập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15.06%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 suy biến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384048">
                <a:tc>
                  <a:txBody>
                    <a:bodyPr/>
                    <a:lstStyle/>
                    <a:p>
                      <a:pPr algn="l">
                        <a:spcAft>
                          <a:spcPts val="0"/>
                        </a:spcAft>
                      </a:pPr>
                      <a:r>
                        <a:rPr sz="1300" b="1" i="0">
                          <a:solidFill>
                            <a:srgbClr val="262626"/>
                          </a:solidFill>
                          <a:latin typeface="Lato"/>
                        </a:rPr>
                        <a:t>Rep-count, ngoại suy từ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IMU, nhập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13.90%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1" i="0">
                          <a:solidFill>
                            <a:srgbClr val="262626"/>
                          </a:solidFill>
                          <a:latin typeface="Lato"/>
                        </a:rPr>
                        <a:t>13.08%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2.260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384048">
                <a:tc>
                  <a:txBody>
                    <a:bodyPr/>
                    <a:lstStyle/>
                    <a:p>
                      <a:pPr algn="l">
                        <a:spcAft>
                          <a:spcPts val="0"/>
                        </a:spcAft>
                      </a:pPr>
                      <a:r>
                        <a:rPr sz="1300" b="1" i="0">
                          <a:solidFill>
                            <a:srgbClr val="262626"/>
                          </a:solidFill>
                          <a:latin typeface="Lato"/>
                        </a:rPr>
                        <a:t>Rep-count (k, tải,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IMU, nhập tải và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1" i="0">
                          <a:solidFill>
                            <a:srgbClr val="262626"/>
                          </a:solidFill>
                          <a:latin typeface="Lato"/>
                        </a:rPr>
                        <a:t>12.67%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 suy biến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1" i="0">
                          <a:solidFill>
                            <a:srgbClr val="262626"/>
                          </a:solidFill>
                          <a:latin typeface="Lato"/>
                        </a:rPr>
                        <a:t>2.132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384048">
                <a:tc>
                  <a:txBody>
                    <a:bodyPr/>
                    <a:lstStyle/>
                    <a:p>
                      <a:pPr algn="l">
                        <a:spcAft>
                          <a:spcPts val="0"/>
                        </a:spcAft>
                      </a:pPr>
                      <a:r>
                        <a:rPr sz="1300" b="1" i="0">
                          <a:solidFill>
                            <a:srgbClr val="262626"/>
                          </a:solidFill>
                          <a:latin typeface="Lato"/>
                        </a:rPr>
                        <a:t>sEMG, theo MVIC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sEMG + IMU, đo MVIC đầu buổi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22.57%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2.861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384048">
                <a:tc>
                  <a:txBody>
                    <a:bodyPr/>
                    <a:lstStyle/>
                    <a:p>
                      <a:pPr algn="l">
                        <a:spcAft>
                          <a:spcPts val="0"/>
                        </a:spcAft>
                      </a:pPr>
                      <a:r>
                        <a:rPr sz="130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sEMG + IMU, 3 rep đầu sạch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20.62%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19.64%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2.589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365760" y="5449824"/>
            <a:ext cx="8412480" cy="548640"/>
          </a:xfrm>
          <a:prstGeom prst="rect">
            <a:avLst/>
          </a:prstGeom>
          <a:noFill/>
        </p:spPr>
        <p:txBody>
          <a:bodyPr wrap="square" lIns="36576" tIns="36576" rIns="36576" bIns="36576" anchor="t">
            <a:spAutoFit/>
          </a:bodyPr>
          <a:lstStyle/>
          <a:p>
            <a:pPr algn="l">
              <a:lnSpc>
                <a:spcPct val="105000"/>
              </a:lnSpc>
              <a:spcAft>
                <a:spcPts val="1000"/>
              </a:spcAft>
            </a:pPr>
            <a:r>
              <a:rPr sz="1500" b="0" i="0">
                <a:solidFill>
                  <a:srgbClr val="262626"/>
                </a:solidFill>
                <a:latin typeface="Lato"/>
              </a:rPr>
              <a:t>Mỗi cột đo trên một tập rep riêng: đọc trong từng cột, không trừ giữa các cột.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TÓM TẮT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42</a:t>
            </a:r>
          </a:p>
        </p:txBody>
      </p:sp>
      <p:sp>
        <p:nvSpPr>
          <p:cNvPr id="17" name="TextBox 16"/>
          <p:cNvSpPr txBox="1"/>
          <p:nvPr/>
        </p:nvSpPr>
        <p:spPr>
          <a:xfrm>
            <a:off x="365760" y="1828800"/>
            <a:ext cx="8412480" cy="438912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700" b="0" i="0">
                <a:solidFill>
                  <a:srgbClr val="262626"/>
                </a:solidFill>
                <a:latin typeface="Lato"/>
              </a:rPr>
              <a:t>Câu 1: mọi rep-count baseline tốt hơn mọi cấu hình sEMG; baseline (k, tải) hơn sEMG chính </a:t>
            </a:r>
            <a:r>
              <a:rPr sz="1700" b="1" i="0">
                <a:solidFill>
                  <a:srgbClr val="262626"/>
                </a:solidFill>
                <a:latin typeface="Lato"/>
              </a:rPr>
              <a:t>8.26pp</a:t>
            </a:r>
            <a:r>
              <a:rPr sz="1700" b="0" i="0">
                <a:solidFill>
                  <a:srgbClr val="262626"/>
                </a:solidFill>
                <a:latin typeface="Lato"/>
              </a:rPr>
              <a:t>.</a:t>
            </a:r>
          </a:p>
          <a:p>
            <a:pPr marL="164592" indent="-164592" algn="l">
              <a:lnSpc>
                <a:spcPct val="105000"/>
              </a:lnSpc>
              <a:spcAft>
                <a:spcPts val="1000"/>
              </a:spcAft>
              <a:buClr>
                <a:srgbClr val="7F7F7F"/>
              </a:buClr>
              <a:buChar char="•"/>
            </a:pPr>
            <a:r>
              <a:rPr sz="1700" b="0" i="0">
                <a:solidFill>
                  <a:srgbClr val="262626"/>
                </a:solidFill>
                <a:latin typeface="Lato"/>
              </a:rPr>
              <a:t>Câu 2: chuẩn hoá theo MVIC kém theo 3 rep tham chiếu </a:t>
            </a:r>
            <a:r>
              <a:rPr sz="1700" b="1" i="0">
                <a:solidFill>
                  <a:srgbClr val="262626"/>
                </a:solidFill>
                <a:latin typeface="Lato"/>
              </a:rPr>
              <a:t>2.70pp</a:t>
            </a:r>
            <a:r>
              <a:rPr sz="1700" b="0" i="0">
                <a:solidFill>
                  <a:srgbClr val="262626"/>
                </a:solidFill>
                <a:latin typeface="Lato"/>
              </a:rPr>
              <a:t>, ngược dự báo.</a:t>
            </a:r>
          </a:p>
          <a:p>
            <a:pPr marL="164592" indent="-164592" algn="l">
              <a:lnSpc>
                <a:spcPct val="105000"/>
              </a:lnSpc>
              <a:spcAft>
                <a:spcPts val="1000"/>
              </a:spcAft>
              <a:buClr>
                <a:srgbClr val="7F7F7F"/>
              </a:buClr>
              <a:buChar char="•"/>
            </a:pPr>
            <a:r>
              <a:rPr sz="1700" b="0" i="0">
                <a:solidFill>
                  <a:srgbClr val="262626"/>
                </a:solidFill>
                <a:latin typeface="Lato"/>
              </a:rPr>
              <a:t>Câu 3: ở tải chưa gặp, baseline ngoại suy từ tải tốt hơn sEMG 6.56 đến 9.49pp; không tách được hiệu ứng tải khỏi độ dài set.</a:t>
            </a:r>
          </a:p>
          <a:p>
            <a:pPr marL="164592" indent="-164592" algn="l">
              <a:lnSpc>
                <a:spcPct val="105000"/>
              </a:lnSpc>
              <a:spcAft>
                <a:spcPts val="1000"/>
              </a:spcAft>
              <a:buClr>
                <a:srgbClr val="7F7F7F"/>
              </a:buClr>
              <a:buChar char="•"/>
            </a:pPr>
            <a:r>
              <a:rPr sz="1700" b="0" i="0">
                <a:solidFill>
                  <a:srgbClr val="262626"/>
                </a:solidFill>
                <a:latin typeface="Lato"/>
              </a:rPr>
              <a:t>Câu 4: sEMG gần như không nhận ra động tác.</a:t>
            </a:r>
          </a:p>
          <a:p>
            <a:pPr marL="164592" indent="-164592" algn="l">
              <a:lnSpc>
                <a:spcPct val="105000"/>
              </a:lnSpc>
              <a:spcAft>
                <a:spcPts val="1000"/>
              </a:spcAft>
              <a:buClr>
                <a:srgbClr val="7F7F7F"/>
              </a:buClr>
              <a:buChar char="•"/>
            </a:pPr>
            <a:r>
              <a:rPr sz="1700" b="0" i="0">
                <a:solidFill>
                  <a:srgbClr val="262626"/>
                </a:solidFill>
                <a:latin typeface="Lato"/>
              </a:rPr>
              <a:t>Câu 5: ước lượng RIR không đổi kết luận.</a:t>
            </a:r>
          </a:p>
          <a:p>
            <a:pPr marL="164592" indent="-164592" algn="l">
              <a:lnSpc>
                <a:spcPct val="105000"/>
              </a:lnSpc>
              <a:spcAft>
                <a:spcPts val="1000"/>
              </a:spcAft>
              <a:buClr>
                <a:srgbClr val="7F7F7F"/>
              </a:buClr>
              <a:buChar char="•"/>
            </a:pPr>
            <a:r>
              <a:rPr sz="1700" b="0" i="0">
                <a:solidFill>
                  <a:srgbClr val="262626"/>
                </a:solidFill>
                <a:latin typeface="Lato"/>
              </a:rPr>
              <a:t>Mô hình sEMG có học tín hiệu thật, nhưng ít hơn thông tin số thứ tự rep đã cho sẵn.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LẶP LẠI QUA HAI DATASET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43</a:t>
            </a:r>
          </a:p>
        </p:txBody>
      </p:sp>
      <p:graphicFrame>
        <p:nvGraphicFramePr>
          <p:cNvPr id="17" name="Table 16"/>
          <p:cNvGraphicFramePr>
            <a:graphicFrameLocks noGrp="1"/>
          </p:cNvGraphicFramePr>
          <p:nvPr/>
        </p:nvGraphicFramePr>
        <p:xfrm>
          <a:off x="365760" y="1737360"/>
          <a:ext cx="8412480" cy="3712464"/>
        </p:xfrm>
        <a:graphic>
          <a:graphicData uri="http://schemas.openxmlformats.org/drawingml/2006/table">
            <a:tbl>
              <a:tblPr/>
              <a:tblGrid>
                <a:gridCol w="21031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310896">
                <a:tc>
                  <a:txBody>
                    <a:bodyPr/>
                    <a:lstStyle/>
                    <a:p>
                      <a:pPr algn="l">
                        <a:spcAft>
                          <a:spcPts val="0"/>
                        </a:spcAft>
                      </a:pPr>
                      <a:r>
                        <a:rPr sz="1200" b="1" i="0">
                          <a:solidFill>
                            <a:srgbClr val="FFFFFF"/>
                          </a:solidFill>
                          <a:latin typeface="Lato"/>
                        </a:rPr>
                        <a:t>Luận điểm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Zenodo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WSD</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Trạng thái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66928">
                <a:tc>
                  <a:txBody>
                    <a:bodyPr/>
                    <a:lstStyle/>
                    <a:p>
                      <a:pPr algn="l">
                        <a:spcAft>
                          <a:spcPts val="0"/>
                        </a:spcAft>
                      </a:pPr>
                      <a:r>
                        <a:rPr sz="1200" b="1" i="0">
                          <a:solidFill>
                            <a:srgbClr val="262626"/>
                          </a:solidFill>
                          <a:latin typeface="Lato"/>
                        </a:rPr>
                        <a:t>Rep-count baseline tốt hơn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 cơ) 19.41% so với sEMG 24.33%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 tải) tốt hơn sEMG chính 8.26pp; sEMG tốt nhất vẫn kém (k) 5.12pp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1F3864"/>
                          </a:solidFill>
                          <a:latin typeface="Lato"/>
                        </a:rPr>
                        <a:t>Lặp lại, mạnh hơn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66928">
                <a:tc>
                  <a:txBody>
                    <a:bodyPr/>
                    <a:lstStyle/>
                    <a:p>
                      <a:pPr algn="l">
                        <a:spcAft>
                          <a:spcPts val="0"/>
                        </a:spcAft>
                      </a:pPr>
                      <a:r>
                        <a:rPr sz="1200" b="1" i="0">
                          <a:solidFill>
                            <a:srgbClr val="262626"/>
                          </a:solidFill>
                          <a:latin typeface="Lato"/>
                        </a:rPr>
                        <a:t>sEMG bền hơn khi điều kiện đổi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Độ dài set mới: sEMG hơn naive 9.36%, baseline kém naive 10.62%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Tải chưa gặp: sEMG kém baseline ngoại suy 6.56 đến 9.49pp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Không lặp lại; tải lẫn với độ dài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566928">
                <a:tc>
                  <a:txBody>
                    <a:bodyPr/>
                    <a:lstStyle/>
                    <a:p>
                      <a:pPr algn="l">
                        <a:spcAft>
                          <a:spcPts val="0"/>
                        </a:spcAft>
                      </a:pPr>
                      <a:r>
                        <a:rPr sz="1200" b="1" i="0">
                          <a:solidFill>
                            <a:srgbClr val="262626"/>
                          </a:solidFill>
                          <a:latin typeface="Lato"/>
                        </a:rPr>
                        <a:t>Thông tin sEMG ≈ “động tác nào”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RIR: baseline biết cơ xoá lợi thế của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sEMG gần như không nhận ra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Không lặp lại ở dạng gốc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566928">
                <a:tc>
                  <a:txBody>
                    <a:bodyPr/>
                    <a:lstStyle/>
                    <a:p>
                      <a:pPr algn="l">
                        <a:spcAft>
                          <a:spcPts val="0"/>
                        </a:spcAft>
                      </a:pPr>
                      <a:r>
                        <a:rPr sz="1200" b="1" i="0">
                          <a:solidFill>
                            <a:srgbClr val="262626"/>
                          </a:solidFill>
                          <a:latin typeface="Lato"/>
                        </a:rPr>
                        <a:t>Chuẩn hoá theo MVC tốt hơn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Kém theo 3 rep tham chiếu 2.11pp (1/10)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Kém theo 3 rep tham chiếu 2.70pp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Lặp lại; bác dự báo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566928">
                <a:tc>
                  <a:txBody>
                    <a:bodyPr/>
                    <a:lstStyle/>
                    <a:p>
                      <a:pPr algn="l">
                        <a:spcAft>
                          <a:spcPts val="0"/>
                        </a:spcAft>
                      </a:pPr>
                      <a:r>
                        <a:rPr sz="1200" b="1" i="0">
                          <a:solidFill>
                            <a:srgbClr val="262626"/>
                          </a:solidFill>
                          <a:latin typeface="Lato"/>
                        </a:rPr>
                        <a:t>Ước lượng RIR cứu được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Hơn (k); ngang (k,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Kém baseline biết tải 0.349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Không cứu được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566928">
                <a:tc>
                  <a:txBody>
                    <a:bodyPr/>
                    <a:lstStyle/>
                    <a:p>
                      <a:pPr algn="l">
                        <a:spcAft>
                          <a:spcPts val="0"/>
                        </a:spcAft>
                      </a:pPr>
                      <a:r>
                        <a:rPr sz="1200" b="1" i="0">
                          <a:solidFill>
                            <a:srgbClr val="262626"/>
                          </a:solidFill>
                          <a:latin typeface="Lato"/>
                        </a:rPr>
                        <a:t>Mô hình học tín hiệu thật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Có</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Có</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1F3864"/>
                          </a:solidFill>
                          <a:latin typeface="Lato"/>
                        </a:rPr>
                        <a:t>Lặp lại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bl>
          </a:graphicData>
        </a:graphic>
      </p:graphicFrame>
      <p:sp>
        <p:nvSpPr>
          <p:cNvPr id="18" name="TextBox 17"/>
          <p:cNvSpPr txBox="1"/>
          <p:nvPr/>
        </p:nvSpPr>
        <p:spPr>
          <a:xfrm>
            <a:off x="365760" y="5559551"/>
            <a:ext cx="8412480" cy="548640"/>
          </a:xfrm>
          <a:prstGeom prst="rect">
            <a:avLst/>
          </a:prstGeom>
          <a:noFill/>
        </p:spPr>
        <p:txBody>
          <a:bodyPr wrap="square" lIns="36576" tIns="36576" rIns="36576" bIns="36576" anchor="t">
            <a:spAutoFit/>
          </a:bodyPr>
          <a:lstStyle/>
          <a:p>
            <a:pPr algn="l">
              <a:lnSpc>
                <a:spcPct val="105000"/>
              </a:lnSpc>
              <a:spcAft>
                <a:spcPts val="1000"/>
              </a:spcAft>
            </a:pPr>
            <a:r>
              <a:rPr sz="1400" b="0" i="0">
                <a:solidFill>
                  <a:srgbClr val="262626"/>
                </a:solidFill>
                <a:latin typeface="Lato"/>
              </a:rPr>
              <a:t>RIR trên Zenodo đo trên 1 409 rep gần failure, trên WSD là 19 047 rep: chỉ so chiều, không so độ lớn.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ĐỘ TIN CẬY CỦA KẾT QUẢ</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44</a:t>
            </a:r>
          </a:p>
        </p:txBody>
      </p:sp>
      <p:sp>
        <p:nvSpPr>
          <p:cNvPr id="17" name="TextBox 16"/>
          <p:cNvSpPr txBox="1"/>
          <p:nvPr/>
        </p:nvSpPr>
        <p:spPr>
          <a:xfrm>
            <a:off x="365760" y="1463039"/>
            <a:ext cx="2377440" cy="1280160"/>
          </a:xfrm>
          <a:prstGeom prst="rect">
            <a:avLst/>
          </a:prstGeom>
          <a:noFill/>
        </p:spPr>
        <p:txBody>
          <a:bodyPr wrap="square" lIns="36576" tIns="36576" rIns="36576" bIns="36576" anchor="ctr">
            <a:spAutoFit/>
          </a:bodyPr>
          <a:lstStyle/>
          <a:p>
            <a:pPr algn="l">
              <a:spcAft>
                <a:spcPts val="400"/>
              </a:spcAft>
            </a:pPr>
            <a:r>
              <a:rPr sz="2800" b="1" i="0">
                <a:solidFill>
                  <a:srgbClr val="1F3864"/>
                </a:solidFill>
                <a:latin typeface="Lato"/>
              </a:rPr>
              <a:t>612/612</a:t>
            </a:r>
          </a:p>
        </p:txBody>
      </p:sp>
      <p:sp>
        <p:nvSpPr>
          <p:cNvPr id="18" name="TextBox 17"/>
          <p:cNvSpPr txBox="1"/>
          <p:nvPr/>
        </p:nvSpPr>
        <p:spPr>
          <a:xfrm>
            <a:off x="2926080" y="1508760"/>
            <a:ext cx="5852160" cy="1280160"/>
          </a:xfrm>
          <a:prstGeom prst="rect">
            <a:avLst/>
          </a:prstGeom>
          <a:noFill/>
        </p:spPr>
        <p:txBody>
          <a:bodyPr wrap="square" lIns="36576" tIns="36576" rIns="36576" bIns="36576" anchor="t">
            <a:spAutoFit/>
          </a:bodyPr>
          <a:lstStyle/>
          <a:p>
            <a:pPr algn="l">
              <a:spcAft>
                <a:spcPts val="400"/>
              </a:spcAft>
            </a:pPr>
            <a:r>
              <a:rPr sz="1800" b="1" i="0">
                <a:solidFill>
                  <a:srgbClr val="262626"/>
                </a:solidFill>
                <a:latin typeface="Lato"/>
              </a:rPr>
              <a:t>Rep-count baseline có bị data leakage không?</a:t>
            </a:r>
          </a:p>
          <a:p>
            <a:pPr algn="l">
              <a:spcAft>
                <a:spcPts val="400"/>
              </a:spcAft>
            </a:pPr>
            <a:r>
              <a:rPr sz="1600" b="0" i="0">
                <a:solidFill>
                  <a:srgbClr val="262626"/>
                </a:solidFill>
                <a:latin typeface="Lato"/>
              </a:rPr>
              <a:t>Không. Xáo nhãn và tổng số rep của người test: cả 612/612 lần, dự đoán của baseline không đổi.</a:t>
            </a:r>
          </a:p>
        </p:txBody>
      </p:sp>
      <p:sp>
        <p:nvSpPr>
          <p:cNvPr id="19" name="Rectangle 18"/>
          <p:cNvSpPr/>
          <p:nvPr/>
        </p:nvSpPr>
        <p:spPr>
          <a:xfrm>
            <a:off x="365760" y="2926080"/>
            <a:ext cx="8412480"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3063239"/>
            <a:ext cx="2377440" cy="1280160"/>
          </a:xfrm>
          <a:prstGeom prst="rect">
            <a:avLst/>
          </a:prstGeom>
          <a:noFill/>
        </p:spPr>
        <p:txBody>
          <a:bodyPr wrap="square" lIns="36576" tIns="36576" rIns="36576" bIns="36576" anchor="ctr">
            <a:spAutoFit/>
          </a:bodyPr>
          <a:lstStyle/>
          <a:p>
            <a:pPr algn="l">
              <a:spcAft>
                <a:spcPts val="400"/>
              </a:spcAft>
            </a:pPr>
            <a:r>
              <a:rPr sz="2800" b="1" i="0">
                <a:solidFill>
                  <a:srgbClr val="C02034"/>
                </a:solidFill>
                <a:latin typeface="Lato"/>
              </a:rPr>
              <a:t>1.41 đến
4.25pp</a:t>
            </a:r>
          </a:p>
        </p:txBody>
      </p:sp>
      <p:sp>
        <p:nvSpPr>
          <p:cNvPr id="21" name="TextBox 20"/>
          <p:cNvSpPr txBox="1"/>
          <p:nvPr/>
        </p:nvSpPr>
        <p:spPr>
          <a:xfrm>
            <a:off x="2926080" y="3108959"/>
            <a:ext cx="5852160" cy="1280160"/>
          </a:xfrm>
          <a:prstGeom prst="rect">
            <a:avLst/>
          </a:prstGeom>
          <a:noFill/>
        </p:spPr>
        <p:txBody>
          <a:bodyPr wrap="square" lIns="36576" tIns="36576" rIns="36576" bIns="36576" anchor="t">
            <a:spAutoFit/>
          </a:bodyPr>
          <a:lstStyle/>
          <a:p>
            <a:pPr algn="l">
              <a:spcAft>
                <a:spcPts val="400"/>
              </a:spcAft>
            </a:pPr>
            <a:r>
              <a:rPr sz="1800" b="1" i="0">
                <a:solidFill>
                  <a:srgbClr val="262626"/>
                </a:solidFill>
                <a:latin typeface="Lato"/>
              </a:rPr>
              <a:t>Mô hình sEMG có học được gì không?</a:t>
            </a:r>
          </a:p>
          <a:p>
            <a:pPr algn="l">
              <a:spcAft>
                <a:spcPts val="400"/>
              </a:spcAft>
            </a:pPr>
            <a:r>
              <a:rPr sz="1600" b="0" i="0">
                <a:solidFill>
                  <a:srgbClr val="262626"/>
                </a:solidFill>
                <a:latin typeface="Lato"/>
              </a:rPr>
              <a:t>Có. Huấn luyện lại với nhãn xáo luôn kém hơn mô hình thật, 1.41 đến 4.25pp.</a:t>
            </a:r>
          </a:p>
        </p:txBody>
      </p:sp>
      <p:sp>
        <p:nvSpPr>
          <p:cNvPr id="22" name="Rectangle 21"/>
          <p:cNvSpPr/>
          <p:nvPr/>
        </p:nvSpPr>
        <p:spPr>
          <a:xfrm>
            <a:off x="365760" y="4526279"/>
            <a:ext cx="8412480"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4663440"/>
            <a:ext cx="2377440" cy="1280160"/>
          </a:xfrm>
          <a:prstGeom prst="rect">
            <a:avLst/>
          </a:prstGeom>
          <a:noFill/>
        </p:spPr>
        <p:txBody>
          <a:bodyPr wrap="square" lIns="36576" tIns="36576" rIns="36576" bIns="36576" anchor="ctr">
            <a:spAutoFit/>
          </a:bodyPr>
          <a:lstStyle/>
          <a:p>
            <a:pPr algn="l">
              <a:spcAft>
                <a:spcPts val="400"/>
              </a:spcAft>
            </a:pPr>
            <a:r>
              <a:rPr sz="2800" b="1" i="0">
                <a:solidFill>
                  <a:srgbClr val="C02034"/>
                </a:solidFill>
                <a:latin typeface="Lato"/>
              </a:rPr>
              <a:t>5.12pp</a:t>
            </a:r>
          </a:p>
        </p:txBody>
      </p:sp>
      <p:sp>
        <p:nvSpPr>
          <p:cNvPr id="24" name="TextBox 23"/>
          <p:cNvSpPr txBox="1"/>
          <p:nvPr/>
        </p:nvSpPr>
        <p:spPr>
          <a:xfrm>
            <a:off x="2926080" y="4709159"/>
            <a:ext cx="5852160" cy="1280160"/>
          </a:xfrm>
          <a:prstGeom prst="rect">
            <a:avLst/>
          </a:prstGeom>
          <a:noFill/>
        </p:spPr>
        <p:txBody>
          <a:bodyPr wrap="square" lIns="36576" tIns="36576" rIns="36576" bIns="36576" anchor="t">
            <a:spAutoFit/>
          </a:bodyPr>
          <a:lstStyle/>
          <a:p>
            <a:pPr algn="l">
              <a:spcAft>
                <a:spcPts val="400"/>
              </a:spcAft>
            </a:pPr>
            <a:r>
              <a:rPr sz="1800" b="1" i="0">
                <a:solidFill>
                  <a:srgbClr val="262626"/>
                </a:solidFill>
                <a:latin typeface="Lato"/>
              </a:rPr>
              <a:t>Có đang so với cấu hình sEMG yếu nhất không?</a:t>
            </a:r>
          </a:p>
          <a:p>
            <a:pPr algn="l">
              <a:spcAft>
                <a:spcPts val="400"/>
              </a:spcAft>
            </a:pPr>
            <a:r>
              <a:rPr sz="1600" b="0" i="0">
                <a:solidFill>
                  <a:srgbClr val="262626"/>
                </a:solidFill>
                <a:latin typeface="Lato"/>
              </a:rPr>
              <a:t>Không. Cấu hình sEMG tốt nhất vẫn kém rep-count baseline đơn giản nhất (k) 5.12pp.</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ĐỘ TIN CẬY CỦA 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KIỂM TRA PIPELINE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45</a:t>
            </a:r>
          </a:p>
        </p:txBody>
      </p:sp>
      <p:graphicFrame>
        <p:nvGraphicFramePr>
          <p:cNvPr id="17" name="Table 16"/>
          <p:cNvGraphicFramePr>
            <a:graphicFrameLocks noGrp="1"/>
          </p:cNvGraphicFramePr>
          <p:nvPr/>
        </p:nvGraphicFramePr>
        <p:xfrm>
          <a:off x="365760" y="1737360"/>
          <a:ext cx="8412480"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65760">
                <a:tc>
                  <a:txBody>
                    <a:bodyPr/>
                    <a:lstStyle/>
                    <a:p>
                      <a:pPr algn="l">
                        <a:spcAft>
                          <a:spcPts val="0"/>
                        </a:spcAft>
                      </a:pPr>
                      <a:r>
                        <a:rPr sz="1400" b="1" i="0">
                          <a:solidFill>
                            <a:srgbClr val="FFFFFF"/>
                          </a:solidFill>
                          <a:latin typeface="Lato"/>
                        </a:rPr>
                        <a:t>Nguy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Bằng chứng loại trừ</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749808">
                <a:tc>
                  <a:txBody>
                    <a:bodyPr/>
                    <a:lstStyle/>
                    <a:p>
                      <a:pPr algn="l">
                        <a:spcAft>
                          <a:spcPts val="0"/>
                        </a:spcAft>
                      </a:pPr>
                      <a:r>
                        <a:rPr sz="1400" b="1" i="0">
                          <a:solidFill>
                            <a:srgbClr val="262626"/>
                          </a:solidFill>
                          <a:latin typeface="Lato"/>
                        </a:rPr>
                        <a:t>Data leakage ở rep-count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Hàm dự đoán chỉ nhận 10 cột thiết bị biết lúc chạy; tổng số rep và nhãn bị chặn ngay trong code. Xáo nhãn của người test: 612/612 lần cho kết quả y hệt.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749808">
                <a:tc>
                  <a:txBody>
                    <a:bodyPr/>
                    <a:lstStyle/>
                    <a:p>
                      <a:pPr algn="l">
                        <a:spcAft>
                          <a:spcPts val="0"/>
                        </a:spcAft>
                      </a:pPr>
                      <a:r>
                        <a:rPr sz="1400" b="1" i="0">
                          <a:solidFill>
                            <a:srgbClr val="262626"/>
                          </a:solidFill>
                          <a:latin typeface="Lato"/>
                        </a:rPr>
                        <a:t>Data leakage ở mô hình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Ngưỡng đặc trưng lấy từ rep tham chiếu; lọc nhân quả; chọn đặc trưng riêng trong từng lượt LOSO, không dùng dữ liệu người test.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749808">
                <a:tc>
                  <a:txBody>
                    <a:bodyPr/>
                    <a:lstStyle/>
                    <a:p>
                      <a:pPr algn="l">
                        <a:spcAft>
                          <a:spcPts val="0"/>
                        </a:spcAft>
                      </a:pPr>
                      <a:r>
                        <a:rPr sz="1400" b="1" i="0">
                          <a:solidFill>
                            <a:srgbClr val="262626"/>
                          </a:solidFill>
                          <a:latin typeface="Lato"/>
                        </a:rPr>
                        <a:t>Pipeline hỏng, mô hình không học gì</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Huấn luyện lại với nhãn xáo luôn kém hơn mô hình thật: 1.41 đến 4.25pp.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749808">
                <a:tc>
                  <a:txBody>
                    <a:bodyPr/>
                    <a:lstStyle/>
                    <a:p>
                      <a:pPr algn="l">
                        <a:spcAft>
                          <a:spcPts val="0"/>
                        </a:spcAft>
                      </a:pPr>
                      <a:r>
                        <a:rPr sz="1400" b="1" i="0">
                          <a:solidFill>
                            <a:srgbClr val="262626"/>
                          </a:solidFill>
                          <a:latin typeface="Lato"/>
                        </a:rPr>
                        <a:t>Đánh giá trên dữ liệu đã dùng để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Bỏ 3 rep tham chiếu khỏi cả train lẫn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749808">
                <a:tc>
                  <a:txBody>
                    <a:bodyPr/>
                    <a:lstStyle/>
                    <a:p>
                      <a:pPr algn="l">
                        <a:spcAft>
                          <a:spcPts val="0"/>
                        </a:spcAft>
                      </a:pPr>
                      <a:r>
                        <a:rPr sz="1400" b="1" i="0">
                          <a:solidFill>
                            <a:srgbClr val="262626"/>
                          </a:solidFill>
                          <a:latin typeface="Lato"/>
                        </a:rPr>
                        <a:t>Baseline tốt nhờ bảng tra thưa</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Tỉ lệ rep phải trả về naive vì bảng thiếu ô: tối đa 1.32% đến 6.62% tuỳ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ĐỘ TIN CẬY CỦA 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KIỂM TRA PHÉP SO</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46</a:t>
            </a:r>
          </a:p>
        </p:txBody>
      </p:sp>
      <p:graphicFrame>
        <p:nvGraphicFramePr>
          <p:cNvPr id="17" name="Table 16"/>
          <p:cNvGraphicFramePr>
            <a:graphicFrameLocks noGrp="1"/>
          </p:cNvGraphicFramePr>
          <p:nvPr/>
        </p:nvGraphicFramePr>
        <p:xfrm>
          <a:off x="365760" y="1737360"/>
          <a:ext cx="8412480" cy="3749040"/>
        </p:xfrm>
        <a:graphic>
          <a:graphicData uri="http://schemas.openxmlformats.org/drawingml/2006/table">
            <a:tbl>
              <a:tblPr/>
              <a:tblGrid>
                <a:gridCol w="274320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65760">
                <a:tc>
                  <a:txBody>
                    <a:bodyPr/>
                    <a:lstStyle/>
                    <a:p>
                      <a:pPr algn="l">
                        <a:spcAft>
                          <a:spcPts val="0"/>
                        </a:spcAft>
                      </a:pPr>
                      <a:r>
                        <a:rPr sz="1300" b="1" i="0">
                          <a:solidFill>
                            <a:srgbClr val="FFFFFF"/>
                          </a:solidFill>
                          <a:latin typeface="Lato"/>
                        </a:rPr>
                        <a:t>Nguy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Bằng chứng loại trừ</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676656">
                <a:tc>
                  <a:txBody>
                    <a:bodyPr/>
                    <a:lstStyle/>
                    <a:p>
                      <a:pPr algn="l">
                        <a:spcAft>
                          <a:spcPts val="0"/>
                        </a:spcAft>
                      </a:pPr>
                      <a:r>
                        <a:rPr sz="1300" b="1" i="0">
                          <a:solidFill>
                            <a:srgbClr val="262626"/>
                          </a:solidFill>
                          <a:latin typeface="Lato"/>
                        </a:rPr>
                        <a:t>MVIC kém vì đo MVIC nhiễu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Bỏ 19 lần đo nhiễu nhất: chênh lệch chỉ dịch 0.07pp, tức 2.6% độ lớn hiệu ứng.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676656">
                <a:tc>
                  <a:txBody>
                    <a:bodyPr/>
                    <a:lstStyle/>
                    <a:p>
                      <a:pPr algn="l">
                        <a:spcAft>
                          <a:spcPts val="0"/>
                        </a:spcAft>
                      </a:pPr>
                      <a:r>
                        <a:rPr sz="1300" b="1" i="0">
                          <a:solidFill>
                            <a:srgbClr val="262626"/>
                          </a:solidFill>
                          <a:latin typeface="Lato"/>
                        </a:rPr>
                        <a:t>Trùng hợp trên một dataset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Lặp lại trên dataset thứ hai: khác người, khác động tác, khác thiết bị đo.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676656">
                <a:tc>
                  <a:txBody>
                    <a:bodyPr/>
                    <a:lstStyle/>
                    <a:p>
                      <a:pPr algn="l">
                        <a:spcAft>
                          <a:spcPts val="0"/>
                        </a:spcAft>
                      </a:pPr>
                      <a:r>
                        <a:rPr sz="1300" b="1" i="0">
                          <a:solidFill>
                            <a:srgbClr val="262626"/>
                          </a:solidFill>
                          <a:latin typeface="Lato"/>
                        </a:rPr>
                        <a:t>So với cấu hình sEMG yếu nhất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So lại với sEMG tốt nhất: vẫn kém baseline yếu nhất 5.12pp; tải chưa gặp vẫn kém 6.56pp. </a:t>
                      </a:r>
                      <a:r>
                        <a:rPr sz="1300" b="1" i="0">
                          <a:solidFill>
                            <a:srgbClr val="262626"/>
                          </a:solidFill>
                          <a:latin typeface="Lato"/>
                        </a:rPr>
                        <a:t>Ngoại lệ: RIR, gần ngang (k), chênh 0.010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676656">
                <a:tc>
                  <a:txBody>
                    <a:bodyPr/>
                    <a:lstStyle/>
                    <a:p>
                      <a:pPr algn="l">
                        <a:spcAft>
                          <a:spcPts val="0"/>
                        </a:spcAft>
                      </a:pPr>
                      <a:r>
                        <a:rPr sz="1300" b="1" i="0">
                          <a:solidFill>
                            <a:srgbClr val="262626"/>
                          </a:solidFill>
                          <a:latin typeface="Lato"/>
                        </a:rPr>
                        <a:t>Chọn ngưỡng sau khi thấy số</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Dự đoán và ngưỡng khai báo trước trong văn bản có ngày, chỉ nối thêm kết quả. 35 dự đoán trên WSD, 27 sai, giữ nguyên.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676656">
                <a:tc>
                  <a:txBody>
                    <a:bodyPr/>
                    <a:lstStyle/>
                    <a:p>
                      <a:pPr algn="l">
                        <a:spcAft>
                          <a:spcPts val="0"/>
                        </a:spcAft>
                      </a:pPr>
                      <a:r>
                        <a:rPr sz="1300" b="1" i="0">
                          <a:solidFill>
                            <a:srgbClr val="C02034"/>
                          </a:solidFill>
                          <a:latin typeface="Lato"/>
                        </a:rPr>
                        <a:t>Lọc dữ liệu làm baseline mạnh lên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Có, và đã khai: lọc IQR làm rep-count baseline mạnh thêm 1.7 đến 2.8pp; khoảng cách 8.26pp vẫn lớn hơn nhiều.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
        <p:nvSpPr>
          <p:cNvPr id="18" name="TextBox 17"/>
          <p:cNvSpPr txBox="1"/>
          <p:nvPr/>
        </p:nvSpPr>
        <p:spPr>
          <a:xfrm>
            <a:off x="365760" y="5577840"/>
            <a:ext cx="8412480" cy="548640"/>
          </a:xfrm>
          <a:prstGeom prst="rect">
            <a:avLst/>
          </a:prstGeom>
          <a:noFill/>
        </p:spPr>
        <p:txBody>
          <a:bodyPr wrap="square" lIns="36576" tIns="36576" rIns="36576" bIns="36576" anchor="t">
            <a:spAutoFit/>
          </a:bodyPr>
          <a:lstStyle/>
          <a:p>
            <a:pPr algn="l">
              <a:lnSpc>
                <a:spcPct val="105000"/>
              </a:lnSpc>
              <a:spcAft>
                <a:spcPts val="1000"/>
              </a:spcAft>
            </a:pPr>
            <a:r>
              <a:rPr sz="1300" b="0" i="0">
                <a:solidFill>
                  <a:srgbClr val="262626"/>
                </a:solidFill>
                <a:latin typeface="Lato"/>
              </a:rPr>
              <a:t>Dòng cuối là nguy cơ theo chiều có lợi cho kết luận của nhóm; liệt kê cả nó làm bảng đáng tin hơn.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TỔNG KẾT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47</a:t>
            </a:r>
          </a:p>
        </p:txBody>
      </p:sp>
      <p:sp>
        <p:nvSpPr>
          <p:cNvPr id="17" name="TextBox 16"/>
          <p:cNvSpPr txBox="1"/>
          <p:nvPr/>
        </p:nvSpPr>
        <p:spPr>
          <a:xfrm>
            <a:off x="365760" y="1600200"/>
            <a:ext cx="2011680" cy="685800"/>
          </a:xfrm>
          <a:prstGeom prst="rect">
            <a:avLst/>
          </a:prstGeom>
          <a:noFill/>
        </p:spPr>
        <p:txBody>
          <a:bodyPr wrap="square" lIns="36576" tIns="36576" rIns="36576" bIns="36576" anchor="b">
            <a:spAutoFit/>
          </a:bodyPr>
          <a:lstStyle/>
          <a:p>
            <a:pPr algn="l">
              <a:spcAft>
                <a:spcPts val="400"/>
              </a:spcAft>
            </a:pPr>
            <a:r>
              <a:rPr sz="3600" b="1" i="0">
                <a:solidFill>
                  <a:srgbClr val="1F3864"/>
                </a:solidFill>
                <a:latin typeface="Lato"/>
              </a:rPr>
              <a:t>12.67%</a:t>
            </a:r>
          </a:p>
        </p:txBody>
      </p:sp>
      <p:sp>
        <p:nvSpPr>
          <p:cNvPr id="18" name="TextBox 17"/>
          <p:cNvSpPr txBox="1"/>
          <p:nvPr/>
        </p:nvSpPr>
        <p:spPr>
          <a:xfrm>
            <a:off x="365760" y="2331720"/>
            <a:ext cx="2011680" cy="82296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rep-count baseline
tốt nhất</a:t>
            </a:r>
          </a:p>
        </p:txBody>
      </p:sp>
      <p:sp>
        <p:nvSpPr>
          <p:cNvPr id="19" name="TextBox 18"/>
          <p:cNvSpPr txBox="1"/>
          <p:nvPr/>
        </p:nvSpPr>
        <p:spPr>
          <a:xfrm>
            <a:off x="2514600" y="1600200"/>
            <a:ext cx="2011680" cy="685800"/>
          </a:xfrm>
          <a:prstGeom prst="rect">
            <a:avLst/>
          </a:prstGeom>
          <a:noFill/>
        </p:spPr>
        <p:txBody>
          <a:bodyPr wrap="square" lIns="36576" tIns="36576" rIns="36576" bIns="36576" anchor="b">
            <a:spAutoFit/>
          </a:bodyPr>
          <a:lstStyle/>
          <a:p>
            <a:pPr algn="l">
              <a:spcAft>
                <a:spcPts val="400"/>
              </a:spcAft>
            </a:pPr>
            <a:r>
              <a:rPr sz="3600" b="1" i="0">
                <a:solidFill>
                  <a:srgbClr val="C02034"/>
                </a:solidFill>
                <a:latin typeface="Lato"/>
              </a:rPr>
              <a:t>20.62%</a:t>
            </a:r>
          </a:p>
        </p:txBody>
      </p:sp>
      <p:sp>
        <p:nvSpPr>
          <p:cNvPr id="20" name="TextBox 19"/>
          <p:cNvSpPr txBox="1"/>
          <p:nvPr/>
        </p:nvSpPr>
        <p:spPr>
          <a:xfrm>
            <a:off x="2514600" y="2331720"/>
            <a:ext cx="2011680" cy="82296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sEMG tốt nhất
đo được</a:t>
            </a:r>
          </a:p>
        </p:txBody>
      </p:sp>
      <p:sp>
        <p:nvSpPr>
          <p:cNvPr id="21" name="TextBox 20"/>
          <p:cNvSpPr txBox="1"/>
          <p:nvPr/>
        </p:nvSpPr>
        <p:spPr>
          <a:xfrm>
            <a:off x="4663440" y="1600200"/>
            <a:ext cx="2011680" cy="685800"/>
          </a:xfrm>
          <a:prstGeom prst="rect">
            <a:avLst/>
          </a:prstGeom>
          <a:noFill/>
        </p:spPr>
        <p:txBody>
          <a:bodyPr wrap="square" lIns="36576" tIns="36576" rIns="36576" bIns="36576" anchor="b">
            <a:spAutoFit/>
          </a:bodyPr>
          <a:lstStyle/>
          <a:p>
            <a:pPr algn="l">
              <a:spcAft>
                <a:spcPts val="400"/>
              </a:spcAft>
            </a:pPr>
            <a:r>
              <a:rPr sz="3600" b="1" i="0">
                <a:solidFill>
                  <a:srgbClr val="C02034"/>
                </a:solidFill>
                <a:latin typeface="Lato"/>
              </a:rPr>
              <a:t>23.32%</a:t>
            </a:r>
          </a:p>
        </p:txBody>
      </p:sp>
      <p:sp>
        <p:nvSpPr>
          <p:cNvPr id="22" name="TextBox 21"/>
          <p:cNvSpPr txBox="1"/>
          <p:nvPr/>
        </p:nvSpPr>
        <p:spPr>
          <a:xfrm>
            <a:off x="4663440" y="2331720"/>
            <a:ext cx="2011680" cy="82296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sEMG, cấu hình
khai báo trước</a:t>
            </a:r>
          </a:p>
        </p:txBody>
      </p:sp>
      <p:sp>
        <p:nvSpPr>
          <p:cNvPr id="23" name="TextBox 22"/>
          <p:cNvSpPr txBox="1"/>
          <p:nvPr/>
        </p:nvSpPr>
        <p:spPr>
          <a:xfrm>
            <a:off x="6812280" y="1600200"/>
            <a:ext cx="2011680" cy="685800"/>
          </a:xfrm>
          <a:prstGeom prst="rect">
            <a:avLst/>
          </a:prstGeom>
          <a:noFill/>
        </p:spPr>
        <p:txBody>
          <a:bodyPr wrap="square" lIns="36576" tIns="36576" rIns="36576" bIns="36576" anchor="b">
            <a:spAutoFit/>
          </a:bodyPr>
          <a:lstStyle/>
          <a:p>
            <a:pPr algn="l">
              <a:spcAft>
                <a:spcPts val="400"/>
              </a:spcAft>
            </a:pPr>
            <a:r>
              <a:rPr sz="3600" b="1" i="0">
                <a:solidFill>
                  <a:srgbClr val="7F7F7F"/>
                </a:solidFill>
                <a:latin typeface="Lato"/>
              </a:rPr>
              <a:t>24.80%</a:t>
            </a:r>
          </a:p>
        </p:txBody>
      </p:sp>
      <p:sp>
        <p:nvSpPr>
          <p:cNvPr id="24" name="TextBox 23"/>
          <p:cNvSpPr txBox="1"/>
          <p:nvPr/>
        </p:nvSpPr>
        <p:spPr>
          <a:xfrm>
            <a:off x="6812280" y="2331720"/>
            <a:ext cx="2011680" cy="82296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naive baseline</a:t>
            </a:r>
          </a:p>
        </p:txBody>
      </p:sp>
      <p:sp>
        <p:nvSpPr>
          <p:cNvPr id="25" name="TextBox 24"/>
          <p:cNvSpPr txBox="1"/>
          <p:nvPr/>
        </p:nvSpPr>
        <p:spPr>
          <a:xfrm>
            <a:off x="365760" y="3611880"/>
            <a:ext cx="8412480" cy="2560320"/>
          </a:xfrm>
          <a:prstGeom prst="rect">
            <a:avLst/>
          </a:prstGeom>
          <a:noFill/>
        </p:spPr>
        <p:txBody>
          <a:bodyPr wrap="square" lIns="36576" tIns="36576" rIns="36576" bIns="36576" anchor="t">
            <a:spAutoFit/>
          </a:bodyPr>
          <a:lstStyle/>
          <a:p>
            <a:pPr marL="164592" indent="-164592" algn="l">
              <a:lnSpc>
                <a:spcPct val="105000"/>
              </a:lnSpc>
              <a:spcAft>
                <a:spcPts val="1200"/>
              </a:spcAft>
              <a:buClr>
                <a:srgbClr val="7F7F7F"/>
              </a:buClr>
              <a:buChar char="•"/>
            </a:pPr>
            <a:r>
              <a:rPr sz="1900" b="0" i="0">
                <a:solidFill>
                  <a:srgbClr val="262626"/>
                </a:solidFill>
                <a:latin typeface="Lato"/>
              </a:rPr>
              <a:t>RMSE khi ước lượng FCF trên WSD, 19 047 rep.</a:t>
            </a:r>
          </a:p>
          <a:p>
            <a:pPr marL="164592" indent="-164592" algn="l">
              <a:lnSpc>
                <a:spcPct val="105000"/>
              </a:lnSpc>
              <a:spcAft>
                <a:spcPts val="1200"/>
              </a:spcAft>
              <a:buClr>
                <a:srgbClr val="7F7F7F"/>
              </a:buClr>
              <a:buChar char="•"/>
            </a:pPr>
            <a:r>
              <a:rPr sz="1900" b="0" i="0">
                <a:solidFill>
                  <a:srgbClr val="262626"/>
                </a:solidFill>
                <a:latin typeface="Lato"/>
              </a:rPr>
              <a:t>Trên cả hai dataset, sEMG </a:t>
            </a:r>
            <a:r>
              <a:rPr sz="1900" b="1" i="0">
                <a:solidFill>
                  <a:srgbClr val="262626"/>
                </a:solidFill>
                <a:latin typeface="Lato"/>
              </a:rPr>
              <a:t>chưa tốt hơn</a:t>
            </a:r>
            <a:r>
              <a:rPr sz="1900" b="0" i="0">
                <a:solidFill>
                  <a:srgbClr val="262626"/>
                </a:solidFill>
                <a:latin typeface="Lato"/>
              </a:rPr>
              <a:t> rep-count baseline, kể cả khi mức tải thay đổi.</a:t>
            </a:r>
          </a:p>
          <a:p>
            <a:pPr marL="164592" indent="-164592" algn="l">
              <a:lnSpc>
                <a:spcPct val="105000"/>
              </a:lnSpc>
              <a:spcAft>
                <a:spcPts val="1200"/>
              </a:spcAft>
              <a:buClr>
                <a:srgbClr val="7F7F7F"/>
              </a:buClr>
              <a:buChar char="•"/>
            </a:pPr>
            <a:r>
              <a:rPr sz="1900" b="0" i="0">
                <a:solidFill>
                  <a:srgbClr val="262626"/>
                </a:solidFill>
                <a:latin typeface="Lato"/>
              </a:rPr>
              <a:t>Mô hình sEMG có học tín hiệu thật, nhưng ít hơn thông tin mà số thứ tự rep đã cho sẵn.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TỔNG KẾT</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PHẠM VI PHÁT BIỂU</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48</a:t>
            </a:r>
          </a:p>
        </p:txBody>
      </p:sp>
      <p:sp>
        <p:nvSpPr>
          <p:cNvPr id="17" name="TextBox 16"/>
          <p:cNvSpPr txBox="1"/>
          <p:nvPr/>
        </p:nvSpPr>
        <p:spPr>
          <a:xfrm>
            <a:off x="365760" y="1737360"/>
            <a:ext cx="4023360" cy="411480"/>
          </a:xfrm>
          <a:prstGeom prst="rect">
            <a:avLst/>
          </a:prstGeom>
          <a:noFill/>
        </p:spPr>
        <p:txBody>
          <a:bodyPr wrap="square" lIns="36576" tIns="36576" rIns="36576" bIns="36576" anchor="t">
            <a:spAutoFit/>
          </a:bodyPr>
          <a:lstStyle/>
          <a:p>
            <a:pPr algn="l">
              <a:spcAft>
                <a:spcPts val="400"/>
              </a:spcAft>
            </a:pPr>
            <a:r>
              <a:rPr sz="1800" b="1" i="0">
                <a:solidFill>
                  <a:srgbClr val="262626"/>
                </a:solidFill>
                <a:latin typeface="Lato"/>
              </a:rPr>
              <a:t>Được phát biểu</a:t>
            </a:r>
          </a:p>
        </p:txBody>
      </p:sp>
      <p:sp>
        <p:nvSpPr>
          <p:cNvPr id="18" name="Rectangle 17"/>
          <p:cNvSpPr/>
          <p:nvPr/>
        </p:nvSpPr>
        <p:spPr>
          <a:xfrm>
            <a:off x="365760" y="2194560"/>
            <a:ext cx="4023360" cy="27432"/>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2304288"/>
            <a:ext cx="4023360" cy="3913631"/>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500" b="0" i="0">
                <a:solidFill>
                  <a:srgbClr val="262626"/>
                </a:solidFill>
                <a:latin typeface="Lato"/>
              </a:rPr>
              <a:t>Trên hai dataset, không cấu hình sEMG nào tốt hơn rep-count baseline, kể cả khi tải thay đổi</a:t>
            </a:r>
          </a:p>
          <a:p>
            <a:pPr marL="164592" indent="-164592" algn="l">
              <a:lnSpc>
                <a:spcPct val="105000"/>
              </a:lnSpc>
              <a:spcAft>
                <a:spcPts val="800"/>
              </a:spcAft>
              <a:buClr>
                <a:srgbClr val="7F7F7F"/>
              </a:buClr>
              <a:buChar char="•"/>
            </a:pPr>
            <a:r>
              <a:rPr sz="1500" b="0" i="0">
                <a:solidFill>
                  <a:srgbClr val="262626"/>
                </a:solidFill>
                <a:latin typeface="Lato"/>
              </a:rPr>
              <a:t>Mô hình học tín hiệu thật, nhưng ít hơn thông tin baseline đã có sẵn</a:t>
            </a:r>
          </a:p>
          <a:p>
            <a:pPr marL="164592" indent="-164592" algn="l">
              <a:lnSpc>
                <a:spcPct val="105000"/>
              </a:lnSpc>
              <a:spcAft>
                <a:spcPts val="800"/>
              </a:spcAft>
              <a:buClr>
                <a:srgbClr val="7F7F7F"/>
              </a:buClr>
              <a:buChar char="•"/>
            </a:pPr>
            <a:r>
              <a:rPr sz="1500" b="0" i="0">
                <a:solidFill>
                  <a:srgbClr val="262626"/>
                </a:solidFill>
                <a:latin typeface="Lato"/>
              </a:rPr>
              <a:t>“Trên dataset này không tách được hiệu ứng mức tải khỏi hiệu ứng độ dài set.”</a:t>
            </a:r>
          </a:p>
          <a:p>
            <a:pPr marL="164592" indent="-164592" algn="l">
              <a:lnSpc>
                <a:spcPct val="105000"/>
              </a:lnSpc>
              <a:spcAft>
                <a:spcPts val="800"/>
              </a:spcAft>
              <a:buClr>
                <a:srgbClr val="7F7F7F"/>
              </a:buClr>
              <a:buChar char="•"/>
            </a:pPr>
            <a:r>
              <a:rPr sz="1500" b="0" i="0">
                <a:solidFill>
                  <a:srgbClr val="262626"/>
                </a:solidFill>
                <a:latin typeface="Lato"/>
              </a:rPr>
              <a:t>Chuẩn hoá theo MVC kém theo 3 rep tham chiếu trên cả hai dataset, và không phải do đo MVIC nhiễu</a:t>
            </a:r>
          </a:p>
          <a:p>
            <a:pPr marL="164592" indent="-164592" algn="l">
              <a:lnSpc>
                <a:spcPct val="105000"/>
              </a:lnSpc>
              <a:spcAft>
                <a:spcPts val="800"/>
              </a:spcAft>
              <a:buClr>
                <a:srgbClr val="7F7F7F"/>
              </a:buClr>
              <a:buChar char="•"/>
            </a:pPr>
            <a:r>
              <a:rPr sz="1500" b="0" i="0">
                <a:solidFill>
                  <a:srgbClr val="262626"/>
                </a:solidFill>
                <a:latin typeface="Lato"/>
              </a:rPr>
              <a:t>Bốn đặc trưng C1 dùng nằm ở hoặc sát mức naive khi đánh giá LOSO</a:t>
            </a:r>
          </a:p>
        </p:txBody>
      </p:sp>
      <p:sp>
        <p:nvSpPr>
          <p:cNvPr id="20" name="TextBox 19"/>
          <p:cNvSpPr txBox="1"/>
          <p:nvPr/>
        </p:nvSpPr>
        <p:spPr>
          <a:xfrm>
            <a:off x="4663440" y="1737360"/>
            <a:ext cx="4023360" cy="41148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Không được phát biểu</a:t>
            </a:r>
          </a:p>
        </p:txBody>
      </p:sp>
      <p:sp>
        <p:nvSpPr>
          <p:cNvPr id="21" name="Rectangle 20"/>
          <p:cNvSpPr/>
          <p:nvPr/>
        </p:nvSpPr>
        <p:spPr>
          <a:xfrm>
            <a:off x="4663440" y="2194560"/>
            <a:ext cx="4023360" cy="27432"/>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63440" y="2304288"/>
            <a:ext cx="4023360" cy="3913631"/>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500" b="0" i="0">
                <a:solidFill>
                  <a:srgbClr val="262626"/>
                </a:solidFill>
                <a:latin typeface="Lato"/>
              </a:rPr>
              <a:t>“sEMG không mang thông tin”</a:t>
            </a:r>
          </a:p>
          <a:p>
            <a:pPr marL="164592" indent="-164592" algn="l">
              <a:lnSpc>
                <a:spcPct val="105000"/>
              </a:lnSpc>
              <a:spcAft>
                <a:spcPts val="800"/>
              </a:spcAft>
              <a:buClr>
                <a:srgbClr val="7F7F7F"/>
              </a:buClr>
              <a:buChar char="•"/>
            </a:pPr>
            <a:r>
              <a:rPr sz="1500" b="0" i="0">
                <a:solidFill>
                  <a:srgbClr val="262626"/>
                </a:solidFill>
                <a:latin typeface="Lato"/>
              </a:rPr>
              <a:t>“Nhóm ngang C1”, hoặc so trực tiếp RMSE với C1, C2, C3</a:t>
            </a:r>
          </a:p>
          <a:p>
            <a:pPr marL="164592" indent="-164592" algn="l">
              <a:lnSpc>
                <a:spcPct val="105000"/>
              </a:lnSpc>
              <a:spcAft>
                <a:spcPts val="800"/>
              </a:spcAft>
              <a:buClr>
                <a:srgbClr val="7F7F7F"/>
              </a:buClr>
              <a:buChar char="•"/>
            </a:pPr>
            <a:r>
              <a:rPr sz="1500" b="0" i="0">
                <a:solidFill>
                  <a:srgbClr val="262626"/>
                </a:solidFill>
                <a:latin typeface="Lato"/>
              </a:rPr>
              <a:t>“Chuẩn hoá ngoài set không có tác dụng” (mới đo MVIC)</a:t>
            </a:r>
          </a:p>
          <a:p>
            <a:pPr marL="164592" indent="-164592" algn="l">
              <a:lnSpc>
                <a:spcPct val="105000"/>
              </a:lnSpc>
              <a:spcAft>
                <a:spcPts val="800"/>
              </a:spcAft>
              <a:buClr>
                <a:srgbClr val="7F7F7F"/>
              </a:buClr>
              <a:buChar char="•"/>
            </a:pPr>
            <a:r>
              <a:rPr sz="1500" b="0" i="0">
                <a:solidFill>
                  <a:srgbClr val="262626"/>
                </a:solidFill>
                <a:latin typeface="Lato"/>
              </a:rPr>
              <a:t>Đọc “chưa đủ bằng chứng” thành “bằng nhau”</a:t>
            </a:r>
          </a:p>
          <a:p>
            <a:pPr marL="164592" indent="-164592" algn="l">
              <a:lnSpc>
                <a:spcPct val="105000"/>
              </a:lnSpc>
              <a:spcAft>
                <a:spcPts val="800"/>
              </a:spcAft>
              <a:buClr>
                <a:srgbClr val="7F7F7F"/>
              </a:buClr>
              <a:buChar char="•"/>
            </a:pPr>
            <a:r>
              <a:rPr sz="1500" b="0" i="0">
                <a:solidFill>
                  <a:srgbClr val="262626"/>
                </a:solidFill>
                <a:latin typeface="Lato"/>
              </a:rPr>
              <a:t>“Pipeline của C1 sụp khi bỏ huấn luyện riêng từng người” (chưa chạy pipeline của họ)</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DÒNG THỜI GIAN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49</a:t>
            </a:r>
          </a:p>
        </p:txBody>
      </p:sp>
      <p:sp>
        <p:nvSpPr>
          <p:cNvPr id="17" name="Rectangle 16"/>
          <p:cNvSpPr/>
          <p:nvPr/>
        </p:nvSpPr>
        <p:spPr>
          <a:xfrm>
            <a:off x="1517904" y="1435607"/>
            <a:ext cx="18288" cy="442569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1325880"/>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Trước 4/9</a:t>
            </a:r>
          </a:p>
        </p:txBody>
      </p:sp>
      <p:sp>
        <p:nvSpPr>
          <p:cNvPr id="19" name="Oval 18"/>
          <p:cNvSpPr/>
          <p:nvPr/>
        </p:nvSpPr>
        <p:spPr>
          <a:xfrm>
            <a:off x="1453896" y="1389888"/>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83080" y="1325880"/>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Tái hiện C1 trên Zenodo, xây N1; mốc 16.8% đầu tiên</a:t>
            </a:r>
          </a:p>
        </p:txBody>
      </p:sp>
      <p:sp>
        <p:nvSpPr>
          <p:cNvPr id="21" name="TextBox 20"/>
          <p:cNvSpPr txBox="1"/>
          <p:nvPr/>
        </p:nvSpPr>
        <p:spPr>
          <a:xfrm>
            <a:off x="5852160" y="1325880"/>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Còn data leakage, chọn cơ theo kết quả</a:t>
            </a:r>
          </a:p>
        </p:txBody>
      </p:sp>
      <p:sp>
        <p:nvSpPr>
          <p:cNvPr id="22" name="TextBox 21"/>
          <p:cNvSpPr txBox="1"/>
          <p:nvPr/>
        </p:nvSpPr>
        <p:spPr>
          <a:xfrm>
            <a:off x="365760" y="1728216"/>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~12/9</a:t>
            </a:r>
          </a:p>
        </p:txBody>
      </p:sp>
      <p:sp>
        <p:nvSpPr>
          <p:cNvPr id="23" name="Oval 22"/>
          <p:cNvSpPr/>
          <p:nvPr/>
        </p:nvSpPr>
        <p:spPr>
          <a:xfrm>
            <a:off x="1453896" y="1792224"/>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83080" y="1728216"/>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Bỏ rep tham chiếu khỏi đánh giá; bỏ slope; ngưỡng từ rep tham chiếu</a:t>
            </a:r>
          </a:p>
        </p:txBody>
      </p:sp>
      <p:sp>
        <p:nvSpPr>
          <p:cNvPr id="25" name="TextBox 24"/>
          <p:cNvSpPr txBox="1"/>
          <p:nvPr/>
        </p:nvSpPr>
        <p:spPr>
          <a:xfrm>
            <a:off x="5852160" y="1728216"/>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Phát hiện data leakage</a:t>
            </a:r>
          </a:p>
        </p:txBody>
      </p:sp>
      <p:sp>
        <p:nvSpPr>
          <p:cNvPr id="26" name="TextBox 25"/>
          <p:cNvSpPr txBox="1"/>
          <p:nvPr/>
        </p:nvSpPr>
        <p:spPr>
          <a:xfrm>
            <a:off x="365760" y="2130552"/>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13/9</a:t>
            </a:r>
          </a:p>
        </p:txBody>
      </p:sp>
      <p:sp>
        <p:nvSpPr>
          <p:cNvPr id="27" name="Oval 26"/>
          <p:cNvSpPr/>
          <p:nvPr/>
        </p:nvSpPr>
        <p:spPr>
          <a:xfrm>
            <a:off x="1453896" y="2194560"/>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783080" y="2130552"/>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Checkpoint tháng 4 không đạt: 2.97% so với 15%</a:t>
            </a:r>
          </a:p>
        </p:txBody>
      </p:sp>
      <p:sp>
        <p:nvSpPr>
          <p:cNvPr id="29" name="TextBox 28"/>
          <p:cNvSpPr txBox="1"/>
          <p:nvPr/>
        </p:nvSpPr>
        <p:spPr>
          <a:xfrm>
            <a:off x="5852160" y="2130552"/>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Đo đúng như kế hoạch</a:t>
            </a:r>
          </a:p>
        </p:txBody>
      </p:sp>
      <p:sp>
        <p:nvSpPr>
          <p:cNvPr id="30" name="TextBox 29"/>
          <p:cNvSpPr txBox="1"/>
          <p:nvPr/>
        </p:nvSpPr>
        <p:spPr>
          <a:xfrm>
            <a:off x="365760" y="2532888"/>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13/9</a:t>
            </a:r>
          </a:p>
        </p:txBody>
      </p:sp>
      <p:sp>
        <p:nvSpPr>
          <p:cNvPr id="31" name="Oval 30"/>
          <p:cNvSpPr/>
          <p:nvPr/>
        </p:nvSpPr>
        <p:spPr>
          <a:xfrm>
            <a:off x="1453896" y="2596896"/>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783080" y="2532888"/>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Rep-count baseline vào mọi bảng; mẫu số chính đổi thành naive</a:t>
            </a:r>
          </a:p>
        </p:txBody>
      </p:sp>
      <p:sp>
        <p:nvSpPr>
          <p:cNvPr id="33" name="TextBox 32"/>
          <p:cNvSpPr txBox="1"/>
          <p:nvPr/>
        </p:nvSpPr>
        <p:spPr>
          <a:xfrm>
            <a:off x="5852160" y="2532888"/>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Baseline 19.41% tốt hơn sEMG 24.33%</a:t>
            </a:r>
          </a:p>
        </p:txBody>
      </p:sp>
      <p:sp>
        <p:nvSpPr>
          <p:cNvPr id="34" name="TextBox 33"/>
          <p:cNvSpPr txBox="1"/>
          <p:nvPr/>
        </p:nvSpPr>
        <p:spPr>
          <a:xfrm>
            <a:off x="365760" y="2935224"/>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14/9</a:t>
            </a:r>
          </a:p>
        </p:txBody>
      </p:sp>
      <p:sp>
        <p:nvSpPr>
          <p:cNvPr id="35" name="Oval 34"/>
          <p:cNvSpPr/>
          <p:nvPr/>
        </p:nvSpPr>
        <p:spPr>
          <a:xfrm>
            <a:off x="1453896" y="2999232"/>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783080" y="2935224"/>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Đóng Zenodo; còn luận điểm độ bền</a:t>
            </a:r>
          </a:p>
        </p:txBody>
      </p:sp>
      <p:sp>
        <p:nvSpPr>
          <p:cNvPr id="37" name="TextBox 36"/>
          <p:cNvSpPr txBox="1"/>
          <p:nvPr/>
        </p:nvSpPr>
        <p:spPr>
          <a:xfrm>
            <a:off x="5852160" y="2935224"/>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Quy tắc dừng đã dùng hết</a:t>
            </a:r>
          </a:p>
        </p:txBody>
      </p:sp>
      <p:sp>
        <p:nvSpPr>
          <p:cNvPr id="38" name="TextBox 37"/>
          <p:cNvSpPr txBox="1"/>
          <p:nvPr/>
        </p:nvSpPr>
        <p:spPr>
          <a:xfrm>
            <a:off x="365760" y="3337560"/>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18/9</a:t>
            </a:r>
          </a:p>
        </p:txBody>
      </p:sp>
      <p:sp>
        <p:nvSpPr>
          <p:cNvPr id="39" name="Oval 38"/>
          <p:cNvSpPr/>
          <p:nvPr/>
        </p:nvSpPr>
        <p:spPr>
          <a:xfrm>
            <a:off x="1453896" y="3401568"/>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783080" y="3337560"/>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Chọn WSD, khoá kế hoạch phân tích</a:t>
            </a:r>
          </a:p>
        </p:txBody>
      </p:sp>
      <p:sp>
        <p:nvSpPr>
          <p:cNvPr id="41" name="TextBox 40"/>
          <p:cNvSpPr txBox="1"/>
          <p:nvPr/>
        </p:nvSpPr>
        <p:spPr>
          <a:xfrm>
            <a:off x="5852160" y="3337560"/>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Có tải, có MVIC, set ngắn hơn</a:t>
            </a:r>
          </a:p>
        </p:txBody>
      </p:sp>
      <p:sp>
        <p:nvSpPr>
          <p:cNvPr id="42" name="TextBox 41"/>
          <p:cNvSpPr txBox="1"/>
          <p:nvPr/>
        </p:nvSpPr>
        <p:spPr>
          <a:xfrm>
            <a:off x="365760" y="3739896"/>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18/9</a:t>
            </a:r>
          </a:p>
        </p:txBody>
      </p:sp>
      <p:sp>
        <p:nvSpPr>
          <p:cNvPr id="43" name="Oval 42"/>
          <p:cNvSpPr/>
          <p:nvPr/>
        </p:nvSpPr>
        <p:spPr>
          <a:xfrm>
            <a:off x="1453896" y="3803904"/>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783080" y="3739896"/>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Câu 1: baseline tốt hơn sEMG 8.26pp</a:t>
            </a:r>
          </a:p>
        </p:txBody>
      </p:sp>
      <p:sp>
        <p:nvSpPr>
          <p:cNvPr id="45" name="TextBox 44"/>
          <p:cNvSpPr txBox="1"/>
          <p:nvPr/>
        </p:nvSpPr>
        <p:spPr>
          <a:xfrm>
            <a:off x="5852160" y="3739896"/>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Lặp lại, mạnh hơn</a:t>
            </a:r>
          </a:p>
        </p:txBody>
      </p:sp>
      <p:sp>
        <p:nvSpPr>
          <p:cNvPr id="46" name="TextBox 45"/>
          <p:cNvSpPr txBox="1"/>
          <p:nvPr/>
        </p:nvSpPr>
        <p:spPr>
          <a:xfrm>
            <a:off x="365760" y="4142232"/>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19/9</a:t>
            </a:r>
          </a:p>
        </p:txBody>
      </p:sp>
      <p:sp>
        <p:nvSpPr>
          <p:cNvPr id="47" name="Oval 46"/>
          <p:cNvSpPr/>
          <p:nvPr/>
        </p:nvSpPr>
        <p:spPr>
          <a:xfrm>
            <a:off x="1453896" y="4206240"/>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783080" y="4142232"/>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Câu 2: MVIC kém 3 rep tham chiếu 2.70pp</a:t>
            </a:r>
          </a:p>
        </p:txBody>
      </p:sp>
      <p:sp>
        <p:nvSpPr>
          <p:cNvPr id="49" name="TextBox 48"/>
          <p:cNvSpPr txBox="1"/>
          <p:nvPr/>
        </p:nvSpPr>
        <p:spPr>
          <a:xfrm>
            <a:off x="5852160" y="4142232"/>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Dự báo bị bác</a:t>
            </a:r>
          </a:p>
        </p:txBody>
      </p:sp>
      <p:sp>
        <p:nvSpPr>
          <p:cNvPr id="50" name="TextBox 49"/>
          <p:cNvSpPr txBox="1"/>
          <p:nvPr/>
        </p:nvSpPr>
        <p:spPr>
          <a:xfrm>
            <a:off x="365760" y="4544568"/>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20/9</a:t>
            </a:r>
          </a:p>
        </p:txBody>
      </p:sp>
      <p:sp>
        <p:nvSpPr>
          <p:cNvPr id="51" name="Oval 50"/>
          <p:cNvSpPr/>
          <p:nvPr/>
        </p:nvSpPr>
        <p:spPr>
          <a:xfrm>
            <a:off x="1453896" y="4608576"/>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783080" y="4544568"/>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Câu 3: độ bền không được ủng hộ → bài phương pháp</a:t>
            </a:r>
          </a:p>
        </p:txBody>
      </p:sp>
      <p:sp>
        <p:nvSpPr>
          <p:cNvPr id="53" name="TextBox 52"/>
          <p:cNvSpPr txBox="1"/>
          <p:nvPr/>
        </p:nvSpPr>
        <p:spPr>
          <a:xfrm>
            <a:off x="5852160" y="4544568"/>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Baseline ngoại suy tốt hơn ở tải chưa gặp</a:t>
            </a:r>
          </a:p>
        </p:txBody>
      </p:sp>
      <p:sp>
        <p:nvSpPr>
          <p:cNvPr id="54" name="TextBox 53"/>
          <p:cNvSpPr txBox="1"/>
          <p:nvPr/>
        </p:nvSpPr>
        <p:spPr>
          <a:xfrm>
            <a:off x="365760" y="4946904"/>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20/9</a:t>
            </a:r>
          </a:p>
        </p:txBody>
      </p:sp>
      <p:sp>
        <p:nvSpPr>
          <p:cNvPr id="55" name="Oval 54"/>
          <p:cNvSpPr/>
          <p:nvPr/>
        </p:nvSpPr>
        <p:spPr>
          <a:xfrm>
            <a:off x="1453896" y="5010912"/>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783080" y="4946904"/>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Giữ cấu hình chính; đóng WSD</a:t>
            </a:r>
          </a:p>
        </p:txBody>
      </p:sp>
      <p:sp>
        <p:nvSpPr>
          <p:cNvPr id="57" name="TextBox 56"/>
          <p:cNvSpPr txBox="1"/>
          <p:nvPr/>
        </p:nvSpPr>
        <p:spPr>
          <a:xfrm>
            <a:off x="5852160" y="4946904"/>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Không đổi cấu hình sau khi thấy số</a:t>
            </a:r>
          </a:p>
        </p:txBody>
      </p:sp>
      <p:sp>
        <p:nvSpPr>
          <p:cNvPr id="58" name="TextBox 57"/>
          <p:cNvSpPr txBox="1"/>
          <p:nvPr/>
        </p:nvSpPr>
        <p:spPr>
          <a:xfrm>
            <a:off x="365760" y="5349240"/>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24/9</a:t>
            </a:r>
          </a:p>
        </p:txBody>
      </p:sp>
      <p:sp>
        <p:nvSpPr>
          <p:cNvPr id="59" name="Oval 58"/>
          <p:cNvSpPr/>
          <p:nvPr/>
        </p:nvSpPr>
        <p:spPr>
          <a:xfrm>
            <a:off x="1453896" y="5413248"/>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783080" y="5349240"/>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Phân công giai đoạn phần cứng; board đã về</a:t>
            </a:r>
          </a:p>
        </p:txBody>
      </p:sp>
      <p:sp>
        <p:nvSpPr>
          <p:cNvPr id="61" name="TextBox 60"/>
          <p:cNvSpPr txBox="1"/>
          <p:nvPr/>
        </p:nvSpPr>
        <p:spPr>
          <a:xfrm>
            <a:off x="5852160" y="5349240"/>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Đường găng chuyển sang phần cứng</a:t>
            </a:r>
          </a:p>
        </p:txBody>
      </p:sp>
      <p:sp>
        <p:nvSpPr>
          <p:cNvPr id="62" name="TextBox 61"/>
          <p:cNvSpPr txBox="1"/>
          <p:nvPr/>
        </p:nvSpPr>
        <p:spPr>
          <a:xfrm>
            <a:off x="365760" y="5751576"/>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1/10</a:t>
            </a:r>
          </a:p>
        </p:txBody>
      </p:sp>
      <p:sp>
        <p:nvSpPr>
          <p:cNvPr id="63" name="Oval 62"/>
          <p:cNvSpPr/>
          <p:nvPr/>
        </p:nvSpPr>
        <p:spPr>
          <a:xfrm>
            <a:off x="1453896" y="5815584"/>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783080" y="5751576"/>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Zenodo: chuẩn hoá theo MVC kém 3 rep tham chiếu 2.11pp</a:t>
            </a:r>
          </a:p>
        </p:txBody>
      </p:sp>
      <p:sp>
        <p:nvSpPr>
          <p:cNvPr id="65" name="TextBox 64"/>
          <p:cNvSpPr txBox="1"/>
          <p:nvPr/>
        </p:nvSpPr>
        <p:spPr>
          <a:xfrm>
            <a:off x="5852160" y="5751576"/>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Lặp lại kết quả WSD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ĐỊNH HƯỚNG TIẾP THEO</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50</a:t>
            </a:r>
          </a:p>
        </p:txBody>
      </p:sp>
      <p:graphicFrame>
        <p:nvGraphicFramePr>
          <p:cNvPr id="17" name="Table 16"/>
          <p:cNvGraphicFramePr>
            <a:graphicFrameLocks noGrp="1"/>
          </p:cNvGraphicFramePr>
          <p:nvPr/>
        </p:nvGraphicFramePr>
        <p:xfrm>
          <a:off x="365760" y="1371600"/>
          <a:ext cx="8412480" cy="2670048"/>
        </p:xfrm>
        <a:graphic>
          <a:graphicData uri="http://schemas.openxmlformats.org/drawingml/2006/table">
            <a:tbl>
              <a:tblPr/>
              <a:tblGrid>
                <a:gridCol w="32004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384048">
                <a:tc>
                  <a:txBody>
                    <a:bodyPr/>
                    <a:lstStyle/>
                    <a:p>
                      <a:pPr algn="l">
                        <a:spcAft>
                          <a:spcPts val="0"/>
                        </a:spcAft>
                      </a:pPr>
                      <a:r>
                        <a:rPr sz="1400" b="1" i="0">
                          <a:solidFill>
                            <a:srgbClr val="FFFFFF"/>
                          </a:solidFill>
                          <a:latin typeface="Lato"/>
                        </a:rPr>
                        <a:t>Novelty gốc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Sau hai dataset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57200">
                <a:tc>
                  <a:txBody>
                    <a:bodyPr/>
                    <a:lstStyle/>
                    <a:p>
                      <a:pPr algn="l">
                        <a:spcAft>
                          <a:spcPts val="0"/>
                        </a:spcAft>
                      </a:pPr>
                      <a:r>
                        <a:rPr sz="1400" b="1" i="0">
                          <a:solidFill>
                            <a:srgbClr val="262626"/>
                          </a:solidFill>
                          <a:latin typeface="Lato"/>
                        </a:rPr>
                        <a:t>N1 · Chuẩn hoá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Kém rep-count baseline trên cả hai dataset; tốt hơn chuẩn hoá theo MVIC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400" b="1" i="0">
                          <a:solidFill>
                            <a:srgbClr val="262626"/>
                          </a:solidFill>
                          <a:latin typeface="Lato"/>
                        </a:rPr>
                        <a:t>N2 · Hai đầu ra FCF và RIR</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Chưa kiểm đủ chặt, chưa vào bảng nào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400" b="1" i="0">
                          <a:solidFill>
                            <a:srgbClr val="262626"/>
                          </a:solidFill>
                          <a:latin typeface="Lato"/>
                        </a:rPr>
                        <a:t>N3 · Kiểm chéo bằng velocity loss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Không kiểm được: sai số đo 0.34 s, cần ≤ 0.05 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400" b="1" i="0">
                          <a:solidFill>
                            <a:srgbClr val="262626"/>
                          </a:solidFill>
                          <a:latin typeface="Lato"/>
                        </a:rPr>
                        <a:t>N4 · Chỉ số hiệu quả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extLst>
                  <a:ext uri="{0D108BD9-81ED-4DB2-BD59-A6C34878D82A}">
                    <a16:rowId xmlns:a16="http://schemas.microsoft.com/office/drawing/2014/main" val="10004"/>
                  </a:ext>
                </a:extLst>
              </a:tr>
              <a:tr h="457200">
                <a:tc>
                  <a:txBody>
                    <a:bodyPr/>
                    <a:lstStyle/>
                    <a:p>
                      <a:pPr algn="l">
                        <a:spcAft>
                          <a:spcPts val="0"/>
                        </a:spcAft>
                      </a:pPr>
                      <a:r>
                        <a:rPr sz="1400" b="1" i="0">
                          <a:solidFill>
                            <a:srgbClr val="262626"/>
                          </a:solidFill>
                          <a:latin typeface="Lato"/>
                        </a:rPr>
                        <a:t>N5 · Chạy trên ESP32-S3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Đổi vai: đo chi phí của từng phương án, kể cả rep-count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
        <p:nvSpPr>
          <p:cNvPr id="18" name="TextBox 17"/>
          <p:cNvSpPr txBox="1"/>
          <p:nvPr/>
        </p:nvSpPr>
        <p:spPr>
          <a:xfrm>
            <a:off x="365760" y="4251960"/>
            <a:ext cx="8412480" cy="192024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600" b="0" i="0">
                <a:solidFill>
                  <a:srgbClr val="262626"/>
                </a:solidFill>
                <a:latin typeface="Lato"/>
              </a:rPr>
              <a:t>Bài báo chuyển thành bài phương pháp: “Rep-Count Baselines Are Necessary: A Re-Evaluation Protocol for sEMG-Based Fatigue-Progression Estimation, with Edge Deployment”. Đích nộp: BSPC, dự phòng Sensors.</a:t>
            </a:r>
          </a:p>
          <a:p>
            <a:pPr marL="164592" indent="-164592" algn="l">
              <a:lnSpc>
                <a:spcPct val="105000"/>
              </a:lnSpc>
              <a:spcAft>
                <a:spcPts val="1000"/>
              </a:spcAft>
              <a:buClr>
                <a:srgbClr val="7F7F7F"/>
              </a:buClr>
              <a:buChar char="•"/>
            </a:pPr>
            <a:r>
              <a:rPr sz="1600" b="0" i="0">
                <a:solidFill>
                  <a:srgbClr val="262626"/>
                </a:solidFill>
                <a:latin typeface="Lato"/>
              </a:rPr>
              <a:t>Kiểm trước trên dữ liệu công khai đã làm đúng việc của nó: biết kết quả trước khi bỏ chi phí thu dữ liệu người.</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GIAI ĐOẠN PHẦN CỨNG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51</a:t>
            </a:r>
          </a:p>
        </p:txBody>
      </p:sp>
      <p:sp>
        <p:nvSpPr>
          <p:cNvPr id="17" name="TextBox 16"/>
          <p:cNvSpPr txBox="1"/>
          <p:nvPr/>
        </p:nvSpPr>
        <p:spPr>
          <a:xfrm>
            <a:off x="365760" y="1417320"/>
            <a:ext cx="4937760" cy="4754880"/>
          </a:xfrm>
          <a:prstGeom prst="rect">
            <a:avLst/>
          </a:prstGeom>
          <a:noFill/>
        </p:spPr>
        <p:txBody>
          <a:bodyPr wrap="square" lIns="36576" tIns="36576" rIns="36576" bIns="36576" anchor="t">
            <a:spAutoFit/>
          </a:bodyPr>
          <a:lstStyle/>
          <a:p>
            <a:pPr marL="164592" indent="-164592" algn="l">
              <a:lnSpc>
                <a:spcPct val="105000"/>
              </a:lnSpc>
              <a:spcAft>
                <a:spcPts val="1200"/>
              </a:spcAft>
              <a:buClr>
                <a:srgbClr val="7F7F7F"/>
              </a:buClr>
              <a:buChar char="•"/>
            </a:pPr>
            <a:r>
              <a:rPr sz="1700" b="1" i="0">
                <a:solidFill>
                  <a:srgbClr val="262626"/>
                </a:solidFill>
                <a:latin typeface="Lato"/>
              </a:rPr>
              <a:t>Checkpoint G3</a:t>
            </a:r>
            <a:r>
              <a:rPr sz="1700" b="0" i="0">
                <a:solidFill>
                  <a:srgbClr val="262626"/>
                </a:solidFill>
                <a:latin typeface="Lato"/>
              </a:rPr>
              <a:t>: phát lại tín hiệu WSD qua mạch thu thật (ADS1292R); đặc trưng sau mạch phải giữ được thông tin so với tín hiệu gốc, theo ngưỡng khai báo trước.</a:t>
            </a:r>
          </a:p>
          <a:p>
            <a:pPr marL="164592" indent="-164592" algn="l">
              <a:lnSpc>
                <a:spcPct val="105000"/>
              </a:lnSpc>
              <a:spcAft>
                <a:spcPts val="1200"/>
              </a:spcAft>
              <a:buClr>
                <a:srgbClr val="7F7F7F"/>
              </a:buClr>
              <a:buChar char="•"/>
            </a:pPr>
            <a:r>
              <a:rPr sz="1700" b="1" i="0">
                <a:solidFill>
                  <a:srgbClr val="262626"/>
                </a:solidFill>
                <a:latin typeface="Lato"/>
              </a:rPr>
              <a:t>Đạt</a:t>
            </a:r>
            <a:r>
              <a:rPr sz="1700" b="0" i="0">
                <a:solidFill>
                  <a:srgbClr val="262626"/>
                </a:solidFill>
                <a:latin typeface="Lato"/>
              </a:rPr>
              <a:t>: kết quả trên WSD chuyển được sang thiết bị.</a:t>
            </a:r>
          </a:p>
          <a:p>
            <a:pPr marL="164592" indent="-164592" algn="l">
              <a:lnSpc>
                <a:spcPct val="105000"/>
              </a:lnSpc>
              <a:spcAft>
                <a:spcPts val="1200"/>
              </a:spcAft>
              <a:buClr>
                <a:srgbClr val="7F7F7F"/>
              </a:buClr>
              <a:buChar char="•"/>
            </a:pPr>
            <a:r>
              <a:rPr sz="1700" b="1" i="0">
                <a:solidFill>
                  <a:srgbClr val="262626"/>
                </a:solidFill>
                <a:latin typeface="Lato"/>
              </a:rPr>
              <a:t>Không đạt</a:t>
            </a:r>
            <a:r>
              <a:rPr sz="1700" b="0" i="0">
                <a:solidFill>
                  <a:srgbClr val="262626"/>
                </a:solidFill>
                <a:latin typeface="Lato"/>
              </a:rPr>
              <a:t>: chỉnh mạch, không nới ngưỡng; vẫn trượt thì báo như một giới hạn đo được.</a:t>
            </a:r>
          </a:p>
          <a:p>
            <a:pPr marL="164592" indent="-164592" algn="l">
              <a:lnSpc>
                <a:spcPct val="105000"/>
              </a:lnSpc>
              <a:spcAft>
                <a:spcPts val="1200"/>
              </a:spcAft>
              <a:buClr>
                <a:srgbClr val="7F7F7F"/>
              </a:buClr>
              <a:buChar char="•"/>
            </a:pPr>
            <a:r>
              <a:rPr sz="1700" b="0" i="0">
                <a:solidFill>
                  <a:srgbClr val="262626"/>
                </a:solidFill>
                <a:latin typeface="Lato"/>
              </a:rPr>
              <a:t>Không cần người tham gia, nên không cần hồ sơ đạo đức cho bước này.</a:t>
            </a:r>
          </a:p>
        </p:txBody>
      </p:sp>
      <p:sp>
        <p:nvSpPr>
          <p:cNvPr id="18" name="Rectangle 17"/>
          <p:cNvSpPr/>
          <p:nvPr/>
        </p:nvSpPr>
        <p:spPr>
          <a:xfrm>
            <a:off x="5577840" y="1463039"/>
            <a:ext cx="27432" cy="44805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06440" y="1463039"/>
            <a:ext cx="1005840" cy="45720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4/10</a:t>
            </a:r>
          </a:p>
        </p:txBody>
      </p:sp>
      <p:sp>
        <p:nvSpPr>
          <p:cNvPr id="20" name="TextBox 19"/>
          <p:cNvSpPr txBox="1"/>
          <p:nvPr/>
        </p:nvSpPr>
        <p:spPr>
          <a:xfrm>
            <a:off x="6812280" y="1481328"/>
            <a:ext cx="1965960" cy="91440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mạch thu chạy đủ bốn tầng</a:t>
            </a:r>
          </a:p>
        </p:txBody>
      </p:sp>
      <p:sp>
        <p:nvSpPr>
          <p:cNvPr id="21" name="TextBox 20"/>
          <p:cNvSpPr txBox="1"/>
          <p:nvPr/>
        </p:nvSpPr>
        <p:spPr>
          <a:xfrm>
            <a:off x="5806440" y="2560320"/>
            <a:ext cx="1005840" cy="45720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18/10</a:t>
            </a:r>
          </a:p>
        </p:txBody>
      </p:sp>
      <p:sp>
        <p:nvSpPr>
          <p:cNvPr id="22" name="TextBox 21"/>
          <p:cNvSpPr txBox="1"/>
          <p:nvPr/>
        </p:nvSpPr>
        <p:spPr>
          <a:xfrm>
            <a:off x="6812280" y="2578608"/>
            <a:ext cx="1965960" cy="91440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khoá ngưỡng checkpoint G3</a:t>
            </a:r>
          </a:p>
        </p:txBody>
      </p:sp>
      <p:sp>
        <p:nvSpPr>
          <p:cNvPr id="23" name="TextBox 22"/>
          <p:cNvSpPr txBox="1"/>
          <p:nvPr/>
        </p:nvSpPr>
        <p:spPr>
          <a:xfrm>
            <a:off x="5806440" y="3657600"/>
            <a:ext cx="1005840" cy="45720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8/11</a:t>
            </a:r>
          </a:p>
        </p:txBody>
      </p:sp>
      <p:sp>
        <p:nvSpPr>
          <p:cNvPr id="24" name="TextBox 23"/>
          <p:cNvSpPr txBox="1"/>
          <p:nvPr/>
        </p:nvSpPr>
        <p:spPr>
          <a:xfrm>
            <a:off x="6812280" y="3675887"/>
            <a:ext cx="1965960" cy="91440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mốc dự phòng: bảng chi phí rút gọn</a:t>
            </a:r>
          </a:p>
        </p:txBody>
      </p:sp>
      <p:sp>
        <p:nvSpPr>
          <p:cNvPr id="25" name="TextBox 24"/>
          <p:cNvSpPr txBox="1"/>
          <p:nvPr/>
        </p:nvSpPr>
        <p:spPr>
          <a:xfrm>
            <a:off x="5806440" y="4754880"/>
            <a:ext cx="1005840" cy="45720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29/11</a:t>
            </a:r>
          </a:p>
        </p:txBody>
      </p:sp>
      <p:sp>
        <p:nvSpPr>
          <p:cNvPr id="26" name="TextBox 25"/>
          <p:cNvSpPr txBox="1"/>
          <p:nvPr/>
        </p:nvSpPr>
        <p:spPr>
          <a:xfrm>
            <a:off x="6812280" y="4773168"/>
            <a:ext cx="1965960" cy="91440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bản nháp bài đủ các mục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TIẾN ĐỘ MPU6050 VÀ ADS1292R · 02/10/2026</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52</a:t>
            </a:r>
          </a:p>
        </p:txBody>
      </p:sp>
      <p:graphicFrame>
        <p:nvGraphicFramePr>
          <p:cNvPr id="2" name="Table 1">
            <a:extLst>
              <a:ext uri="{FF2B5EF4-FFF2-40B4-BE49-F238E27FC236}">
                <a16:creationId xmlns:a16="http://schemas.microsoft.com/office/drawing/2014/main" id="{E101B921-FD7E-20EA-8061-1C110BD51196}"/>
              </a:ext>
            </a:extLst>
          </p:cNvPr>
          <p:cNvGraphicFramePr>
            <a:graphicFrameLocks noGrp="1"/>
          </p:cNvGraphicFramePr>
          <p:nvPr>
            <p:extLst>
              <p:ext uri="{D42A27DB-BD31-4B8C-83A1-F6EECF244321}">
                <p14:modId xmlns:p14="http://schemas.microsoft.com/office/powerpoint/2010/main" val="4185087496"/>
              </p:ext>
            </p:extLst>
          </p:nvPr>
        </p:nvGraphicFramePr>
        <p:xfrm>
          <a:off x="365760" y="1816100"/>
          <a:ext cx="8412480" cy="307340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9153675"/>
                    </a:ext>
                  </a:extLst>
                </a:gridCol>
                <a:gridCol w="3352800">
                  <a:extLst>
                    <a:ext uri="{9D8B030D-6E8A-4147-A177-3AD203B41FA5}">
                      <a16:colId xmlns:a16="http://schemas.microsoft.com/office/drawing/2014/main" val="1778007359"/>
                    </a:ext>
                  </a:extLst>
                </a:gridCol>
                <a:gridCol w="3357880">
                  <a:extLst>
                    <a:ext uri="{9D8B030D-6E8A-4147-A177-3AD203B41FA5}">
                      <a16:colId xmlns:a16="http://schemas.microsoft.com/office/drawing/2014/main" val="3287675704"/>
                    </a:ext>
                  </a:extLst>
                </a:gridCol>
              </a:tblGrid>
              <a:tr h="444500">
                <a:tc>
                  <a:txBody>
                    <a:bodyPr/>
                    <a:lstStyle/>
                    <a:p>
                      <a:pPr>
                        <a:spcAft>
                          <a:spcPts val="0"/>
                        </a:spcAft>
                        <a:buFontTx/>
                        <a:buNone/>
                      </a:pPr>
                      <a:r>
                        <a:rPr lang="en-US" sz="1600" b="1">
                          <a:solidFill>
                            <a:srgbClr val="FFFFFF"/>
                          </a:solidFill>
                          <a:latin typeface="Lato" panose="020F0502020204030203" pitchFamily="34" charset="0"/>
                        </a:rPr>
                        <a:t>Hạng mục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MPU6050 · dev-mpu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ADS1292R · binhdev-ads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332239245"/>
                  </a:ext>
                </a:extLst>
              </a:tr>
              <a:tr h="876300">
                <a:tc>
                  <a:txBody>
                    <a:bodyPr/>
                    <a:lstStyle/>
                    <a:p>
                      <a:pPr>
                        <a:spcAft>
                          <a:spcPts val="0"/>
                        </a:spcAft>
                        <a:buFontTx/>
                        <a:buNone/>
                      </a:pPr>
                      <a:r>
                        <a:rPr lang="en-US" sz="1600" b="0">
                          <a:solidFill>
                            <a:srgbClr val="262626"/>
                          </a:solidFill>
                          <a:latin typeface="Lato" panose="020F0502020204030203" pitchFamily="34" charset="0"/>
                        </a:rPr>
                        <a:t>Tín hiệu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Gia tốc, vận tốc góc, nhiệt độ; nút bấm</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Hai kênh điện thế sinh học 24 bit</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870028246"/>
                  </a:ext>
                </a:extLst>
              </a:tr>
              <a:tr h="876300">
                <a:tc>
                  <a:txBody>
                    <a:bodyPr/>
                    <a:lstStyle/>
                    <a:p>
                      <a:pPr>
                        <a:spcAft>
                          <a:spcPts val="0"/>
                        </a:spcAft>
                        <a:buFontTx/>
                        <a:buNone/>
                      </a:pPr>
                      <a:r>
                        <a:rPr lang="en-US" sz="1600" b="0">
                          <a:solidFill>
                            <a:srgbClr val="262626"/>
                          </a:solidFill>
                          <a:latin typeface="Lato" panose="020F0502020204030203" pitchFamily="34" charset="0"/>
                        </a:rPr>
                        <a:t>Thu dữ liệu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I²C; đọc định kỳ 100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SPI; ngắt DRDY, mục tiêu 2.000 SPS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831087152"/>
                  </a:ext>
                </a:extLst>
              </a:tr>
              <a:tr h="876300">
                <a:tc>
                  <a:txBody>
                    <a:bodyPr/>
                    <a:lstStyle/>
                    <a:p>
                      <a:pPr>
                        <a:spcAft>
                          <a:spcPts val="0"/>
                        </a:spcAft>
                        <a:buFontTx/>
                        <a:buNone/>
                      </a:pPr>
                      <a:r>
                        <a:rPr lang="en-US" sz="1600" b="0">
                          <a:solidFill>
                            <a:srgbClr val="262626"/>
                          </a:solidFill>
                          <a:latin typeface="Lato" panose="020F0502020204030203" pitchFamily="34" charset="0"/>
                        </a:rPr>
                        <a:t>Công cụ đã có</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CSV, 4 hình PNG, dashboard HTML tương tác</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CSV đầy đủ, web trực tiếp, DSP và phân tích offline</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508162773"/>
                  </a:ext>
                </a:extLst>
              </a:tr>
            </a:tbl>
          </a:graphicData>
        </a:graphic>
      </p:graphicFrame>
      <p:sp>
        <p:nvSpPr>
          <p:cNvPr id="3" name="TextBox 2">
            <a:extLst>
              <a:ext uri="{FF2B5EF4-FFF2-40B4-BE49-F238E27FC236}">
                <a16:creationId xmlns:a16="http://schemas.microsoft.com/office/drawing/2014/main" id="{9A87A7D4-B64D-B592-E29C-5C232CB9DE51}"/>
              </a:ext>
            </a:extLst>
          </p:cNvPr>
          <p:cNvSpPr txBox="1"/>
          <p:nvPr/>
        </p:nvSpPr>
        <p:spPr>
          <a:xfrm>
            <a:off x="365760" y="5156199"/>
            <a:ext cx="8412480" cy="1016000"/>
          </a:xfrm>
          <a:prstGeom prst="rect">
            <a:avLst/>
          </a:prstGeom>
          <a:noFill/>
        </p:spPr>
        <p:txBody>
          <a:bodyPr vert="horz" wrap="square" lIns="0" tIns="0" rIns="0" bIns="0" rtlCol="0">
            <a:noAutofit/>
          </a:bodyPr>
          <a:lstStyle/>
          <a:p>
            <a:r>
              <a:rPr lang="vi-VN" sz="1700">
                <a:solidFill>
                  <a:srgbClr val="262626"/>
                </a:solidFill>
                <a:latin typeface="Lato" panose="020F0502020204030203" pitchFamily="34" charset="0"/>
              </a:rPr>
              <a:t>Hai nhánh đã có luồng thu và quan sát dữ liệu riêng. Chưa tích hợp thu đồng thời MPU + ADS, đồng bộ timestamp, đếm rep tự động hoặc model FCF/RIR trên ESP32.</a:t>
            </a:r>
            <a:endParaRPr lang="en-US" sz="1700">
              <a:solidFill>
                <a:srgbClr val="262626"/>
              </a:solidFill>
              <a:latin typeface="Lato" panose="020F0502020204030203" pitchFamily="34" charset="0"/>
            </a:endParaRPr>
          </a:p>
        </p:txBody>
      </p:sp>
    </p:spTree>
    <p:extLst>
      <p:ext uri="{BB962C8B-B14F-4D97-AF65-F5344CB8AC3E}">
        <p14:creationId xmlns:p14="http://schemas.microsoft.com/office/powerpoint/2010/main" val="8543218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MPU6050 · THU CHUYỂN ĐỘNG VÀ ĐÁNH DẤU THAO TÁC</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53</a:t>
            </a:r>
          </a:p>
        </p:txBody>
      </p:sp>
      <p:graphicFrame>
        <p:nvGraphicFramePr>
          <p:cNvPr id="2" name="Table 1">
            <a:extLst>
              <a:ext uri="{FF2B5EF4-FFF2-40B4-BE49-F238E27FC236}">
                <a16:creationId xmlns:a16="http://schemas.microsoft.com/office/drawing/2014/main" id="{86C5E24A-3488-82C0-3B6A-54CBA616E5F6}"/>
              </a:ext>
            </a:extLst>
          </p:cNvPr>
          <p:cNvGraphicFramePr>
            <a:graphicFrameLocks noGrp="1"/>
          </p:cNvGraphicFramePr>
          <p:nvPr>
            <p:extLst>
              <p:ext uri="{D42A27DB-BD31-4B8C-83A1-F6EECF244321}">
                <p14:modId xmlns:p14="http://schemas.microsoft.com/office/powerpoint/2010/main" val="1650707466"/>
              </p:ext>
            </p:extLst>
          </p:nvPr>
        </p:nvGraphicFramePr>
        <p:xfrm>
          <a:off x="365760" y="1816100"/>
          <a:ext cx="8412480" cy="2984500"/>
        </p:xfrm>
        <a:graphic>
          <a:graphicData uri="http://schemas.openxmlformats.org/drawingml/2006/table">
            <a:tbl>
              <a:tblPr firstRow="1" bandRow="1">
                <a:tableStyleId>{5C22544A-7EE6-4342-B048-85BDC9FD1C3A}</a:tableStyleId>
              </a:tblPr>
              <a:tblGrid>
                <a:gridCol w="2070100">
                  <a:extLst>
                    <a:ext uri="{9D8B030D-6E8A-4147-A177-3AD203B41FA5}">
                      <a16:colId xmlns:a16="http://schemas.microsoft.com/office/drawing/2014/main" val="2113626039"/>
                    </a:ext>
                  </a:extLst>
                </a:gridCol>
                <a:gridCol w="2349500">
                  <a:extLst>
                    <a:ext uri="{9D8B030D-6E8A-4147-A177-3AD203B41FA5}">
                      <a16:colId xmlns:a16="http://schemas.microsoft.com/office/drawing/2014/main" val="506418530"/>
                    </a:ext>
                  </a:extLst>
                </a:gridCol>
                <a:gridCol w="3992880">
                  <a:extLst>
                    <a:ext uri="{9D8B030D-6E8A-4147-A177-3AD203B41FA5}">
                      <a16:colId xmlns:a16="http://schemas.microsoft.com/office/drawing/2014/main" val="3745466989"/>
                    </a:ext>
                  </a:extLst>
                </a:gridCol>
              </a:tblGrid>
              <a:tr h="444500">
                <a:tc>
                  <a:txBody>
                    <a:bodyPr/>
                    <a:lstStyle/>
                    <a:p>
                      <a:pPr>
                        <a:spcAft>
                          <a:spcPts val="0"/>
                        </a:spcAft>
                        <a:buFontTx/>
                        <a:buNone/>
                      </a:pPr>
                      <a:r>
                        <a:rPr lang="en-US" sz="1600" b="1">
                          <a:solidFill>
                            <a:srgbClr val="FFFFFF"/>
                          </a:solidFill>
                          <a:latin typeface="Lato" panose="020F0502020204030203" pitchFamily="34" charset="0"/>
                        </a:rPr>
                        <a:t>Phần đã làm</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Cấu hình hiện tại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Vì sao cần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621219566"/>
                  </a:ext>
                </a:extLst>
              </a:tr>
              <a:tr h="635000">
                <a:tc>
                  <a:txBody>
                    <a:bodyPr/>
                    <a:lstStyle/>
                    <a:p>
                      <a:pPr>
                        <a:spcAft>
                          <a:spcPts val="0"/>
                        </a:spcAft>
                        <a:buFontTx/>
                        <a:buNone/>
                      </a:pPr>
                      <a:r>
                        <a:rPr lang="en-US" sz="1600" b="0">
                          <a:solidFill>
                            <a:srgbClr val="262626"/>
                          </a:solidFill>
                          <a:latin typeface="Lato" panose="020F0502020204030203" pitchFamily="34" charset="0"/>
                        </a:rPr>
                        <a:t>Giao tiếp trực tiếp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ESP32-S3; I²C 100 kHz; địa chỉ 0x68</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Đọc 14 byte chứa accel, gyro và nhiệt độ</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968647867"/>
                  </a:ext>
                </a:extLst>
              </a:tr>
              <a:tr h="635000">
                <a:tc>
                  <a:txBody>
                    <a:bodyPr/>
                    <a:lstStyle/>
                    <a:p>
                      <a:pPr>
                        <a:spcAft>
                          <a:spcPts val="0"/>
                        </a:spcAft>
                        <a:buFontTx/>
                        <a:buNone/>
                      </a:pPr>
                      <a:r>
                        <a:rPr lang="en-US" sz="1600" b="0">
                          <a:solidFill>
                            <a:srgbClr val="262626"/>
                          </a:solidFill>
                          <a:latin typeface="Lato" panose="020F0502020204030203" pitchFamily="34" charset="0"/>
                        </a:rPr>
                        <a:t>Dải đo, quy đổi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it-IT" sz="1600" b="0">
                          <a:solidFill>
                            <a:srgbClr val="262626"/>
                          </a:solidFill>
                          <a:latin typeface="Lato" panose="020F0502020204030203" pitchFamily="34" charset="0"/>
                        </a:rPr>
                        <a:t>Accel ±4 g; gyro ±500 °/s</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Chuyển số nguyên ADC thành g và °/s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556421753"/>
                  </a:ext>
                </a:extLst>
              </a:tr>
              <a:tr h="635000">
                <a:tc>
                  <a:txBody>
                    <a:bodyPr/>
                    <a:lstStyle/>
                    <a:p>
                      <a:pPr>
                        <a:spcAft>
                          <a:spcPts val="0"/>
                        </a:spcAft>
                        <a:buFontTx/>
                        <a:buNone/>
                      </a:pPr>
                      <a:r>
                        <a:rPr lang="en-US" sz="1600" b="0">
                          <a:solidFill>
                            <a:srgbClr val="262626"/>
                          </a:solidFill>
                          <a:latin typeface="Lato" panose="020F0502020204030203" pitchFamily="34" charset="0"/>
                        </a:rPr>
                        <a:t>Nhịp đọc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pl-PL" sz="1600" b="0">
                          <a:solidFill>
                            <a:srgbClr val="262626"/>
                          </a:solidFill>
                          <a:latin typeface="Lato" panose="020F0502020204030203" pitchFamily="34" charset="0"/>
                        </a:rPr>
                        <a:t>100 Hz; chu kỳ 10 ms</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Tạo chuỗi chuyển động theo thời gian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06619804"/>
                  </a:ext>
                </a:extLst>
              </a:tr>
              <a:tr h="635000">
                <a:tc>
                  <a:txBody>
                    <a:bodyPr/>
                    <a:lstStyle/>
                    <a:p>
                      <a:pPr>
                        <a:spcAft>
                          <a:spcPts val="0"/>
                        </a:spcAft>
                        <a:buFontTx/>
                        <a:buNone/>
                      </a:pPr>
                      <a:r>
                        <a:rPr lang="en-US" sz="1600" b="0">
                          <a:solidFill>
                            <a:srgbClr val="262626"/>
                          </a:solidFill>
                          <a:latin typeface="Lato" panose="020F0502020204030203" pitchFamily="34" charset="0"/>
                        </a:rPr>
                        <a:t>Nút đánh dấu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GPIO 5; nhấn = 1</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Đối chiếu tín hiệu với thao tác thủ công</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280525653"/>
                  </a:ext>
                </a:extLst>
              </a:tr>
            </a:tbl>
          </a:graphicData>
        </a:graphic>
      </p:graphicFrame>
      <p:sp>
        <p:nvSpPr>
          <p:cNvPr id="3" name="TextBox 2">
            <a:extLst>
              <a:ext uri="{FF2B5EF4-FFF2-40B4-BE49-F238E27FC236}">
                <a16:creationId xmlns:a16="http://schemas.microsoft.com/office/drawing/2014/main" id="{EE9413CC-9936-9577-3619-B518B046AB0C}"/>
              </a:ext>
            </a:extLst>
          </p:cNvPr>
          <p:cNvSpPr txBox="1"/>
          <p:nvPr/>
        </p:nvSpPr>
        <p:spPr>
          <a:xfrm>
            <a:off x="365760" y="4991099"/>
            <a:ext cx="8412480" cy="1143000"/>
          </a:xfrm>
          <a:prstGeom prst="rect">
            <a:avLst/>
          </a:prstGeom>
          <a:noFill/>
        </p:spPr>
        <p:txBody>
          <a:bodyPr vert="horz" wrap="square" lIns="0" tIns="0" rIns="0" bIns="0" rtlCol="0">
            <a:noAutofit/>
          </a:bodyPr>
          <a:lstStyle/>
          <a:p>
            <a:r>
              <a:rPr lang="en-US" sz="1700">
                <a:solidFill>
                  <a:srgbClr val="262626"/>
                </a:solidFill>
                <a:latin typeface="Lato" panose="020F0502020204030203" pitchFamily="34" charset="0"/>
              </a:rPr>
              <a:t>SDA = GPIO 18, SCL = GPIO 17; Serial = 921.600 baud. Khởi tạo cảm biến, đặt dải đo và đọc thanh ghi trong main.cpp. Chỉ xuất một dòng CSV khi đọc dữ liệu thành công.</a:t>
            </a:r>
          </a:p>
        </p:txBody>
      </p:sp>
    </p:spTree>
    <p:extLst>
      <p:ext uri="{BB962C8B-B14F-4D97-AF65-F5344CB8AC3E}">
        <p14:creationId xmlns:p14="http://schemas.microsoft.com/office/powerpoint/2010/main" val="24543901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MPU6050 · DỮ LIỆU VÀ CÔNG CỤ TRỰC QUAN HÓA</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54</a:t>
            </a:r>
          </a:p>
        </p:txBody>
      </p:sp>
      <p:pic>
        <p:nvPicPr>
          <p:cNvPr id="3" name="Picture 2">
            <a:extLst>
              <a:ext uri="{FF2B5EF4-FFF2-40B4-BE49-F238E27FC236}">
                <a16:creationId xmlns:a16="http://schemas.microsoft.com/office/drawing/2014/main" id="{83CA3F68-8E3E-1490-AC35-89BEA831FC3E}"/>
              </a:ext>
            </a:extLst>
          </p:cNvPr>
          <p:cNvPicPr>
            <a:picLocks/>
          </p:cNvPicPr>
          <p:nvPr/>
        </p:nvPicPr>
        <p:blipFill>
          <a:blip r:embed="rId3">
            <a:extLst>
              <a:ext uri="{28A0092B-C50C-407E-A947-70E740481C1C}">
                <a14:useLocalDpi xmlns:a14="http://schemas.microsoft.com/office/drawing/2010/main" val="0"/>
              </a:ext>
            </a:extLst>
          </a:blip>
          <a:srcRect b="72222"/>
          <a:stretch>
            <a:fillRect/>
          </a:stretch>
        </p:blipFill>
        <p:spPr>
          <a:xfrm>
            <a:off x="365760" y="1790700"/>
            <a:ext cx="8412480" cy="1905000"/>
          </a:xfrm>
          <a:prstGeom prst="rect">
            <a:avLst/>
          </a:prstGeom>
        </p:spPr>
      </p:pic>
      <p:sp>
        <p:nvSpPr>
          <p:cNvPr id="6" name="TextBox 5">
            <a:extLst>
              <a:ext uri="{FF2B5EF4-FFF2-40B4-BE49-F238E27FC236}">
                <a16:creationId xmlns:a16="http://schemas.microsoft.com/office/drawing/2014/main" id="{FCC8B22E-6217-ED05-CFDA-48297215F060}"/>
              </a:ext>
            </a:extLst>
          </p:cNvPr>
          <p:cNvSpPr txBox="1"/>
          <p:nvPr/>
        </p:nvSpPr>
        <p:spPr>
          <a:xfrm>
            <a:off x="365760" y="3924299"/>
            <a:ext cx="8412480" cy="482600"/>
          </a:xfrm>
          <a:prstGeom prst="rect">
            <a:avLst/>
          </a:prstGeom>
          <a:noFill/>
        </p:spPr>
        <p:txBody>
          <a:bodyPr vert="horz" wrap="square" lIns="0" tIns="0" rIns="0" bIns="0" rtlCol="0">
            <a:noAutofit/>
          </a:bodyPr>
          <a:lstStyle/>
          <a:p>
            <a:r>
              <a:rPr lang="en-US" sz="1400">
                <a:solidFill>
                  <a:srgbClr val="262626"/>
                </a:solidFill>
                <a:latin typeface="Lato" panose="020F0502020204030203" pitchFamily="34" charset="0"/>
              </a:rPr>
              <a:t>Trục X trong dữ liệu có sẵn: gia tốc (xanh) và vận tốc góc (cam); khoảng thời gian 0–60,65 s.</a:t>
            </a:r>
          </a:p>
        </p:txBody>
      </p:sp>
      <p:graphicFrame>
        <p:nvGraphicFramePr>
          <p:cNvPr id="7" name="Table 6">
            <a:extLst>
              <a:ext uri="{FF2B5EF4-FFF2-40B4-BE49-F238E27FC236}">
                <a16:creationId xmlns:a16="http://schemas.microsoft.com/office/drawing/2014/main" id="{C2659A61-52AE-101A-2E1D-3FD25011EF32}"/>
              </a:ext>
            </a:extLst>
          </p:cNvPr>
          <p:cNvGraphicFramePr>
            <a:graphicFrameLocks noGrp="1"/>
          </p:cNvGraphicFramePr>
          <p:nvPr>
            <p:extLst>
              <p:ext uri="{D42A27DB-BD31-4B8C-83A1-F6EECF244321}">
                <p14:modId xmlns:p14="http://schemas.microsoft.com/office/powerpoint/2010/main" val="946351392"/>
              </p:ext>
            </p:extLst>
          </p:nvPr>
        </p:nvGraphicFramePr>
        <p:xfrm>
          <a:off x="365760" y="4635500"/>
          <a:ext cx="8412480" cy="762000"/>
        </p:xfrm>
        <a:graphic>
          <a:graphicData uri="http://schemas.openxmlformats.org/drawingml/2006/table">
            <a:tbl>
              <a:tblPr firstRow="1" bandRow="1">
                <a:tableStyleId>{5C22544A-7EE6-4342-B048-85BDC9FD1C3A}</a:tableStyleId>
              </a:tblPr>
              <a:tblGrid>
                <a:gridCol w="2804160">
                  <a:extLst>
                    <a:ext uri="{9D8B030D-6E8A-4147-A177-3AD203B41FA5}">
                      <a16:colId xmlns:a16="http://schemas.microsoft.com/office/drawing/2014/main" val="2504367391"/>
                    </a:ext>
                  </a:extLst>
                </a:gridCol>
                <a:gridCol w="2804160">
                  <a:extLst>
                    <a:ext uri="{9D8B030D-6E8A-4147-A177-3AD203B41FA5}">
                      <a16:colId xmlns:a16="http://schemas.microsoft.com/office/drawing/2014/main" val="616691080"/>
                    </a:ext>
                  </a:extLst>
                </a:gridCol>
                <a:gridCol w="2804160">
                  <a:extLst>
                    <a:ext uri="{9D8B030D-6E8A-4147-A177-3AD203B41FA5}">
                      <a16:colId xmlns:a16="http://schemas.microsoft.com/office/drawing/2014/main" val="3056668250"/>
                    </a:ext>
                  </a:extLst>
                </a:gridCol>
              </a:tblGrid>
              <a:tr h="762000">
                <a:tc>
                  <a:txBody>
                    <a:bodyPr/>
                    <a:lstStyle/>
                    <a:p>
                      <a:pPr>
                        <a:spcAft>
                          <a:spcPts val="0"/>
                        </a:spcAft>
                        <a:buFontTx/>
                        <a:buNone/>
                      </a:pPr>
                      <a:r>
                        <a:rPr lang="en-US" sz="1700" b="1">
                          <a:solidFill>
                            <a:srgbClr val="FFFFFF"/>
                          </a:solidFill>
                          <a:latin typeface="Lato" panose="020F0502020204030203" pitchFamily="34" charset="0"/>
                        </a:rPr>
                        <a:t>6.066 mẫu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700" b="1">
                          <a:solidFill>
                            <a:srgbClr val="FFFFFF"/>
                          </a:solidFill>
                          <a:latin typeface="Lato" panose="020F0502020204030203" pitchFamily="34" charset="0"/>
                        </a:rPr>
                        <a:t>60,65 giây</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l-GR" sz="1700" b="1">
                          <a:solidFill>
                            <a:srgbClr val="FFFFFF"/>
                          </a:solidFill>
                          <a:latin typeface="Lato" panose="020F0502020204030203" pitchFamily="34" charset="0"/>
                        </a:rPr>
                        <a:t>Δ</a:t>
                      </a:r>
                      <a:r>
                        <a:rPr lang="en-US" sz="1700" b="1">
                          <a:solidFill>
                            <a:srgbClr val="FFFFFF"/>
                          </a:solidFill>
                          <a:latin typeface="Lato" panose="020F0502020204030203" pitchFamily="34" charset="0"/>
                        </a:rPr>
                        <a:t>timestamp = 10 ms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773815864"/>
                  </a:ext>
                </a:extLst>
              </a:tr>
            </a:tbl>
          </a:graphicData>
        </a:graphic>
      </p:graphicFrame>
      <p:sp>
        <p:nvSpPr>
          <p:cNvPr id="8" name="TextBox 7">
            <a:extLst>
              <a:ext uri="{FF2B5EF4-FFF2-40B4-BE49-F238E27FC236}">
                <a16:creationId xmlns:a16="http://schemas.microsoft.com/office/drawing/2014/main" id="{FDF91CA5-98BD-B8B9-B473-073259164641}"/>
              </a:ext>
            </a:extLst>
          </p:cNvPr>
          <p:cNvSpPr txBox="1"/>
          <p:nvPr/>
        </p:nvSpPr>
        <p:spPr>
          <a:xfrm>
            <a:off x="365760" y="5549899"/>
            <a:ext cx="8412480" cy="660400"/>
          </a:xfrm>
          <a:prstGeom prst="rect">
            <a:avLst/>
          </a:prstGeom>
          <a:noFill/>
        </p:spPr>
        <p:txBody>
          <a:bodyPr vert="horz" wrap="square" lIns="0" tIns="0" rIns="0" bIns="0" rtlCol="0">
            <a:noAutofit/>
          </a:bodyPr>
          <a:lstStyle/>
          <a:p>
            <a:r>
              <a:rPr lang="vi-VN" sz="1600">
                <a:solidFill>
                  <a:srgbClr val="262626"/>
                </a:solidFill>
                <a:latin typeface="Lato" panose="020F0502020204030203" pitchFamily="34" charset="0"/>
              </a:rPr>
              <a:t>Recorder lưu CSV 9 cột. Bộ phân tích tạo 4 PNG và dashboard Plotly: xem từng trục, độ lớn vector, nút bấm, phân bố, tương quan và phổ tần số.</a:t>
            </a:r>
            <a:endParaRPr lang="en-US" sz="1600">
              <a:solidFill>
                <a:srgbClr val="262626"/>
              </a:solidFill>
              <a:latin typeface="Lato" panose="020F0502020204030203" pitchFamily="34" charset="0"/>
            </a:endParaRPr>
          </a:p>
        </p:txBody>
      </p:sp>
    </p:spTree>
    <p:extLst>
      <p:ext uri="{BB962C8B-B14F-4D97-AF65-F5344CB8AC3E}">
        <p14:creationId xmlns:p14="http://schemas.microsoft.com/office/powerpoint/2010/main" val="20834081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MPU6050 · VAI TRÒ VÀ GIỚI HẠN HIỆN TẠI</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55</a:t>
            </a:r>
          </a:p>
        </p:txBody>
      </p:sp>
      <p:sp>
        <p:nvSpPr>
          <p:cNvPr id="2" name="TextBox 1">
            <a:extLst>
              <a:ext uri="{FF2B5EF4-FFF2-40B4-BE49-F238E27FC236}">
                <a16:creationId xmlns:a16="http://schemas.microsoft.com/office/drawing/2014/main" id="{51CE1FB3-9AB7-9451-3242-54A4006A2B4F}"/>
              </a:ext>
            </a:extLst>
          </p:cNvPr>
          <p:cNvSpPr txBox="1"/>
          <p:nvPr/>
        </p:nvSpPr>
        <p:spPr>
          <a:xfrm>
            <a:off x="365760" y="1904999"/>
            <a:ext cx="8412480" cy="4152900"/>
          </a:xfrm>
          <a:prstGeom prst="rect">
            <a:avLst/>
          </a:prstGeom>
          <a:noFill/>
        </p:spPr>
        <p:txBody>
          <a:bodyPr vert="horz" wrap="square" lIns="0" tIns="0" rIns="0" bIns="0" rtlCol="0">
            <a:noAutofit/>
          </a:bodyPr>
          <a:lstStyle/>
          <a:p>
            <a:pPr marL="152400" indent="-152400">
              <a:spcAft>
                <a:spcPts val="1000"/>
              </a:spcAft>
              <a:buFont typeface="+mj-lt"/>
              <a:buChar char="•"/>
            </a:pPr>
            <a:r>
              <a:rPr lang="vi-VN" sz="1900">
                <a:solidFill>
                  <a:srgbClr val="262626"/>
                </a:solidFill>
                <a:latin typeface="Lato" panose="020F0502020204030203" pitchFamily="34" charset="0"/>
              </a:rPr>
              <a:t>Luồng IMU giúp quan sát chuyển động và đối chiếu dấu nút bấm; là nền để phát triển tách rep và rep-count baseline.</a:t>
            </a:r>
          </a:p>
          <a:p>
            <a:pPr marL="152400" indent="-152400">
              <a:spcAft>
                <a:spcPts val="1000"/>
              </a:spcAft>
              <a:buFont typeface="+mj-lt"/>
              <a:buChar char="•"/>
            </a:pPr>
            <a:r>
              <a:rPr lang="vi-VN" sz="1900">
                <a:solidFill>
                  <a:srgbClr val="262626"/>
                </a:solidFill>
                <a:latin typeface="Lato" panose="020F0502020204030203" pitchFamily="34" charset="0"/>
              </a:rPr>
              <a:t>Chưa có thuật toán đếm rep, tính velocity loss, hiệu chuẩn IMU hoặc loại trọng lực trong firmware này.</a:t>
            </a:r>
          </a:p>
          <a:p>
            <a:pPr marL="152400" indent="-152400">
              <a:spcAft>
                <a:spcPts val="1000"/>
              </a:spcAft>
              <a:buFont typeface="+mj-lt"/>
              <a:buChar char="•"/>
            </a:pPr>
            <a:r>
              <a:rPr lang="vi-VN" sz="1900">
                <a:solidFill>
                  <a:srgbClr val="262626"/>
                </a:solidFill>
                <a:latin typeface="Lato" panose="020F0502020204030203" pitchFamily="34" charset="0"/>
              </a:rPr>
              <a:t>KalmanFilter.h đã có trong repo nhưng chưa được gọi trong main của cả hai nhánh.</a:t>
            </a:r>
          </a:p>
          <a:p>
            <a:pPr marL="152400" indent="-152400">
              <a:spcAft>
                <a:spcPts val="1000"/>
              </a:spcAft>
              <a:buFont typeface="+mj-lt"/>
              <a:buChar char="•"/>
            </a:pPr>
            <a:r>
              <a:rPr lang="vi-VN" sz="1900">
                <a:solidFill>
                  <a:srgbClr val="262626"/>
                </a:solidFill>
                <a:latin typeface="Lato" panose="020F0502020204030203" pitchFamily="34" charset="0"/>
              </a:rPr>
              <a:t>Đồ thị 3D biểu diễn vector gia tốc, chưa phải quỹ đạo vị trí. Dashboard là phân tích file đã ghi.</a:t>
            </a:r>
          </a:p>
          <a:p>
            <a:pPr marL="152400" indent="-152400">
              <a:spcAft>
                <a:spcPts val="1000"/>
              </a:spcAft>
              <a:buFont typeface="+mj-lt"/>
              <a:buChar char="•"/>
            </a:pPr>
            <a:r>
              <a:rPr lang="vi-VN" sz="1900">
                <a:solidFill>
                  <a:srgbClr val="262626"/>
                </a:solidFill>
                <a:latin typeface="Lato" panose="020F0502020204030203" pitchFamily="34" charset="0"/>
              </a:rPr>
              <a:t>Chưa có FIFO, sequence hay bộ đếm mất mẫu cho MPU; cần bổ sung trước khi đồng bộ với ADS.</a:t>
            </a:r>
            <a:endParaRPr lang="en-US" sz="1900">
              <a:solidFill>
                <a:srgbClr val="262626"/>
              </a:solidFill>
              <a:latin typeface="Lato" panose="020F0502020204030203" pitchFamily="34" charset="0"/>
            </a:endParaRPr>
          </a:p>
        </p:txBody>
      </p:sp>
    </p:spTree>
    <p:extLst>
      <p:ext uri="{BB962C8B-B14F-4D97-AF65-F5344CB8AC3E}">
        <p14:creationId xmlns:p14="http://schemas.microsoft.com/office/powerpoint/2010/main" val="23203660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CẤU HÌNH VÀ LUỒNG DỮ LIỆU</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56</a:t>
            </a:r>
          </a:p>
        </p:txBody>
      </p:sp>
      <p:sp>
        <p:nvSpPr>
          <p:cNvPr id="2" name="Rectangle 1">
            <a:extLst>
              <a:ext uri="{FF2B5EF4-FFF2-40B4-BE49-F238E27FC236}">
                <a16:creationId xmlns:a16="http://schemas.microsoft.com/office/drawing/2014/main" id="{54AE1AE1-904F-9571-7DD6-6E20F906D748}"/>
              </a:ext>
            </a:extLst>
          </p:cNvPr>
          <p:cNvSpPr/>
          <p:nvPr/>
        </p:nvSpPr>
        <p:spPr>
          <a:xfrm>
            <a:off x="365760" y="1879600"/>
            <a:ext cx="1540256"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ADS1292R
2 kênh 24 bit</a:t>
            </a:r>
          </a:p>
        </p:txBody>
      </p:sp>
      <p:sp>
        <p:nvSpPr>
          <p:cNvPr id="3" name="Arrow: Right 2">
            <a:extLst>
              <a:ext uri="{FF2B5EF4-FFF2-40B4-BE49-F238E27FC236}">
                <a16:creationId xmlns:a16="http://schemas.microsoft.com/office/drawing/2014/main" id="{E62A97D1-B295-4CC7-BF06-94534414A1AB}"/>
              </a:ext>
            </a:extLst>
          </p:cNvPr>
          <p:cNvSpPr/>
          <p:nvPr/>
        </p:nvSpPr>
        <p:spPr>
          <a:xfrm>
            <a:off x="1931416" y="22733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DFCB7FE-441D-F9C5-2262-9C3513FD4251}"/>
              </a:ext>
            </a:extLst>
          </p:cNvPr>
          <p:cNvSpPr/>
          <p:nvPr/>
        </p:nvSpPr>
        <p:spPr>
          <a:xfrm>
            <a:off x="2083816" y="1879600"/>
            <a:ext cx="1540256"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DRDY + SPI
thu mẫu</a:t>
            </a:r>
          </a:p>
        </p:txBody>
      </p:sp>
      <p:sp>
        <p:nvSpPr>
          <p:cNvPr id="7" name="Arrow: Right 6">
            <a:extLst>
              <a:ext uri="{FF2B5EF4-FFF2-40B4-BE49-F238E27FC236}">
                <a16:creationId xmlns:a16="http://schemas.microsoft.com/office/drawing/2014/main" id="{9252B6F7-920F-3052-5322-0E0E0CF16ECF}"/>
              </a:ext>
            </a:extLst>
          </p:cNvPr>
          <p:cNvSpPr/>
          <p:nvPr/>
        </p:nvSpPr>
        <p:spPr>
          <a:xfrm>
            <a:off x="3649472" y="22733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1DE10D2-8095-C8AC-8009-0F0D229EA314}"/>
              </a:ext>
            </a:extLst>
          </p:cNvPr>
          <p:cNvSpPr/>
          <p:nvPr/>
        </p:nvSpPr>
        <p:spPr>
          <a:xfrm>
            <a:off x="3801872" y="1879600"/>
            <a:ext cx="1540256"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Hàng đợi
512 mẫu</a:t>
            </a:r>
          </a:p>
        </p:txBody>
      </p:sp>
      <p:sp>
        <p:nvSpPr>
          <p:cNvPr id="9" name="Arrow: Right 8">
            <a:extLst>
              <a:ext uri="{FF2B5EF4-FFF2-40B4-BE49-F238E27FC236}">
                <a16:creationId xmlns:a16="http://schemas.microsoft.com/office/drawing/2014/main" id="{95794186-3E93-B698-3B77-31927D2054A6}"/>
              </a:ext>
            </a:extLst>
          </p:cNvPr>
          <p:cNvSpPr/>
          <p:nvPr/>
        </p:nvSpPr>
        <p:spPr>
          <a:xfrm>
            <a:off x="5367528" y="22733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985909-0D95-9A3F-16B2-D0904AC8418F}"/>
              </a:ext>
            </a:extLst>
          </p:cNvPr>
          <p:cNvSpPr/>
          <p:nvPr/>
        </p:nvSpPr>
        <p:spPr>
          <a:xfrm>
            <a:off x="5519928" y="1879600"/>
            <a:ext cx="1540257"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pt-BR" sz="1400">
                <a:solidFill>
                  <a:srgbClr val="262626"/>
                </a:solidFill>
                <a:latin typeface="Lato" panose="020F0502020204030203" pitchFamily="34" charset="0"/>
              </a:rPr>
              <a:t>DSP trên ESP
Serial 2 Mbaud</a:t>
            </a:r>
            <a:endParaRPr lang="en-US" sz="1400">
              <a:solidFill>
                <a:srgbClr val="262626"/>
              </a:solidFill>
              <a:latin typeface="Lato" panose="020F0502020204030203" pitchFamily="34" charset="0"/>
            </a:endParaRPr>
          </a:p>
        </p:txBody>
      </p:sp>
      <p:sp>
        <p:nvSpPr>
          <p:cNvPr id="11" name="Arrow: Right 10">
            <a:extLst>
              <a:ext uri="{FF2B5EF4-FFF2-40B4-BE49-F238E27FC236}">
                <a16:creationId xmlns:a16="http://schemas.microsoft.com/office/drawing/2014/main" id="{B8BC4DE7-B960-D797-9BDE-B8A436553B99}"/>
              </a:ext>
            </a:extLst>
          </p:cNvPr>
          <p:cNvSpPr/>
          <p:nvPr/>
        </p:nvSpPr>
        <p:spPr>
          <a:xfrm>
            <a:off x="7085584" y="22733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CA31F4-3F6E-643C-9563-A7FD5F072445}"/>
              </a:ext>
            </a:extLst>
          </p:cNvPr>
          <p:cNvSpPr/>
          <p:nvPr/>
        </p:nvSpPr>
        <p:spPr>
          <a:xfrm>
            <a:off x="7237984" y="1879600"/>
            <a:ext cx="1540255"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Máy tính
CSV / web</a:t>
            </a:r>
          </a:p>
        </p:txBody>
      </p:sp>
      <p:graphicFrame>
        <p:nvGraphicFramePr>
          <p:cNvPr id="13" name="Table 12">
            <a:extLst>
              <a:ext uri="{FF2B5EF4-FFF2-40B4-BE49-F238E27FC236}">
                <a16:creationId xmlns:a16="http://schemas.microsoft.com/office/drawing/2014/main" id="{43B7BB0D-2C76-6B56-CFAA-6EF6764A262B}"/>
              </a:ext>
            </a:extLst>
          </p:cNvPr>
          <p:cNvGraphicFramePr>
            <a:graphicFrameLocks noGrp="1"/>
          </p:cNvGraphicFramePr>
          <p:nvPr>
            <p:extLst>
              <p:ext uri="{D42A27DB-BD31-4B8C-83A1-F6EECF244321}">
                <p14:modId xmlns:p14="http://schemas.microsoft.com/office/powerpoint/2010/main" val="2892951736"/>
              </p:ext>
            </p:extLst>
          </p:nvPr>
        </p:nvGraphicFramePr>
        <p:xfrm>
          <a:off x="365760" y="3111500"/>
          <a:ext cx="8412480" cy="18669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71223422"/>
                    </a:ext>
                  </a:extLst>
                </a:gridCol>
                <a:gridCol w="6380480">
                  <a:extLst>
                    <a:ext uri="{9D8B030D-6E8A-4147-A177-3AD203B41FA5}">
                      <a16:colId xmlns:a16="http://schemas.microsoft.com/office/drawing/2014/main" val="3113034574"/>
                    </a:ext>
                  </a:extLst>
                </a:gridCol>
              </a:tblGrid>
              <a:tr h="444500">
                <a:tc>
                  <a:txBody>
                    <a:bodyPr/>
                    <a:lstStyle/>
                    <a:p>
                      <a:pPr>
                        <a:spcAft>
                          <a:spcPts val="0"/>
                        </a:spcAft>
                        <a:buFontTx/>
                        <a:buNone/>
                      </a:pPr>
                      <a:r>
                        <a:rPr lang="en-US" sz="1700" b="1">
                          <a:solidFill>
                            <a:srgbClr val="FFFFFF"/>
                          </a:solidFill>
                          <a:latin typeface="Lato" panose="020F0502020204030203" pitchFamily="34" charset="0"/>
                        </a:rPr>
                        <a:t>Hạng mục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700" b="1">
                          <a:solidFill>
                            <a:srgbClr val="FFFFFF"/>
                          </a:solidFill>
                          <a:latin typeface="Lato" panose="020F0502020204030203" pitchFamily="34" charset="0"/>
                        </a:rPr>
                        <a:t>Thiết lập trong code</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3361027323"/>
                  </a:ext>
                </a:extLst>
              </a:tr>
              <a:tr h="474133">
                <a:tc>
                  <a:txBody>
                    <a:bodyPr/>
                    <a:lstStyle/>
                    <a:p>
                      <a:pPr>
                        <a:spcAft>
                          <a:spcPts val="0"/>
                        </a:spcAft>
                        <a:buFontTx/>
                        <a:buNone/>
                      </a:pPr>
                      <a:r>
                        <a:rPr lang="en-US" sz="1700" b="0">
                          <a:solidFill>
                            <a:srgbClr val="262626"/>
                          </a:solidFill>
                          <a:latin typeface="Lato" panose="020F0502020204030203" pitchFamily="34" charset="0"/>
                        </a:rPr>
                        <a:t>ADC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700" b="0">
                          <a:solidFill>
                            <a:srgbClr val="262626"/>
                          </a:solidFill>
                          <a:latin typeface="Lato" panose="020F0502020204030203" pitchFamily="34" charset="0"/>
                        </a:rPr>
                        <a:t>2.000 SPS; PGA gain 4; lưu raw của cả hai kênh</a:t>
                      </a:r>
                      <a:endParaRPr lang="en-US" sz="17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589883282"/>
                  </a:ext>
                </a:extLst>
              </a:tr>
              <a:tr h="474133">
                <a:tc>
                  <a:txBody>
                    <a:bodyPr/>
                    <a:lstStyle/>
                    <a:p>
                      <a:pPr>
                        <a:spcAft>
                          <a:spcPts val="0"/>
                        </a:spcAft>
                        <a:buFontTx/>
                        <a:buNone/>
                      </a:pPr>
                      <a:r>
                        <a:rPr lang="en-US" sz="1700" b="0">
                          <a:solidFill>
                            <a:srgbClr val="262626"/>
                          </a:solidFill>
                          <a:latin typeface="Lato" panose="020F0502020204030203" pitchFamily="34" charset="0"/>
                        </a:rPr>
                        <a:t>SPI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1 MHz, MODE1; CS 10, SCK 12, MOSI 11, MISO 13</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309984467"/>
                  </a:ext>
                </a:extLst>
              </a:tr>
              <a:tr h="474133">
                <a:tc>
                  <a:txBody>
                    <a:bodyPr/>
                    <a:lstStyle/>
                    <a:p>
                      <a:pPr>
                        <a:spcAft>
                          <a:spcPts val="0"/>
                        </a:spcAft>
                        <a:buFontTx/>
                        <a:buNone/>
                      </a:pPr>
                      <a:r>
                        <a:rPr lang="en-US" sz="1700" b="0">
                          <a:solidFill>
                            <a:srgbClr val="262626"/>
                          </a:solidFill>
                          <a:latin typeface="Lato" panose="020F0502020204030203" pitchFamily="34" charset="0"/>
                        </a:rPr>
                        <a:t>Điều khiển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PWDN 9, START 8, DRDY 4</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845672688"/>
                  </a:ext>
                </a:extLst>
              </a:tr>
            </a:tbl>
          </a:graphicData>
        </a:graphic>
      </p:graphicFrame>
      <p:sp>
        <p:nvSpPr>
          <p:cNvPr id="14" name="TextBox 13">
            <a:extLst>
              <a:ext uri="{FF2B5EF4-FFF2-40B4-BE49-F238E27FC236}">
                <a16:creationId xmlns:a16="http://schemas.microsoft.com/office/drawing/2014/main" id="{7FF876B1-B1FD-C803-9B38-E57E3A3B5992}"/>
              </a:ext>
            </a:extLst>
          </p:cNvPr>
          <p:cNvSpPr txBox="1"/>
          <p:nvPr/>
        </p:nvSpPr>
        <p:spPr>
          <a:xfrm>
            <a:off x="365760" y="5270499"/>
            <a:ext cx="8412480" cy="889000"/>
          </a:xfrm>
          <a:prstGeom prst="rect">
            <a:avLst/>
          </a:prstGeom>
          <a:noFill/>
        </p:spPr>
        <p:txBody>
          <a:bodyPr vert="horz" wrap="square" lIns="0" tIns="0" rIns="0" bIns="0" rtlCol="0">
            <a:noAutofit/>
          </a:bodyPr>
          <a:lstStyle/>
          <a:p>
            <a:r>
              <a:rPr lang="vi-VN" sz="1700">
                <a:solidFill>
                  <a:srgbClr val="262626"/>
                </a:solidFill>
                <a:latin typeface="Lato" panose="020F0502020204030203" pitchFamily="34" charset="0"/>
              </a:rPr>
              <a:t>Giữ raw 24 bit để có thể xử lý lại. Kênh 2 được dịch phải 8 bit rồi qua DSP; giá trị raw/filtered trong CSV là ADC counts, chưa phải mV đã hiệu chuẩn.</a:t>
            </a:r>
            <a:endParaRPr lang="en-US" sz="1700">
              <a:solidFill>
                <a:srgbClr val="262626"/>
              </a:solidFill>
              <a:latin typeface="Lato" panose="020F0502020204030203" pitchFamily="34" charset="0"/>
            </a:endParaRPr>
          </a:p>
        </p:txBody>
      </p:sp>
    </p:spTree>
    <p:extLst>
      <p:ext uri="{BB962C8B-B14F-4D97-AF65-F5344CB8AC3E}">
        <p14:creationId xmlns:p14="http://schemas.microsoft.com/office/powerpoint/2010/main" val="18630367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VÌ SAO CÓ SAMPLEACQUISITION?</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57</a:t>
            </a:r>
          </a:p>
        </p:txBody>
      </p:sp>
      <p:sp>
        <p:nvSpPr>
          <p:cNvPr id="2" name="Rectangle 1">
            <a:extLst>
              <a:ext uri="{FF2B5EF4-FFF2-40B4-BE49-F238E27FC236}">
                <a16:creationId xmlns:a16="http://schemas.microsoft.com/office/drawing/2014/main" id="{9F270604-9DD9-FC7B-9F55-8AD86D8F1D8F}"/>
              </a:ext>
            </a:extLst>
          </p:cNvPr>
          <p:cNvSpPr/>
          <p:nvPr/>
        </p:nvSpPr>
        <p:spPr>
          <a:xfrm>
            <a:off x="365760" y="1866900"/>
            <a:ext cx="1540256"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Ngắt DRDY
sequence + </a:t>
            </a:r>
            <a:r>
              <a:rPr lang="el-GR" sz="1400">
                <a:solidFill>
                  <a:srgbClr val="262626"/>
                </a:solidFill>
                <a:latin typeface="Lato" panose="020F0502020204030203" pitchFamily="34" charset="0"/>
              </a:rPr>
              <a:t>μ</a:t>
            </a:r>
            <a:r>
              <a:rPr lang="en-US" sz="1400">
                <a:solidFill>
                  <a:srgbClr val="262626"/>
                </a:solidFill>
                <a:latin typeface="Lato" panose="020F0502020204030203" pitchFamily="34" charset="0"/>
              </a:rPr>
              <a:t>s</a:t>
            </a:r>
          </a:p>
        </p:txBody>
      </p:sp>
      <p:sp>
        <p:nvSpPr>
          <p:cNvPr id="3" name="Arrow: Right 2">
            <a:extLst>
              <a:ext uri="{FF2B5EF4-FFF2-40B4-BE49-F238E27FC236}">
                <a16:creationId xmlns:a16="http://schemas.microsoft.com/office/drawing/2014/main" id="{60071487-9072-EFBE-BEE6-72F5449E611F}"/>
              </a:ext>
            </a:extLst>
          </p:cNvPr>
          <p:cNvSpPr/>
          <p:nvPr/>
        </p:nvSpPr>
        <p:spPr>
          <a:xfrm>
            <a:off x="1931416" y="227965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7B03BC-3E72-19EB-BF34-64ACBBCDAD22}"/>
              </a:ext>
            </a:extLst>
          </p:cNvPr>
          <p:cNvSpPr/>
          <p:nvPr/>
        </p:nvSpPr>
        <p:spPr>
          <a:xfrm>
            <a:off x="2083816" y="1866900"/>
            <a:ext cx="1540256"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Task core 0
đọc SPI</a:t>
            </a:r>
          </a:p>
        </p:txBody>
      </p:sp>
      <p:sp>
        <p:nvSpPr>
          <p:cNvPr id="7" name="Arrow: Right 6">
            <a:extLst>
              <a:ext uri="{FF2B5EF4-FFF2-40B4-BE49-F238E27FC236}">
                <a16:creationId xmlns:a16="http://schemas.microsoft.com/office/drawing/2014/main" id="{31C11B63-7216-85ED-597F-6362AA1D2BD4}"/>
              </a:ext>
            </a:extLst>
          </p:cNvPr>
          <p:cNvSpPr/>
          <p:nvPr/>
        </p:nvSpPr>
        <p:spPr>
          <a:xfrm>
            <a:off x="3649472" y="227965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333F66B-3FF0-A7CB-352D-5513DDFE5435}"/>
              </a:ext>
            </a:extLst>
          </p:cNvPr>
          <p:cNvSpPr/>
          <p:nvPr/>
        </p:nvSpPr>
        <p:spPr>
          <a:xfrm>
            <a:off x="3801872" y="1866900"/>
            <a:ext cx="1540256"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Kiểm frame
hợp lệ</a:t>
            </a:r>
          </a:p>
        </p:txBody>
      </p:sp>
      <p:sp>
        <p:nvSpPr>
          <p:cNvPr id="9" name="Arrow: Right 8">
            <a:extLst>
              <a:ext uri="{FF2B5EF4-FFF2-40B4-BE49-F238E27FC236}">
                <a16:creationId xmlns:a16="http://schemas.microsoft.com/office/drawing/2014/main" id="{6E06A169-EB28-3FC8-CB76-24F17F00FBAA}"/>
              </a:ext>
            </a:extLst>
          </p:cNvPr>
          <p:cNvSpPr/>
          <p:nvPr/>
        </p:nvSpPr>
        <p:spPr>
          <a:xfrm>
            <a:off x="5367528" y="227965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831E33-5F3B-EAFB-9B64-B9D41C01476B}"/>
              </a:ext>
            </a:extLst>
          </p:cNvPr>
          <p:cNvSpPr/>
          <p:nvPr/>
        </p:nvSpPr>
        <p:spPr>
          <a:xfrm>
            <a:off x="5519928" y="1866900"/>
            <a:ext cx="1540257"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Queue 512
không chờ</a:t>
            </a:r>
          </a:p>
        </p:txBody>
      </p:sp>
      <p:sp>
        <p:nvSpPr>
          <p:cNvPr id="11" name="Arrow: Right 10">
            <a:extLst>
              <a:ext uri="{FF2B5EF4-FFF2-40B4-BE49-F238E27FC236}">
                <a16:creationId xmlns:a16="http://schemas.microsoft.com/office/drawing/2014/main" id="{965D8760-A2EB-60C4-ED73-DDD6B6F938BC}"/>
              </a:ext>
            </a:extLst>
          </p:cNvPr>
          <p:cNvSpPr/>
          <p:nvPr/>
        </p:nvSpPr>
        <p:spPr>
          <a:xfrm>
            <a:off x="7085584" y="227965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9B0800-EE06-97CD-E44F-7061206DD011}"/>
              </a:ext>
            </a:extLst>
          </p:cNvPr>
          <p:cNvSpPr/>
          <p:nvPr/>
        </p:nvSpPr>
        <p:spPr>
          <a:xfrm>
            <a:off x="7237984" y="1866900"/>
            <a:ext cx="1540255"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main.cpp
lọc / xuất</a:t>
            </a:r>
          </a:p>
        </p:txBody>
      </p:sp>
      <p:sp>
        <p:nvSpPr>
          <p:cNvPr id="13" name="TextBox 12">
            <a:extLst>
              <a:ext uri="{FF2B5EF4-FFF2-40B4-BE49-F238E27FC236}">
                <a16:creationId xmlns:a16="http://schemas.microsoft.com/office/drawing/2014/main" id="{EE839A1B-6E62-9DFD-A9BF-91C11C2A7B5F}"/>
              </a:ext>
            </a:extLst>
          </p:cNvPr>
          <p:cNvSpPr txBox="1"/>
          <p:nvPr/>
        </p:nvSpPr>
        <p:spPr>
          <a:xfrm>
            <a:off x="365760" y="3098799"/>
            <a:ext cx="8412480" cy="2933700"/>
          </a:xfrm>
          <a:prstGeom prst="rect">
            <a:avLst/>
          </a:prstGeom>
          <a:noFill/>
        </p:spPr>
        <p:txBody>
          <a:bodyPr vert="horz" wrap="square" lIns="0" tIns="0" rIns="0" bIns="0" rtlCol="0">
            <a:noAutofit/>
          </a:bodyPr>
          <a:lstStyle/>
          <a:p>
            <a:pPr marL="152400" indent="-152400">
              <a:spcAft>
                <a:spcPts val="1000"/>
              </a:spcAft>
              <a:buFont typeface="+mj-lt"/>
              <a:buChar char="•"/>
            </a:pPr>
            <a:r>
              <a:rPr lang="vi-VN">
                <a:solidFill>
                  <a:srgbClr val="262626"/>
                </a:solidFill>
                <a:latin typeface="Lato" panose="020F0502020204030203" pitchFamily="34" charset="0"/>
              </a:rPr>
              <a:t>Tách việc đọc ADC khỏi lọc và gửi Serial để giảm nguy cơ đọc trễ mẫu kế tiếp.</a:t>
            </a:r>
          </a:p>
          <a:p>
            <a:pPr marL="152400" indent="-152400">
              <a:spcAft>
                <a:spcPts val="1000"/>
              </a:spcAft>
              <a:buFont typeface="+mj-lt"/>
              <a:buChar char="•"/>
            </a:pPr>
            <a:r>
              <a:rPr lang="vi-VN">
                <a:solidFill>
                  <a:srgbClr val="262626"/>
                </a:solidFill>
                <a:latin typeface="Lato" panose="020F0502020204030203" pitchFamily="34" charset="0"/>
              </a:rPr>
              <a:t>ISR chỉ ghi sequence, timestamp và đánh thức task; tác vụ thu mẫu đọc SPI dưới mutex.</a:t>
            </a:r>
          </a:p>
          <a:p>
            <a:pPr marL="152400" indent="-152400">
              <a:spcAft>
                <a:spcPts val="1000"/>
              </a:spcAft>
              <a:buFont typeface="+mj-lt"/>
              <a:buChar char="•"/>
            </a:pPr>
            <a:r>
              <a:rPr lang="vi-VN">
                <a:solidFill>
                  <a:srgbClr val="262626"/>
                </a:solidFill>
                <a:latin typeface="Lato" panose="020F0502020204030203" pitchFamily="34" charset="0"/>
              </a:rPr>
              <a:t>Hàng đợi 512 mẫu tương đương 256 ms ở 2.000 SPS; khi đầy, ghi nhận QUEUE_DROP.</a:t>
            </a:r>
          </a:p>
          <a:p>
            <a:pPr marL="152400" indent="-152400">
              <a:spcAft>
                <a:spcPts val="1000"/>
              </a:spcAft>
              <a:buFont typeface="+mj-lt"/>
              <a:buChar char="•"/>
            </a:pPr>
            <a:r>
              <a:rPr lang="vi-VN">
                <a:solidFill>
                  <a:srgbClr val="262626"/>
                </a:solidFill>
                <a:latin typeface="Lato" panose="020F0502020204030203" pitchFamily="34" charset="0"/>
              </a:rPr>
              <a:t>ADC_MISSED đếm cạnh bị bỏ qua hoặc frame không hợp lệ; [SPS] báo nhịp DRDY và nhịp đọc.</a:t>
            </a:r>
          </a:p>
          <a:p>
            <a:pPr marL="152400" indent="-152400">
              <a:spcAft>
                <a:spcPts val="1000"/>
              </a:spcAft>
              <a:buFont typeface="+mj-lt"/>
              <a:buChar char="•"/>
            </a:pPr>
            <a:r>
              <a:rPr lang="vi-VN">
                <a:solidFill>
                  <a:srgbClr val="262626"/>
                </a:solidFill>
                <a:latin typeface="Lato" panose="020F0502020204030203" pitchFamily="34" charset="0"/>
              </a:rPr>
              <a:t>Có thể phát hiện mất mẫu; hàng đợi không phục hồi mẫu ADC đã bị bỏ lỡ.</a:t>
            </a:r>
            <a:endParaRPr lang="en-US">
              <a:solidFill>
                <a:srgbClr val="262626"/>
              </a:solidFill>
              <a:latin typeface="Lato" panose="020F0502020204030203" pitchFamily="34" charset="0"/>
            </a:endParaRPr>
          </a:p>
        </p:txBody>
      </p:sp>
    </p:spTree>
    <p:extLst>
      <p:ext uri="{BB962C8B-B14F-4D97-AF65-F5344CB8AC3E}">
        <p14:creationId xmlns:p14="http://schemas.microsoft.com/office/powerpoint/2010/main" val="574941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CHUỖI LỌC SỐ ĐÃ TRIỂN KHAI</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58</a:t>
            </a:r>
          </a:p>
        </p:txBody>
      </p:sp>
      <p:sp>
        <p:nvSpPr>
          <p:cNvPr id="2" name="Rectangle 1">
            <a:extLst>
              <a:ext uri="{FF2B5EF4-FFF2-40B4-BE49-F238E27FC236}">
                <a16:creationId xmlns:a16="http://schemas.microsoft.com/office/drawing/2014/main" id="{AD3F66B1-499A-B29C-A61D-B4D46D07EC92}"/>
              </a:ext>
            </a:extLst>
          </p:cNvPr>
          <p:cNvSpPr/>
          <p:nvPr/>
        </p:nvSpPr>
        <p:spPr>
          <a:xfrm>
            <a:off x="365760" y="1879600"/>
            <a:ext cx="1540256"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Kênh 2</a:t>
            </a:r>
          </a:p>
        </p:txBody>
      </p:sp>
      <p:sp>
        <p:nvSpPr>
          <p:cNvPr id="3" name="Arrow: Right 2">
            <a:extLst>
              <a:ext uri="{FF2B5EF4-FFF2-40B4-BE49-F238E27FC236}">
                <a16:creationId xmlns:a16="http://schemas.microsoft.com/office/drawing/2014/main" id="{1718EA4A-6BFA-D1EC-FFDD-A8C6892F5E73}"/>
              </a:ext>
            </a:extLst>
          </p:cNvPr>
          <p:cNvSpPr/>
          <p:nvPr/>
        </p:nvSpPr>
        <p:spPr>
          <a:xfrm>
            <a:off x="1931416" y="22098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AC376B0-9D0D-B98B-2832-833AA88B8DEC}"/>
              </a:ext>
            </a:extLst>
          </p:cNvPr>
          <p:cNvSpPr/>
          <p:nvPr/>
        </p:nvSpPr>
        <p:spPr>
          <a:xfrm>
            <a:off x="2083816" y="1879600"/>
            <a:ext cx="1540256"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High-pass
20 Hz</a:t>
            </a:r>
          </a:p>
        </p:txBody>
      </p:sp>
      <p:sp>
        <p:nvSpPr>
          <p:cNvPr id="7" name="Arrow: Right 6">
            <a:extLst>
              <a:ext uri="{FF2B5EF4-FFF2-40B4-BE49-F238E27FC236}">
                <a16:creationId xmlns:a16="http://schemas.microsoft.com/office/drawing/2014/main" id="{0B870190-6B27-7E4F-AD65-04C87299E0C2}"/>
              </a:ext>
            </a:extLst>
          </p:cNvPr>
          <p:cNvSpPr/>
          <p:nvPr/>
        </p:nvSpPr>
        <p:spPr>
          <a:xfrm>
            <a:off x="3649472" y="22098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F7A327A-A431-6085-F70A-E52220AC300A}"/>
              </a:ext>
            </a:extLst>
          </p:cNvPr>
          <p:cNvSpPr/>
          <p:nvPr/>
        </p:nvSpPr>
        <p:spPr>
          <a:xfrm>
            <a:off x="3801872" y="1879600"/>
            <a:ext cx="1540256"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Notch
50 Hz</a:t>
            </a:r>
          </a:p>
        </p:txBody>
      </p:sp>
      <p:sp>
        <p:nvSpPr>
          <p:cNvPr id="9" name="Arrow: Right 8">
            <a:extLst>
              <a:ext uri="{FF2B5EF4-FFF2-40B4-BE49-F238E27FC236}">
                <a16:creationId xmlns:a16="http://schemas.microsoft.com/office/drawing/2014/main" id="{52B1AEAC-23EE-61BA-3F8A-635918AC333B}"/>
              </a:ext>
            </a:extLst>
          </p:cNvPr>
          <p:cNvSpPr/>
          <p:nvPr/>
        </p:nvSpPr>
        <p:spPr>
          <a:xfrm>
            <a:off x="5367528" y="22098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64A965-2139-BFC4-4218-D2C86549BC4E}"/>
              </a:ext>
            </a:extLst>
          </p:cNvPr>
          <p:cNvSpPr/>
          <p:nvPr/>
        </p:nvSpPr>
        <p:spPr>
          <a:xfrm>
            <a:off x="5519928" y="1879600"/>
            <a:ext cx="1540257"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Notch
100 Hz</a:t>
            </a:r>
          </a:p>
        </p:txBody>
      </p:sp>
      <p:sp>
        <p:nvSpPr>
          <p:cNvPr id="11" name="Arrow: Right 10">
            <a:extLst>
              <a:ext uri="{FF2B5EF4-FFF2-40B4-BE49-F238E27FC236}">
                <a16:creationId xmlns:a16="http://schemas.microsoft.com/office/drawing/2014/main" id="{161F5D6D-E234-24D3-F2F1-C695BC7DB22F}"/>
              </a:ext>
            </a:extLst>
          </p:cNvPr>
          <p:cNvSpPr/>
          <p:nvPr/>
        </p:nvSpPr>
        <p:spPr>
          <a:xfrm>
            <a:off x="7085584" y="22098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BF045-D9A6-B6CE-2B99-F83715693AC6}"/>
              </a:ext>
            </a:extLst>
          </p:cNvPr>
          <p:cNvSpPr/>
          <p:nvPr/>
        </p:nvSpPr>
        <p:spPr>
          <a:xfrm>
            <a:off x="7237984" y="1879600"/>
            <a:ext cx="1540255"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Low-pass
450 Hz</a:t>
            </a:r>
          </a:p>
        </p:txBody>
      </p:sp>
      <p:graphicFrame>
        <p:nvGraphicFramePr>
          <p:cNvPr id="13" name="Table 12">
            <a:extLst>
              <a:ext uri="{FF2B5EF4-FFF2-40B4-BE49-F238E27FC236}">
                <a16:creationId xmlns:a16="http://schemas.microsoft.com/office/drawing/2014/main" id="{439B7593-AEA3-AFE2-C37B-1042DFDA801D}"/>
              </a:ext>
            </a:extLst>
          </p:cNvPr>
          <p:cNvGraphicFramePr>
            <a:graphicFrameLocks noGrp="1"/>
          </p:cNvGraphicFramePr>
          <p:nvPr>
            <p:extLst>
              <p:ext uri="{D42A27DB-BD31-4B8C-83A1-F6EECF244321}">
                <p14:modId xmlns:p14="http://schemas.microsoft.com/office/powerpoint/2010/main" val="2252264650"/>
              </p:ext>
            </p:extLst>
          </p:nvPr>
        </p:nvGraphicFramePr>
        <p:xfrm>
          <a:off x="365760" y="2959100"/>
          <a:ext cx="8412480" cy="23114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363024587"/>
                    </a:ext>
                  </a:extLst>
                </a:gridCol>
                <a:gridCol w="2159000">
                  <a:extLst>
                    <a:ext uri="{9D8B030D-6E8A-4147-A177-3AD203B41FA5}">
                      <a16:colId xmlns:a16="http://schemas.microsoft.com/office/drawing/2014/main" val="4073887767"/>
                    </a:ext>
                  </a:extLst>
                </a:gridCol>
                <a:gridCol w="4348480">
                  <a:extLst>
                    <a:ext uri="{9D8B030D-6E8A-4147-A177-3AD203B41FA5}">
                      <a16:colId xmlns:a16="http://schemas.microsoft.com/office/drawing/2014/main" val="160799995"/>
                    </a:ext>
                  </a:extLst>
                </a:gridCol>
              </a:tblGrid>
              <a:tr h="444500">
                <a:tc>
                  <a:txBody>
                    <a:bodyPr/>
                    <a:lstStyle/>
                    <a:p>
                      <a:pPr>
                        <a:spcAft>
                          <a:spcPts val="0"/>
                        </a:spcAft>
                        <a:buFontTx/>
                        <a:buNone/>
                      </a:pPr>
                      <a:r>
                        <a:rPr lang="en-US" sz="1600" b="1">
                          <a:solidFill>
                            <a:srgbClr val="FFFFFF"/>
                          </a:solidFill>
                          <a:latin typeface="Lato" panose="020F0502020204030203" pitchFamily="34" charset="0"/>
                        </a:rPr>
                        <a:t>Tầng</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Thiết kế</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Tác dụng</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097338438"/>
                  </a:ext>
                </a:extLst>
              </a:tr>
              <a:tr h="622300">
                <a:tc>
                  <a:txBody>
                    <a:bodyPr/>
                    <a:lstStyle/>
                    <a:p>
                      <a:pPr>
                        <a:spcAft>
                          <a:spcPts val="0"/>
                        </a:spcAft>
                        <a:buFontTx/>
                        <a:buNone/>
                      </a:pPr>
                      <a:r>
                        <a:rPr lang="en-US" sz="1600" b="0">
                          <a:solidFill>
                            <a:srgbClr val="262626"/>
                          </a:solidFill>
                          <a:latin typeface="Lato" panose="020F0502020204030203" pitchFamily="34" charset="0"/>
                        </a:rPr>
                        <a:t>High-pass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Butterworth bậc 2</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Giảm DC và thành phần chậm dưới dải mục tiêu</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980067736"/>
                  </a:ext>
                </a:extLst>
              </a:tr>
              <a:tr h="622300">
                <a:tc>
                  <a:txBody>
                    <a:bodyPr/>
                    <a:lstStyle/>
                    <a:p>
                      <a:pPr>
                        <a:spcAft>
                          <a:spcPts val="0"/>
                        </a:spcAft>
                        <a:buFontTx/>
                        <a:buNone/>
                      </a:pPr>
                      <a:r>
                        <a:rPr lang="en-US" sz="1600" b="0">
                          <a:solidFill>
                            <a:srgbClr val="262626"/>
                          </a:solidFill>
                          <a:latin typeface="Lato" panose="020F0502020204030203" pitchFamily="34" charset="0"/>
                        </a:rPr>
                        <a:t>Notch 50 / 100</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Hai biquad; r = 0,98</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Giảm thành phần quanh điện lưới và hài 100 Hz</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715999789"/>
                  </a:ext>
                </a:extLst>
              </a:tr>
              <a:tr h="622300">
                <a:tc>
                  <a:txBody>
                    <a:bodyPr/>
                    <a:lstStyle/>
                    <a:p>
                      <a:pPr>
                        <a:spcAft>
                          <a:spcPts val="0"/>
                        </a:spcAft>
                        <a:buFontTx/>
                        <a:buNone/>
                      </a:pPr>
                      <a:r>
                        <a:rPr lang="en-US" sz="1600" b="0">
                          <a:solidFill>
                            <a:srgbClr val="262626"/>
                          </a:solidFill>
                          <a:latin typeface="Lato" panose="020F0502020204030203" pitchFamily="34" charset="0"/>
                        </a:rPr>
                        <a:t>Low-pass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Butterworth bậc 2</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Giảm thành phần cao tần trên dải mục tiêu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4072082168"/>
                  </a:ext>
                </a:extLst>
              </a:tr>
            </a:tbl>
          </a:graphicData>
        </a:graphic>
      </p:graphicFrame>
      <p:sp>
        <p:nvSpPr>
          <p:cNvPr id="14" name="TextBox 13">
            <a:extLst>
              <a:ext uri="{FF2B5EF4-FFF2-40B4-BE49-F238E27FC236}">
                <a16:creationId xmlns:a16="http://schemas.microsoft.com/office/drawing/2014/main" id="{4D5CFE7F-52D2-1EE5-735C-BE2DF9BA7548}"/>
              </a:ext>
            </a:extLst>
          </p:cNvPr>
          <p:cNvSpPr txBox="1"/>
          <p:nvPr/>
        </p:nvSpPr>
        <p:spPr>
          <a:xfrm>
            <a:off x="365760" y="5486399"/>
            <a:ext cx="8412480" cy="685800"/>
          </a:xfrm>
          <a:prstGeom prst="rect">
            <a:avLst/>
          </a:prstGeom>
          <a:noFill/>
        </p:spPr>
        <p:txBody>
          <a:bodyPr vert="horz" wrap="square" lIns="0" tIns="0" rIns="0" bIns="0" rtlCol="0">
            <a:noAutofit/>
          </a:bodyPr>
          <a:lstStyle/>
          <a:p>
            <a:r>
              <a:rPr lang="vi-VN" sz="1600">
                <a:solidFill>
                  <a:srgbClr val="262626"/>
                </a:solidFill>
                <a:latin typeface="Lato" panose="020F0502020204030203" pitchFamily="34" charset="0"/>
              </a:rPr>
              <a:t>Fs = 2.000 Hz; mỗi tầng giữ lịch sử mẫu riêng. Lọc giảm cả phần tín hiệu thật quanh tần số chặn; chưa có phép đo SNR trước/sau để kết luận ADS đã hết nhiễu.</a:t>
            </a:r>
            <a:endParaRPr lang="en-US" sz="1600">
              <a:solidFill>
                <a:srgbClr val="262626"/>
              </a:solidFill>
              <a:latin typeface="Lato" panose="020F0502020204030203" pitchFamily="34" charset="0"/>
            </a:endParaRPr>
          </a:p>
        </p:txBody>
      </p:sp>
    </p:spTree>
    <p:extLst>
      <p:ext uri="{BB962C8B-B14F-4D97-AF65-F5344CB8AC3E}">
        <p14:creationId xmlns:p14="http://schemas.microsoft.com/office/powerpoint/2010/main" val="35678440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DỌN MAIN VÀ TẬP TRUNG THAM SỐ</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59</a:t>
            </a:r>
          </a:p>
        </p:txBody>
      </p:sp>
      <p:graphicFrame>
        <p:nvGraphicFramePr>
          <p:cNvPr id="2" name="Table 1">
            <a:extLst>
              <a:ext uri="{FF2B5EF4-FFF2-40B4-BE49-F238E27FC236}">
                <a16:creationId xmlns:a16="http://schemas.microsoft.com/office/drawing/2014/main" id="{D8690962-972A-E4D0-D099-19635728E3F2}"/>
              </a:ext>
            </a:extLst>
          </p:cNvPr>
          <p:cNvGraphicFramePr>
            <a:graphicFrameLocks noGrp="1"/>
          </p:cNvGraphicFramePr>
          <p:nvPr>
            <p:extLst>
              <p:ext uri="{D42A27DB-BD31-4B8C-83A1-F6EECF244321}">
                <p14:modId xmlns:p14="http://schemas.microsoft.com/office/powerpoint/2010/main" val="229367373"/>
              </p:ext>
            </p:extLst>
          </p:nvPr>
        </p:nvGraphicFramePr>
        <p:xfrm>
          <a:off x="365760" y="1828800"/>
          <a:ext cx="8412480" cy="2667000"/>
        </p:xfrm>
        <a:graphic>
          <a:graphicData uri="http://schemas.openxmlformats.org/drawingml/2006/table">
            <a:tbl>
              <a:tblPr firstRow="1" bandRow="1">
                <a:tableStyleId>{5C22544A-7EE6-4342-B048-85BDC9FD1C3A}</a:tableStyleId>
              </a:tblPr>
              <a:tblGrid>
                <a:gridCol w="2527300">
                  <a:extLst>
                    <a:ext uri="{9D8B030D-6E8A-4147-A177-3AD203B41FA5}">
                      <a16:colId xmlns:a16="http://schemas.microsoft.com/office/drawing/2014/main" val="3713612184"/>
                    </a:ext>
                  </a:extLst>
                </a:gridCol>
                <a:gridCol w="1511300">
                  <a:extLst>
                    <a:ext uri="{9D8B030D-6E8A-4147-A177-3AD203B41FA5}">
                      <a16:colId xmlns:a16="http://schemas.microsoft.com/office/drawing/2014/main" val="2491047392"/>
                    </a:ext>
                  </a:extLst>
                </a:gridCol>
                <a:gridCol w="4373880">
                  <a:extLst>
                    <a:ext uri="{9D8B030D-6E8A-4147-A177-3AD203B41FA5}">
                      <a16:colId xmlns:a16="http://schemas.microsoft.com/office/drawing/2014/main" val="1672484647"/>
                    </a:ext>
                  </a:extLst>
                </a:gridCol>
              </a:tblGrid>
              <a:tr h="444500">
                <a:tc>
                  <a:txBody>
                    <a:bodyPr/>
                    <a:lstStyle/>
                    <a:p>
                      <a:pPr>
                        <a:spcAft>
                          <a:spcPts val="0"/>
                        </a:spcAft>
                        <a:buFontTx/>
                        <a:buNone/>
                      </a:pPr>
                      <a:r>
                        <a:rPr lang="en-US" sz="1600" b="1">
                          <a:solidFill>
                            <a:srgbClr val="FFFFFF"/>
                          </a:solidFill>
                          <a:latin typeface="Lato" panose="020F0502020204030203" pitchFamily="34" charset="0"/>
                        </a:rPr>
                        <a:t>Biến cấu hình</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Mặc định</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Khi thay đổi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376960659"/>
                  </a:ext>
                </a:extLst>
              </a:tr>
              <a:tr h="444500">
                <a:tc>
                  <a:txBody>
                    <a:bodyPr/>
                    <a:lstStyle/>
                    <a:p>
                      <a:pPr>
                        <a:spcAft>
                          <a:spcPts val="0"/>
                        </a:spcAft>
                        <a:buFontTx/>
                        <a:buNone/>
                      </a:pPr>
                      <a:r>
                        <a:rPr lang="en-US" sz="1600" b="0">
                          <a:solidFill>
                            <a:srgbClr val="262626"/>
                          </a:solidFill>
                          <a:latin typeface="Lato" panose="020F0502020204030203" pitchFamily="34" charset="0"/>
                        </a:rPr>
                        <a:t>fs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2.000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Cập nhật tốc độ ADC và hệ số DSP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639211939"/>
                  </a:ext>
                </a:extLst>
              </a:tr>
              <a:tr h="444500">
                <a:tc>
                  <a:txBody>
                    <a:bodyPr/>
                    <a:lstStyle/>
                    <a:p>
                      <a:pPr>
                        <a:spcAft>
                          <a:spcPts val="0"/>
                        </a:spcAft>
                        <a:buFontTx/>
                        <a:buNone/>
                      </a:pPr>
                      <a:r>
                        <a:rPr lang="en-US" sz="1600" b="0">
                          <a:solidFill>
                            <a:srgbClr val="262626"/>
                          </a:solidFill>
                          <a:latin typeface="Lato" panose="020F0502020204030203" pitchFamily="34" charset="0"/>
                        </a:rPr>
                        <a:t>f0 / fc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20 / 450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Tần số cắt high-pass / low-pass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287927290"/>
                  </a:ext>
                </a:extLst>
              </a:tr>
              <a:tr h="444500">
                <a:tc>
                  <a:txBody>
                    <a:bodyPr/>
                    <a:lstStyle/>
                    <a:p>
                      <a:pPr>
                        <a:spcAft>
                          <a:spcPts val="0"/>
                        </a:spcAft>
                        <a:buFontTx/>
                        <a:buNone/>
                      </a:pPr>
                      <a:r>
                        <a:rPr lang="en-US" sz="1600" b="0">
                          <a:solidFill>
                            <a:srgbClr val="262626"/>
                          </a:solidFill>
                          <a:latin typeface="Lato" panose="020F0502020204030203" pitchFamily="34" charset="0"/>
                        </a:rPr>
                        <a:t>DC_filter_50</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50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Tâm notch thứ nhất</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868069776"/>
                  </a:ext>
                </a:extLst>
              </a:tr>
              <a:tr h="444500">
                <a:tc>
                  <a:txBody>
                    <a:bodyPr/>
                    <a:lstStyle/>
                    <a:p>
                      <a:pPr>
                        <a:spcAft>
                          <a:spcPts val="0"/>
                        </a:spcAft>
                        <a:buFontTx/>
                        <a:buNone/>
                      </a:pPr>
                      <a:r>
                        <a:rPr lang="en-US" sz="1600" b="0">
                          <a:solidFill>
                            <a:srgbClr val="262626"/>
                          </a:solidFill>
                          <a:latin typeface="Lato" panose="020F0502020204030203" pitchFamily="34" charset="0"/>
                        </a:rPr>
                        <a:t>DC_filter_100</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100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Tâm notch thứ hai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438115671"/>
                  </a:ext>
                </a:extLst>
              </a:tr>
              <a:tr h="444500">
                <a:tc>
                  <a:txBody>
                    <a:bodyPr/>
                    <a:lstStyle/>
                    <a:p>
                      <a:pPr>
                        <a:spcAft>
                          <a:spcPts val="0"/>
                        </a:spcAft>
                        <a:buFontTx/>
                        <a:buNone/>
                      </a:pPr>
                      <a:r>
                        <a:rPr lang="en-US" sz="1600" b="0">
                          <a:solidFill>
                            <a:srgbClr val="262626"/>
                          </a:solidFill>
                          <a:latin typeface="Lato" panose="020F0502020204030203" pitchFamily="34" charset="0"/>
                        </a:rPr>
                        <a:t>NOTCH_RADIUS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0,98</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Điều chỉnh độ hẹp của notch</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971675621"/>
                  </a:ext>
                </a:extLst>
              </a:tr>
            </a:tbl>
          </a:graphicData>
        </a:graphic>
      </p:graphicFrame>
      <p:sp>
        <p:nvSpPr>
          <p:cNvPr id="3" name="TextBox 2">
            <a:extLst>
              <a:ext uri="{FF2B5EF4-FFF2-40B4-BE49-F238E27FC236}">
                <a16:creationId xmlns:a16="http://schemas.microsoft.com/office/drawing/2014/main" id="{44E4A5E8-088D-BE4F-286D-6C5E715A059E}"/>
              </a:ext>
            </a:extLst>
          </p:cNvPr>
          <p:cNvSpPr txBox="1"/>
          <p:nvPr/>
        </p:nvSpPr>
        <p:spPr>
          <a:xfrm>
            <a:off x="365760" y="4711699"/>
            <a:ext cx="8412480" cy="1498600"/>
          </a:xfrm>
          <a:prstGeom prst="rect">
            <a:avLst/>
          </a:prstGeom>
          <a:noFill/>
        </p:spPr>
        <p:txBody>
          <a:bodyPr vert="horz" wrap="square" lIns="0" tIns="0" rIns="0" bIns="0" rtlCol="0">
            <a:noAutofit/>
          </a:bodyPr>
          <a:lstStyle/>
          <a:p>
            <a:pPr marL="152400" indent="-152400">
              <a:spcAft>
                <a:spcPts val="1000"/>
              </a:spcAft>
              <a:buFont typeface="+mj-lt"/>
              <a:buChar char="•"/>
            </a:pPr>
            <a:r>
              <a:rPr lang="vi-VN" sz="1600">
                <a:solidFill>
                  <a:srgbClr val="262626"/>
                </a:solidFill>
                <a:latin typeface="Lato" panose="020F0502020204030203" pitchFamily="34" charset="0"/>
              </a:rPr>
              <a:t>Tính b0, b1, b2, a1, a2 một lần từ tham số; dùng chung lớp Biquad để giảm lặp code.</a:t>
            </a:r>
          </a:p>
          <a:p>
            <a:pPr marL="152400" indent="-152400">
              <a:spcAft>
                <a:spcPts val="1000"/>
              </a:spcAft>
              <a:buFont typeface="+mj-lt"/>
              <a:buChar char="•"/>
            </a:pPr>
            <a:r>
              <a:rPr lang="vi-VN" sz="1600">
                <a:solidFill>
                  <a:srgbClr val="262626"/>
                </a:solidFill>
                <a:latin typeface="Lato" panose="020F0502020204030203" pitchFamily="34" charset="0"/>
              </a:rPr>
              <a:t>Thêm ghi chú trước hàm; kiểm tra cấu hình bằng static_assert; bỏ dump thanh ghi và thông báo khởi tạo Serial theo yêu cầu.</a:t>
            </a:r>
          </a:p>
          <a:p>
            <a:pPr marL="152400" indent="-152400">
              <a:spcAft>
                <a:spcPts val="1000"/>
              </a:spcAft>
              <a:buFont typeface="+mj-lt"/>
              <a:buChar char="•"/>
            </a:pPr>
            <a:r>
              <a:rPr lang="vi-VN" sz="1600">
                <a:solidFill>
                  <a:srgbClr val="262626"/>
                </a:solidFill>
                <a:latin typeface="Lato" panose="020F0502020204030203" pitchFamily="34" charset="0"/>
              </a:rPr>
              <a:t>Đổi fs rồi build/nạp lại; cần đối chiếu baud, QC Python và thời gian đáp ứng các EMA.</a:t>
            </a:r>
            <a:endParaRPr lang="en-US" sz="1600">
              <a:solidFill>
                <a:srgbClr val="262626"/>
              </a:solidFill>
              <a:latin typeface="Lato" panose="020F0502020204030203" pitchFamily="34" charset="0"/>
            </a:endParaRPr>
          </a:p>
        </p:txBody>
      </p:sp>
    </p:spTree>
    <p:extLst>
      <p:ext uri="{BB962C8B-B14F-4D97-AF65-F5344CB8AC3E}">
        <p14:creationId xmlns:p14="http://schemas.microsoft.com/office/powerpoint/2010/main" val="10923333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GHI ĐẦY ĐỦ VÀ HIỂN THỊ TRỰC TIẾP</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60</a:t>
            </a:r>
          </a:p>
        </p:txBody>
      </p:sp>
      <p:graphicFrame>
        <p:nvGraphicFramePr>
          <p:cNvPr id="2" name="Table 1">
            <a:extLst>
              <a:ext uri="{FF2B5EF4-FFF2-40B4-BE49-F238E27FC236}">
                <a16:creationId xmlns:a16="http://schemas.microsoft.com/office/drawing/2014/main" id="{0FB75B45-0FE4-DBE5-923E-EFCD67EEC697}"/>
              </a:ext>
            </a:extLst>
          </p:cNvPr>
          <p:cNvGraphicFramePr>
            <a:graphicFrameLocks noGrp="1"/>
          </p:cNvGraphicFramePr>
          <p:nvPr>
            <p:extLst>
              <p:ext uri="{D42A27DB-BD31-4B8C-83A1-F6EECF244321}">
                <p14:modId xmlns:p14="http://schemas.microsoft.com/office/powerpoint/2010/main" val="2022626806"/>
              </p:ext>
            </p:extLst>
          </p:nvPr>
        </p:nvGraphicFramePr>
        <p:xfrm>
          <a:off x="365760" y="1854200"/>
          <a:ext cx="8412480" cy="2921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4047900839"/>
                    </a:ext>
                  </a:extLst>
                </a:gridCol>
                <a:gridCol w="3175000">
                  <a:extLst>
                    <a:ext uri="{9D8B030D-6E8A-4147-A177-3AD203B41FA5}">
                      <a16:colId xmlns:a16="http://schemas.microsoft.com/office/drawing/2014/main" val="3534758197"/>
                    </a:ext>
                  </a:extLst>
                </a:gridCol>
                <a:gridCol w="2824480">
                  <a:extLst>
                    <a:ext uri="{9D8B030D-6E8A-4147-A177-3AD203B41FA5}">
                      <a16:colId xmlns:a16="http://schemas.microsoft.com/office/drawing/2014/main" val="1351055183"/>
                    </a:ext>
                  </a:extLst>
                </a:gridCol>
              </a:tblGrid>
              <a:tr h="444500">
                <a:tc>
                  <a:txBody>
                    <a:bodyPr/>
                    <a:lstStyle/>
                    <a:p>
                      <a:pPr>
                        <a:spcAft>
                          <a:spcPts val="0"/>
                        </a:spcAft>
                        <a:buFontTx/>
                        <a:buNone/>
                      </a:pPr>
                      <a:r>
                        <a:rPr lang="en-US" sz="1600" b="1">
                          <a:solidFill>
                            <a:srgbClr val="FFFFFF"/>
                          </a:solidFill>
                          <a:latin typeface="Lato" panose="020F0502020204030203" pitchFamily="34" charset="0"/>
                        </a:rPr>
                        <a:t>Thành phần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Đã triển khai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Vì sao cần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522302651"/>
                  </a:ext>
                </a:extLst>
              </a:tr>
              <a:tr h="619125">
                <a:tc>
                  <a:txBody>
                    <a:bodyPr/>
                    <a:lstStyle/>
                    <a:p>
                      <a:pPr>
                        <a:spcAft>
                          <a:spcPts val="0"/>
                        </a:spcAft>
                        <a:buFontTx/>
                        <a:buNone/>
                      </a:pPr>
                      <a:r>
                        <a:rPr lang="en-US" sz="1600" b="0">
                          <a:solidFill>
                            <a:srgbClr val="262626"/>
                          </a:solidFill>
                          <a:latin typeface="Lato" panose="020F0502020204030203" pitchFamily="34" charset="0"/>
                        </a:rPr>
                        <a:t>Luồng $D → CSV</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Sequence, timestamp μs, raw 2 kênh, filtered, lead-off</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Lưu mọi mẫu nhận hợp lệ; giữ dữ liệu để xử lý lại</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029127384"/>
                  </a:ext>
                </a:extLst>
              </a:tr>
              <a:tr h="619125">
                <a:tc>
                  <a:txBody>
                    <a:bodyPr/>
                    <a:lstStyle/>
                    <a:p>
                      <a:pPr>
                        <a:spcAft>
                          <a:spcPts val="0"/>
                        </a:spcAft>
                        <a:buFontTx/>
                        <a:buNone/>
                      </a:pPr>
                      <a:r>
                        <a:rPr lang="en-US" sz="1600" b="0">
                          <a:solidFill>
                            <a:srgbClr val="262626"/>
                          </a:solidFill>
                          <a:latin typeface="Lato" panose="020F0502020204030203" pitchFamily="34" charset="0"/>
                        </a:rPr>
                        <a:t>SampleClock</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Phát hiện gap, duplicate, wrap uint32 và reboot</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Phân biệt mất mẫu với tràn timestamp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375970883"/>
                  </a:ext>
                </a:extLst>
              </a:tr>
              <a:tr h="619125">
                <a:tc>
                  <a:txBody>
                    <a:bodyPr/>
                    <a:lstStyle/>
                    <a:p>
                      <a:pPr>
                        <a:spcAft>
                          <a:spcPts val="0"/>
                        </a:spcAft>
                        <a:buFontTx/>
                        <a:buNone/>
                      </a:pPr>
                      <a:r>
                        <a:rPr lang="en-US" sz="1600" b="0">
                          <a:solidFill>
                            <a:srgbClr val="262626"/>
                          </a:solidFill>
                          <a:latin typeface="Lato" panose="020F0502020204030203" pitchFamily="34" charset="0"/>
                        </a:rPr>
                        <a:t>Web localhost:8765</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Raw/filtered, envelope, mức nền, SPS, ghi CSV và lệnh</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Theo dõi tín hiệu trong lúc thu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625715915"/>
                  </a:ext>
                </a:extLst>
              </a:tr>
              <a:tr h="619125">
                <a:tc>
                  <a:txBody>
                    <a:bodyPr/>
                    <a:lstStyle/>
                    <a:p>
                      <a:pPr>
                        <a:spcAft>
                          <a:spcPts val="0"/>
                        </a:spcAft>
                        <a:buFontTx/>
                        <a:buNone/>
                      </a:pPr>
                      <a:r>
                        <a:rPr lang="en-US" sz="1600" b="0">
                          <a:solidFill>
                            <a:srgbClr val="262626"/>
                          </a:solidFill>
                          <a:latin typeface="Lato" panose="020F0502020204030203" pitchFamily="34" charset="0"/>
                        </a:rPr>
                        <a:t>Telemetry / UI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Telemetry khoảng 50 Hz; vẽ khoảng 25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Giảm tải hiển thị so với luồng mẫu đầy đủ</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160881098"/>
                  </a:ext>
                </a:extLst>
              </a:tr>
            </a:tbl>
          </a:graphicData>
        </a:graphic>
      </p:graphicFrame>
      <p:sp>
        <p:nvSpPr>
          <p:cNvPr id="3" name="TextBox 2">
            <a:extLst>
              <a:ext uri="{FF2B5EF4-FFF2-40B4-BE49-F238E27FC236}">
                <a16:creationId xmlns:a16="http://schemas.microsoft.com/office/drawing/2014/main" id="{568AC4FA-7302-15D5-B737-91870D169E85}"/>
              </a:ext>
            </a:extLst>
          </p:cNvPr>
          <p:cNvSpPr txBox="1"/>
          <p:nvPr/>
        </p:nvSpPr>
        <p:spPr>
          <a:xfrm>
            <a:off x="365760" y="5041899"/>
            <a:ext cx="8412480" cy="1130300"/>
          </a:xfrm>
          <a:prstGeom prst="rect">
            <a:avLst/>
          </a:prstGeom>
          <a:noFill/>
        </p:spPr>
        <p:txBody>
          <a:bodyPr vert="horz" wrap="square" lIns="0" tIns="0" rIns="0" bIns="0" rtlCol="0">
            <a:noAutofit/>
          </a:bodyPr>
          <a:lstStyle/>
          <a:p>
            <a:r>
              <a:rPr lang="vi-VN" sz="1700">
                <a:solidFill>
                  <a:srgbClr val="262626"/>
                </a:solidFill>
                <a:latin typeface="Lato" panose="020F0502020204030203" pitchFamily="34" charset="0"/>
              </a:rPr>
              <a:t>Recorder và web dùng dữ liệu mẫu để tính tốc độ thực nhận. Đồ thị xem nhanh đã giảm số điểm; CSV giữ mọi dòng $D hợp lệ nhận được. Cần xem sequence để kiểm tra tính liên tục.</a:t>
            </a:r>
            <a:endParaRPr lang="en-US" sz="1700">
              <a:solidFill>
                <a:srgbClr val="262626"/>
              </a:solidFill>
              <a:latin typeface="Lato" panose="020F0502020204030203" pitchFamily="34" charset="0"/>
            </a:endParaRPr>
          </a:p>
        </p:txBody>
      </p:sp>
    </p:spTree>
    <p:extLst>
      <p:ext uri="{BB962C8B-B14F-4D97-AF65-F5344CB8AC3E}">
        <p14:creationId xmlns:p14="http://schemas.microsoft.com/office/powerpoint/2010/main" val="2540336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MỨC KÍCH HOẠT VÀ PHÂN TÍCH OFFLINE</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61</a:t>
            </a:r>
          </a:p>
        </p:txBody>
      </p:sp>
      <p:sp>
        <p:nvSpPr>
          <p:cNvPr id="2" name="TextBox 1">
            <a:extLst>
              <a:ext uri="{FF2B5EF4-FFF2-40B4-BE49-F238E27FC236}">
                <a16:creationId xmlns:a16="http://schemas.microsoft.com/office/drawing/2014/main" id="{8E0F86BC-946D-4C1A-03EF-09472F15389A}"/>
              </a:ext>
            </a:extLst>
          </p:cNvPr>
          <p:cNvSpPr txBox="1"/>
          <p:nvPr/>
        </p:nvSpPr>
        <p:spPr>
          <a:xfrm>
            <a:off x="365760" y="1904999"/>
            <a:ext cx="3898900" cy="381000"/>
          </a:xfrm>
          <a:prstGeom prst="rect">
            <a:avLst/>
          </a:prstGeom>
          <a:noFill/>
        </p:spPr>
        <p:txBody>
          <a:bodyPr vert="horz" wrap="square" lIns="0" tIns="0" rIns="0" bIns="0" rtlCol="0">
            <a:noAutofit/>
          </a:bodyPr>
          <a:lstStyle/>
          <a:p>
            <a:r>
              <a:rPr lang="en-US" b="1">
                <a:solidFill>
                  <a:srgbClr val="262626"/>
                </a:solidFill>
                <a:latin typeface="Lato" panose="020F0502020204030203" pitchFamily="34" charset="0"/>
              </a:rPr>
              <a:t>Trên ESP32</a:t>
            </a:r>
          </a:p>
        </p:txBody>
      </p:sp>
      <p:sp>
        <p:nvSpPr>
          <p:cNvPr id="3" name="TextBox 2">
            <a:extLst>
              <a:ext uri="{FF2B5EF4-FFF2-40B4-BE49-F238E27FC236}">
                <a16:creationId xmlns:a16="http://schemas.microsoft.com/office/drawing/2014/main" id="{E01A3965-9EA1-B61A-7296-4272E2F9C04A}"/>
              </a:ext>
            </a:extLst>
          </p:cNvPr>
          <p:cNvSpPr txBox="1"/>
          <p:nvPr/>
        </p:nvSpPr>
        <p:spPr>
          <a:xfrm>
            <a:off x="365760" y="2412999"/>
            <a:ext cx="3898900" cy="3403600"/>
          </a:xfrm>
          <a:prstGeom prst="rect">
            <a:avLst/>
          </a:prstGeom>
          <a:noFill/>
        </p:spPr>
        <p:txBody>
          <a:bodyPr vert="horz" wrap="square" lIns="0" tIns="0" rIns="0" bIns="0" rtlCol="0">
            <a:noAutofit/>
          </a:bodyPr>
          <a:lstStyle/>
          <a:p>
            <a:pPr marL="152400" indent="-152400">
              <a:spcAft>
                <a:spcPts val="1000"/>
              </a:spcAft>
              <a:buFont typeface="+mj-lt"/>
              <a:buChar char="•"/>
            </a:pPr>
            <a:r>
              <a:rPr lang="vi-VN" sz="1700">
                <a:solidFill>
                  <a:srgbClr val="262626"/>
                </a:solidFill>
                <a:latin typeface="Lato" panose="020F0502020204030203" pitchFamily="34" charset="0"/>
              </a:rPr>
              <a:t>Chỉnh lưu |filtered| rồi EMA để tạo đường bao dễ quan sát.</a:t>
            </a:r>
          </a:p>
          <a:p>
            <a:pPr marL="152400" indent="-152400">
              <a:spcAft>
                <a:spcPts val="1000"/>
              </a:spcAft>
              <a:buFont typeface="+mj-lt"/>
              <a:buChar char="•"/>
            </a:pPr>
            <a:r>
              <a:rPr lang="vi-VN" sz="1700">
                <a:solidFill>
                  <a:srgbClr val="262626"/>
                </a:solidFill>
                <a:latin typeface="Lato" panose="020F0502020204030203" pitchFamily="34" charset="0"/>
              </a:rPr>
              <a:t>Ước lượng mức nghỉ, ngưỡng nhiễu và peak; chuẩn hóa thành mức kích hoạt 0–100%.</a:t>
            </a:r>
          </a:p>
          <a:p>
            <a:pPr marL="152400" indent="-152400">
              <a:spcAft>
                <a:spcPts val="1000"/>
              </a:spcAft>
              <a:buFont typeface="+mj-lt"/>
              <a:buChar char="•"/>
            </a:pPr>
            <a:r>
              <a:rPr lang="vi-VN" sz="1700">
                <a:solidFill>
                  <a:srgbClr val="262626"/>
                </a:solidFill>
                <a:latin typeface="Lato" panose="020F0502020204030203" pitchFamily="34" charset="0"/>
              </a:rPr>
              <a:t>Có hiệu chuẩn mức nghỉ và chỉnh độ nhạy; phần trăm chưa phải lực hoặc %MVC.</a:t>
            </a:r>
            <a:endParaRPr lang="en-US" sz="1700">
              <a:solidFill>
                <a:srgbClr val="262626"/>
              </a:solidFill>
              <a:latin typeface="Lato" panose="020F0502020204030203" pitchFamily="34" charset="0"/>
            </a:endParaRPr>
          </a:p>
        </p:txBody>
      </p:sp>
      <p:sp>
        <p:nvSpPr>
          <p:cNvPr id="6" name="TextBox 5">
            <a:extLst>
              <a:ext uri="{FF2B5EF4-FFF2-40B4-BE49-F238E27FC236}">
                <a16:creationId xmlns:a16="http://schemas.microsoft.com/office/drawing/2014/main" id="{D8F8EFE3-57AC-1CF2-B5E9-5739958422CA}"/>
              </a:ext>
            </a:extLst>
          </p:cNvPr>
          <p:cNvSpPr txBox="1"/>
          <p:nvPr/>
        </p:nvSpPr>
        <p:spPr>
          <a:xfrm>
            <a:off x="4711700" y="1904999"/>
            <a:ext cx="4064000" cy="381000"/>
          </a:xfrm>
          <a:prstGeom prst="rect">
            <a:avLst/>
          </a:prstGeom>
          <a:noFill/>
        </p:spPr>
        <p:txBody>
          <a:bodyPr vert="horz" wrap="square" lIns="0" tIns="0" rIns="0" bIns="0" rtlCol="0">
            <a:noAutofit/>
          </a:bodyPr>
          <a:lstStyle/>
          <a:p>
            <a:r>
              <a:rPr lang="en-US" b="1">
                <a:solidFill>
                  <a:srgbClr val="262626"/>
                </a:solidFill>
                <a:latin typeface="Lato" panose="020F0502020204030203" pitchFamily="34" charset="0"/>
              </a:rPr>
              <a:t>Trên máy tính</a:t>
            </a:r>
          </a:p>
        </p:txBody>
      </p:sp>
      <p:sp>
        <p:nvSpPr>
          <p:cNvPr id="7" name="TextBox 6">
            <a:extLst>
              <a:ext uri="{FF2B5EF4-FFF2-40B4-BE49-F238E27FC236}">
                <a16:creationId xmlns:a16="http://schemas.microsoft.com/office/drawing/2014/main" id="{13730114-DAC9-4346-7C2E-8051513E0181}"/>
              </a:ext>
            </a:extLst>
          </p:cNvPr>
          <p:cNvSpPr txBox="1"/>
          <p:nvPr/>
        </p:nvSpPr>
        <p:spPr>
          <a:xfrm>
            <a:off x="4711700" y="2412999"/>
            <a:ext cx="4064000" cy="3403600"/>
          </a:xfrm>
          <a:prstGeom prst="rect">
            <a:avLst/>
          </a:prstGeom>
          <a:noFill/>
        </p:spPr>
        <p:txBody>
          <a:bodyPr vert="horz" wrap="square" lIns="0" tIns="0" rIns="0" bIns="0" rtlCol="0">
            <a:noAutofit/>
          </a:bodyPr>
          <a:lstStyle/>
          <a:p>
            <a:pPr marL="152400" indent="-152400">
              <a:spcAft>
                <a:spcPts val="1000"/>
              </a:spcAft>
              <a:buFont typeface="+mj-lt"/>
              <a:buChar char="•"/>
            </a:pPr>
            <a:r>
              <a:rPr lang="vi-VN" sz="1700">
                <a:solidFill>
                  <a:srgbClr val="262626"/>
                </a:solidFill>
                <a:latin typeface="Lato" panose="020F0502020204030203" pitchFamily="34" charset="0"/>
              </a:rPr>
              <a:t>analyze_semg.py xử lý lại raw, lọc offline và xuất CSV đã lọc.</a:t>
            </a:r>
          </a:p>
          <a:p>
            <a:pPr marL="152400" indent="-152400">
              <a:spcAft>
                <a:spcPts val="1000"/>
              </a:spcAft>
              <a:buFont typeface="+mj-lt"/>
              <a:buChar char="•"/>
            </a:pPr>
            <a:r>
              <a:rPr lang="vi-VN" sz="1700">
                <a:solidFill>
                  <a:srgbClr val="262626"/>
                </a:solidFill>
                <a:latin typeface="Lato" panose="020F0502020204030203" pitchFamily="34" charset="0"/>
              </a:rPr>
              <a:t>Tính RMS, MAV, WL, ZC, SSC, SSI; xem MDF và MNF theo cửa sổ.</a:t>
            </a:r>
          </a:p>
          <a:p>
            <a:pPr marL="152400" indent="-152400">
              <a:spcAft>
                <a:spcPts val="1000"/>
              </a:spcAft>
              <a:buFont typeface="+mj-lt"/>
              <a:buChar char="•"/>
            </a:pPr>
            <a:r>
              <a:rPr lang="vi-VN" sz="1700">
                <a:solidFill>
                  <a:srgbClr val="262626"/>
                </a:solidFill>
                <a:latin typeface="Lato" panose="020F0502020204030203" pitchFamily="34" charset="0"/>
              </a:rPr>
              <a:t>Công cụ khảo sát; ngưỡng suy luận mỏi và xử lý gap cần kiểm định trước khi dùng nghiên cứu.</a:t>
            </a:r>
            <a:endParaRPr lang="en-US" sz="1700">
              <a:solidFill>
                <a:srgbClr val="262626"/>
              </a:solidFill>
              <a:latin typeface="Lato" panose="020F0502020204030203" pitchFamily="34" charset="0"/>
            </a:endParaRPr>
          </a:p>
        </p:txBody>
      </p:sp>
      <p:sp>
        <p:nvSpPr>
          <p:cNvPr id="8" name="TextBox 7">
            <a:extLst>
              <a:ext uri="{FF2B5EF4-FFF2-40B4-BE49-F238E27FC236}">
                <a16:creationId xmlns:a16="http://schemas.microsoft.com/office/drawing/2014/main" id="{5950870F-CB8A-2346-D25D-DEB34D1635A5}"/>
              </a:ext>
            </a:extLst>
          </p:cNvPr>
          <p:cNvSpPr txBox="1"/>
          <p:nvPr/>
        </p:nvSpPr>
        <p:spPr>
          <a:xfrm>
            <a:off x="365760" y="5905499"/>
            <a:ext cx="8412480" cy="304800"/>
          </a:xfrm>
          <a:prstGeom prst="rect">
            <a:avLst/>
          </a:prstGeom>
          <a:noFill/>
        </p:spPr>
        <p:txBody>
          <a:bodyPr vert="horz" wrap="square" lIns="0" tIns="0" rIns="0" bIns="0" rtlCol="0">
            <a:noAutofit/>
          </a:bodyPr>
          <a:lstStyle/>
          <a:p>
            <a:r>
              <a:rPr lang="vi-VN" sz="1400">
                <a:solidFill>
                  <a:srgbClr val="262626"/>
                </a:solidFill>
                <a:latin typeface="Lato" panose="020F0502020204030203" pitchFamily="34" charset="0"/>
              </a:rPr>
              <a:t>Chưa triển khai 54 đặc trưng + Random Forest hoặc baseline suy luận trên chip.</a:t>
            </a:r>
            <a:endParaRPr lang="en-US" sz="1400">
              <a:solidFill>
                <a:srgbClr val="262626"/>
              </a:solidFill>
              <a:latin typeface="Lato" panose="020F0502020204030203" pitchFamily="34" charset="0"/>
            </a:endParaRPr>
          </a:p>
        </p:txBody>
      </p:sp>
    </p:spTree>
    <p:extLst>
      <p:ext uri="{BB962C8B-B14F-4D97-AF65-F5344CB8AC3E}">
        <p14:creationId xmlns:p14="http://schemas.microsoft.com/office/powerpoint/2010/main" val="37411794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KIỂM TRA ĐÃ LÀM · BUILD VÀ LOGIC THU DỮ LIỆU</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62</a:t>
            </a:r>
          </a:p>
        </p:txBody>
      </p:sp>
      <p:graphicFrame>
        <p:nvGraphicFramePr>
          <p:cNvPr id="2" name="Table 1">
            <a:extLst>
              <a:ext uri="{FF2B5EF4-FFF2-40B4-BE49-F238E27FC236}">
                <a16:creationId xmlns:a16="http://schemas.microsoft.com/office/drawing/2014/main" id="{62C6F865-E110-0C68-6DC2-6A6EC115E5E6}"/>
              </a:ext>
            </a:extLst>
          </p:cNvPr>
          <p:cNvGraphicFramePr>
            <a:graphicFrameLocks noGrp="1"/>
          </p:cNvGraphicFramePr>
          <p:nvPr>
            <p:extLst>
              <p:ext uri="{D42A27DB-BD31-4B8C-83A1-F6EECF244321}">
                <p14:modId xmlns:p14="http://schemas.microsoft.com/office/powerpoint/2010/main" val="3159167943"/>
              </p:ext>
            </p:extLst>
          </p:nvPr>
        </p:nvGraphicFramePr>
        <p:xfrm>
          <a:off x="365760" y="1879600"/>
          <a:ext cx="8412480" cy="2476500"/>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1840268077"/>
                    </a:ext>
                  </a:extLst>
                </a:gridCol>
                <a:gridCol w="2628900">
                  <a:extLst>
                    <a:ext uri="{9D8B030D-6E8A-4147-A177-3AD203B41FA5}">
                      <a16:colId xmlns:a16="http://schemas.microsoft.com/office/drawing/2014/main" val="3802199167"/>
                    </a:ext>
                  </a:extLst>
                </a:gridCol>
                <a:gridCol w="2799080">
                  <a:extLst>
                    <a:ext uri="{9D8B030D-6E8A-4147-A177-3AD203B41FA5}">
                      <a16:colId xmlns:a16="http://schemas.microsoft.com/office/drawing/2014/main" val="332000219"/>
                    </a:ext>
                  </a:extLst>
                </a:gridCol>
              </a:tblGrid>
              <a:tr h="444500">
                <a:tc>
                  <a:txBody>
                    <a:bodyPr/>
                    <a:lstStyle/>
                    <a:p>
                      <a:pPr>
                        <a:spcAft>
                          <a:spcPts val="0"/>
                        </a:spcAft>
                        <a:buFontTx/>
                        <a:buNone/>
                      </a:pPr>
                      <a:r>
                        <a:rPr lang="en-US" sz="1700" b="1">
                          <a:solidFill>
                            <a:srgbClr val="FFFFFF"/>
                          </a:solidFill>
                          <a:latin typeface="Lato" panose="020F0502020204030203" pitchFamily="34" charset="0"/>
                        </a:rPr>
                        <a:t>Hạng mục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700" b="1">
                          <a:solidFill>
                            <a:srgbClr val="FFFFFF"/>
                          </a:solidFill>
                          <a:latin typeface="Lato" panose="020F0502020204030203" pitchFamily="34" charset="0"/>
                        </a:rPr>
                        <a:t>MPU6050</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700" b="1">
                          <a:solidFill>
                            <a:srgbClr val="FFFFFF"/>
                          </a:solidFill>
                          <a:latin typeface="Lato" panose="020F0502020204030203" pitchFamily="34" charset="0"/>
                        </a:rPr>
                        <a:t>ADS1292R</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83783682"/>
                  </a:ext>
                </a:extLst>
              </a:tr>
              <a:tr h="508000">
                <a:tc>
                  <a:txBody>
                    <a:bodyPr/>
                    <a:lstStyle/>
                    <a:p>
                      <a:pPr>
                        <a:spcAft>
                          <a:spcPts val="0"/>
                        </a:spcAft>
                        <a:buFontTx/>
                        <a:buNone/>
                      </a:pPr>
                      <a:r>
                        <a:rPr lang="en-US" sz="1700" b="0">
                          <a:solidFill>
                            <a:srgbClr val="262626"/>
                          </a:solidFill>
                          <a:latin typeface="Lato" panose="020F0502020204030203" pitchFamily="34" charset="0"/>
                        </a:rPr>
                        <a:t>Biên dịch PlatformIO</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SUCCESS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SUCCESS sau sửa bộ lọc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473776897"/>
                  </a:ext>
                </a:extLst>
              </a:tr>
              <a:tr h="508000">
                <a:tc>
                  <a:txBody>
                    <a:bodyPr/>
                    <a:lstStyle/>
                    <a:p>
                      <a:pPr>
                        <a:spcAft>
                          <a:spcPts val="0"/>
                        </a:spcAft>
                        <a:buFontTx/>
                        <a:buNone/>
                      </a:pPr>
                      <a:r>
                        <a:rPr lang="en-US" sz="1700" b="0">
                          <a:solidFill>
                            <a:srgbClr val="262626"/>
                          </a:solidFill>
                          <a:latin typeface="Lato" panose="020F0502020204030203" pitchFamily="34" charset="0"/>
                        </a:rPr>
                        <a:t>RAM tĩnh báo bởi build</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18.928 byte</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19.652 byte</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924332222"/>
                  </a:ext>
                </a:extLst>
              </a:tr>
              <a:tr h="508000">
                <a:tc>
                  <a:txBody>
                    <a:bodyPr/>
                    <a:lstStyle/>
                    <a:p>
                      <a:pPr>
                        <a:spcAft>
                          <a:spcPts val="0"/>
                        </a:spcAft>
                        <a:buFontTx/>
                        <a:buNone/>
                      </a:pPr>
                      <a:r>
                        <a:rPr lang="en-US" sz="1700" b="0">
                          <a:solidFill>
                            <a:srgbClr val="262626"/>
                          </a:solidFill>
                          <a:latin typeface="Lato" panose="020F0502020204030203" pitchFamily="34" charset="0"/>
                        </a:rPr>
                        <a:t>Flash báo bởi build</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271.937 byte</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288.893 byte</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204596287"/>
                  </a:ext>
                </a:extLst>
              </a:tr>
              <a:tr h="508000">
                <a:tc>
                  <a:txBody>
                    <a:bodyPr/>
                    <a:lstStyle/>
                    <a:p>
                      <a:pPr>
                        <a:spcAft>
                          <a:spcPts val="0"/>
                        </a:spcAft>
                        <a:buFontTx/>
                        <a:buNone/>
                      </a:pPr>
                      <a:r>
                        <a:rPr lang="en-US" sz="1700" b="0">
                          <a:solidFill>
                            <a:srgbClr val="262626"/>
                          </a:solidFill>
                          <a:latin typeface="Lato" panose="020F0502020204030203" pitchFamily="34" charset="0"/>
                        </a:rPr>
                        <a:t>Kiểm thử Python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Chưa có test riêng MPU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7/7 đạt: clock và recorder</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4129052105"/>
                  </a:ext>
                </a:extLst>
              </a:tr>
            </a:tbl>
          </a:graphicData>
        </a:graphic>
      </p:graphicFrame>
      <p:sp>
        <p:nvSpPr>
          <p:cNvPr id="3" name="TextBox 2">
            <a:extLst>
              <a:ext uri="{FF2B5EF4-FFF2-40B4-BE49-F238E27FC236}">
                <a16:creationId xmlns:a16="http://schemas.microsoft.com/office/drawing/2014/main" id="{390775D9-0810-7882-CF70-689DB7F641FA}"/>
              </a:ext>
            </a:extLst>
          </p:cNvPr>
          <p:cNvSpPr txBox="1"/>
          <p:nvPr/>
        </p:nvSpPr>
        <p:spPr>
          <a:xfrm>
            <a:off x="365760" y="4571999"/>
            <a:ext cx="8412480" cy="1562100"/>
          </a:xfrm>
          <a:prstGeom prst="rect">
            <a:avLst/>
          </a:prstGeom>
          <a:noFill/>
        </p:spPr>
        <p:txBody>
          <a:bodyPr vert="horz" wrap="square" lIns="0" tIns="0" rIns="0" bIns="0" rtlCol="0">
            <a:noAutofit/>
          </a:bodyPr>
          <a:lstStyle/>
          <a:p>
            <a:pPr marL="152400" indent="-152400">
              <a:spcAft>
                <a:spcPts val="1000"/>
              </a:spcAft>
              <a:buFont typeface="+mj-lt"/>
              <a:buChar char="•"/>
            </a:pPr>
            <a:r>
              <a:rPr lang="vi-VN" sz="1600">
                <a:solidFill>
                  <a:srgbClr val="262626"/>
                </a:solidFill>
                <a:latin typeface="Lato" panose="020F0502020204030203" pitchFamily="34" charset="0"/>
              </a:rPr>
              <a:t>Test ADS kiểm tốc độ, mất mẫu, mẫu trùng, tràn uint32, reboot và ghi luồng xen telemetry.</a:t>
            </a:r>
          </a:p>
          <a:p>
            <a:pPr marL="152400" indent="-152400">
              <a:spcAft>
                <a:spcPts val="1000"/>
              </a:spcAft>
              <a:buFont typeface="+mj-lt"/>
              <a:buChar char="•"/>
            </a:pPr>
            <a:r>
              <a:rPr lang="vi-VN" sz="1600">
                <a:solidFill>
                  <a:srgbClr val="262626"/>
                </a:solidFill>
                <a:latin typeface="Lato" panose="020F0502020204030203" pitchFamily="34" charset="0"/>
              </a:rPr>
              <a:t>RAM/Flash thuộc hai cấu hình board khác nhau; chưa phải chi phí model.</a:t>
            </a:r>
          </a:p>
          <a:p>
            <a:pPr marL="152400" indent="-152400">
              <a:spcAft>
                <a:spcPts val="1000"/>
              </a:spcAft>
              <a:buFont typeface="+mj-lt"/>
              <a:buChar char="•"/>
            </a:pPr>
            <a:r>
              <a:rPr lang="vi-VN" sz="1600">
                <a:solidFill>
                  <a:srgbClr val="262626"/>
                </a:solidFill>
                <a:latin typeface="Lato" panose="020F0502020204030203" pitchFamily="34" charset="0"/>
              </a:rPr>
              <a:t>Chưa đo jitter, SNR, CMRR, năng lượng, thời lượng pin hoặc checkpoint G3.</a:t>
            </a:r>
            <a:endParaRPr lang="en-US" sz="1600">
              <a:solidFill>
                <a:srgbClr val="262626"/>
              </a:solidFill>
              <a:latin typeface="Lato" panose="020F0502020204030203" pitchFamily="34" charset="0"/>
            </a:endParaRPr>
          </a:p>
        </p:txBody>
      </p:sp>
    </p:spTree>
    <p:extLst>
      <p:ext uri="{BB962C8B-B14F-4D97-AF65-F5344CB8AC3E}">
        <p14:creationId xmlns:p14="http://schemas.microsoft.com/office/powerpoint/2010/main" val="3796328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VIỆC CÒN LẠI · NHIỄU, ĐỒNG BỘ VÀ CHECKPOINT G3</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63</a:t>
            </a:r>
          </a:p>
        </p:txBody>
      </p:sp>
      <p:graphicFrame>
        <p:nvGraphicFramePr>
          <p:cNvPr id="2" name="Table 1">
            <a:extLst>
              <a:ext uri="{FF2B5EF4-FFF2-40B4-BE49-F238E27FC236}">
                <a16:creationId xmlns:a16="http://schemas.microsoft.com/office/drawing/2014/main" id="{8FC6695B-ED07-A7BA-9837-BA51A7E0C875}"/>
              </a:ext>
            </a:extLst>
          </p:cNvPr>
          <p:cNvGraphicFramePr>
            <a:graphicFrameLocks noGrp="1"/>
          </p:cNvGraphicFramePr>
          <p:nvPr>
            <p:extLst>
              <p:ext uri="{D42A27DB-BD31-4B8C-83A1-F6EECF244321}">
                <p14:modId xmlns:p14="http://schemas.microsoft.com/office/powerpoint/2010/main" val="3756273616"/>
              </p:ext>
            </p:extLst>
          </p:nvPr>
        </p:nvGraphicFramePr>
        <p:xfrm>
          <a:off x="365760" y="1866900"/>
          <a:ext cx="8412480" cy="3568700"/>
        </p:xfrm>
        <a:graphic>
          <a:graphicData uri="http://schemas.openxmlformats.org/drawingml/2006/table">
            <a:tbl>
              <a:tblPr firstRow="1" bandRow="1">
                <a:tableStyleId>{5C22544A-7EE6-4342-B048-85BDC9FD1C3A}</a:tableStyleId>
              </a:tblPr>
              <a:tblGrid>
                <a:gridCol w="2565400">
                  <a:extLst>
                    <a:ext uri="{9D8B030D-6E8A-4147-A177-3AD203B41FA5}">
                      <a16:colId xmlns:a16="http://schemas.microsoft.com/office/drawing/2014/main" val="1837287009"/>
                    </a:ext>
                  </a:extLst>
                </a:gridCol>
                <a:gridCol w="3632200">
                  <a:extLst>
                    <a:ext uri="{9D8B030D-6E8A-4147-A177-3AD203B41FA5}">
                      <a16:colId xmlns:a16="http://schemas.microsoft.com/office/drawing/2014/main" val="1133910567"/>
                    </a:ext>
                  </a:extLst>
                </a:gridCol>
                <a:gridCol w="2214880">
                  <a:extLst>
                    <a:ext uri="{9D8B030D-6E8A-4147-A177-3AD203B41FA5}">
                      <a16:colId xmlns:a16="http://schemas.microsoft.com/office/drawing/2014/main" val="2777559106"/>
                    </a:ext>
                  </a:extLst>
                </a:gridCol>
              </a:tblGrid>
              <a:tr h="444500">
                <a:tc>
                  <a:txBody>
                    <a:bodyPr/>
                    <a:lstStyle/>
                    <a:p>
                      <a:pPr>
                        <a:spcAft>
                          <a:spcPts val="0"/>
                        </a:spcAft>
                        <a:buFontTx/>
                        <a:buNone/>
                      </a:pPr>
                      <a:r>
                        <a:rPr lang="en-US" sz="1600" b="1">
                          <a:solidFill>
                            <a:srgbClr val="FFFFFF"/>
                          </a:solidFill>
                          <a:latin typeface="Lato" panose="020F0502020204030203" pitchFamily="34" charset="0"/>
                        </a:rPr>
                        <a:t>Việc tiếp theo</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Mục đích / bằng chứng cần có</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Trạng thái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348352903"/>
                  </a:ext>
                </a:extLst>
              </a:tr>
              <a:tr h="781050">
                <a:tc>
                  <a:txBody>
                    <a:bodyPr/>
                    <a:lstStyle/>
                    <a:p>
                      <a:pPr>
                        <a:spcAft>
                          <a:spcPts val="0"/>
                        </a:spcAft>
                        <a:buFontTx/>
                        <a:buNone/>
                      </a:pPr>
                      <a:r>
                        <a:rPr lang="en-US" sz="1600" b="0">
                          <a:solidFill>
                            <a:srgbClr val="262626"/>
                          </a:solidFill>
                          <a:latin typeface="Lato" panose="020F0502020204030203" pitchFamily="34" charset="0"/>
                        </a:rPr>
                        <a:t>Đo nguồn nhiễu ADS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Raw/filtered, phổ 50/100 Hz, clip và mất mẫu; đối chiếu điện cực, dây và nguồn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ADS còn nhiễu; chưa định lượng</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56070799"/>
                  </a:ext>
                </a:extLst>
              </a:tr>
              <a:tr h="781050">
                <a:tc>
                  <a:txBody>
                    <a:bodyPr/>
                    <a:lstStyle/>
                    <a:p>
                      <a:pPr>
                        <a:spcAft>
                          <a:spcPts val="0"/>
                        </a:spcAft>
                        <a:buFontTx/>
                        <a:buNone/>
                      </a:pPr>
                      <a:r>
                        <a:rPr lang="en-US" sz="1600" b="0">
                          <a:solidFill>
                            <a:srgbClr val="262626"/>
                          </a:solidFill>
                          <a:latin typeface="Lato" panose="020F0502020204030203" pitchFamily="34" charset="0"/>
                        </a:rPr>
                        <a:t>Kiểm đáp ứng mạch + DSP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Đo gain, dải tần, pha và nhiễu bằng tín hiệu tham chiếu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Chưa thực hiện G3</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335828945"/>
                  </a:ext>
                </a:extLst>
              </a:tr>
              <a:tr h="781050">
                <a:tc>
                  <a:txBody>
                    <a:bodyPr/>
                    <a:lstStyle/>
                    <a:p>
                      <a:pPr>
                        <a:spcAft>
                          <a:spcPts val="0"/>
                        </a:spcAft>
                        <a:buFontTx/>
                        <a:buNone/>
                      </a:pPr>
                      <a:r>
                        <a:rPr lang="en-US" sz="1600" b="0">
                          <a:solidFill>
                            <a:srgbClr val="262626"/>
                          </a:solidFill>
                          <a:latin typeface="Lato" panose="020F0502020204030203" pitchFamily="34" charset="0"/>
                        </a:rPr>
                        <a:t>Đồng bộ MPU + ADS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Thu chung clock, gắn sự kiện, tách rep; kiểm sai số thời gian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Hai nhánh đang độc lập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976718295"/>
                  </a:ext>
                </a:extLst>
              </a:tr>
              <a:tr h="781050">
                <a:tc>
                  <a:txBody>
                    <a:bodyPr/>
                    <a:lstStyle/>
                    <a:p>
                      <a:pPr>
                        <a:spcAft>
                          <a:spcPts val="0"/>
                        </a:spcAft>
                        <a:buFontTx/>
                        <a:buNone/>
                      </a:pPr>
                      <a:r>
                        <a:rPr lang="vi-VN" sz="1600" b="0">
                          <a:solidFill>
                            <a:srgbClr val="262626"/>
                          </a:solidFill>
                          <a:latin typeface="Lato" panose="020F0502020204030203" pitchFamily="34" charset="0"/>
                        </a:rPr>
                        <a:t>Đưa model lên ESP32</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Chuẩn hóa đặc trưng; đo trễ, RAM, Flash, năng lượng cùng cấu hình</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Chưa triển khai</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990967209"/>
                  </a:ext>
                </a:extLst>
              </a:tr>
            </a:tbl>
          </a:graphicData>
        </a:graphic>
      </p:graphicFrame>
      <p:sp>
        <p:nvSpPr>
          <p:cNvPr id="3" name="TextBox 2">
            <a:extLst>
              <a:ext uri="{FF2B5EF4-FFF2-40B4-BE49-F238E27FC236}">
                <a16:creationId xmlns:a16="http://schemas.microsoft.com/office/drawing/2014/main" id="{CA0D9F75-4E55-66F6-C556-1200B35BCA28}"/>
              </a:ext>
            </a:extLst>
          </p:cNvPr>
          <p:cNvSpPr txBox="1"/>
          <p:nvPr/>
        </p:nvSpPr>
        <p:spPr>
          <a:xfrm>
            <a:off x="365760" y="5651499"/>
            <a:ext cx="8412480" cy="558800"/>
          </a:xfrm>
          <a:prstGeom prst="rect">
            <a:avLst/>
          </a:prstGeom>
          <a:noFill/>
        </p:spPr>
        <p:txBody>
          <a:bodyPr vert="horz" wrap="square" lIns="0" tIns="0" rIns="0" bIns="0" rtlCol="0">
            <a:noAutofit/>
          </a:bodyPr>
          <a:lstStyle/>
          <a:p>
            <a:r>
              <a:rPr lang="vi-VN" sz="1600">
                <a:solidFill>
                  <a:srgbClr val="262626"/>
                </a:solidFill>
                <a:latin typeface="Lato" panose="020F0502020204030203" pitchFamily="34" charset="0"/>
              </a:rPr>
              <a:t>Ưu tiên có bản ghi sạch và liên tục trước khi đánh giá mỏi cơ. Khóa ngưỡng G3 trước lần phát lại đầu tiên theo kế hoạch của nhóm.</a:t>
            </a:r>
            <a:endParaRPr lang="en-US" sz="1600">
              <a:solidFill>
                <a:srgbClr val="262626"/>
              </a:solidFill>
              <a:latin typeface="Lato" panose="020F0502020204030203" pitchFamily="34" charset="0"/>
            </a:endParaRPr>
          </a:p>
        </p:txBody>
      </p:sp>
    </p:spTree>
    <p:extLst>
      <p:ext uri="{BB962C8B-B14F-4D97-AF65-F5344CB8AC3E}">
        <p14:creationId xmlns:p14="http://schemas.microsoft.com/office/powerpoint/2010/main" val="1403318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GIAI ĐOẠN PHẦN CỨNG</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BẢNG CHI PHÍ CỦA TỪNG PHƯƠNG ÁN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64</a:t>
            </a:r>
          </a:p>
        </p:txBody>
      </p:sp>
      <p:graphicFrame>
        <p:nvGraphicFramePr>
          <p:cNvPr id="17" name="Table 16"/>
          <p:cNvGraphicFramePr>
            <a:graphicFrameLocks noGrp="1"/>
          </p:cNvGraphicFramePr>
          <p:nvPr/>
        </p:nvGraphicFramePr>
        <p:xfrm>
          <a:off x="274320" y="1737360"/>
          <a:ext cx="8229600" cy="3163824"/>
        </p:xfrm>
        <a:graphic>
          <a:graphicData uri="http://schemas.openxmlformats.org/drawingml/2006/table">
            <a:tbl>
              <a:tblPr/>
              <a:tblGrid>
                <a:gridCol w="16002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621792">
                  <a:extLst>
                    <a:ext uri="{9D8B030D-6E8A-4147-A177-3AD203B41FA5}">
                      <a16:colId xmlns:a16="http://schemas.microsoft.com/office/drawing/2014/main" val="20003"/>
                    </a:ext>
                  </a:extLst>
                </a:gridCol>
                <a:gridCol w="512064">
                  <a:extLst>
                    <a:ext uri="{9D8B030D-6E8A-4147-A177-3AD203B41FA5}">
                      <a16:colId xmlns:a16="http://schemas.microsoft.com/office/drawing/2014/main" val="20004"/>
                    </a:ext>
                  </a:extLst>
                </a:gridCol>
                <a:gridCol w="566928">
                  <a:extLst>
                    <a:ext uri="{9D8B030D-6E8A-4147-A177-3AD203B41FA5}">
                      <a16:colId xmlns:a16="http://schemas.microsoft.com/office/drawing/2014/main" val="20005"/>
                    </a:ext>
                  </a:extLst>
                </a:gridCol>
                <a:gridCol w="566928">
                  <a:extLst>
                    <a:ext uri="{9D8B030D-6E8A-4147-A177-3AD203B41FA5}">
                      <a16:colId xmlns:a16="http://schemas.microsoft.com/office/drawing/2014/main" val="20006"/>
                    </a:ext>
                  </a:extLst>
                </a:gridCol>
                <a:gridCol w="603504">
                  <a:extLst>
                    <a:ext uri="{9D8B030D-6E8A-4147-A177-3AD203B41FA5}">
                      <a16:colId xmlns:a16="http://schemas.microsoft.com/office/drawing/2014/main" val="20007"/>
                    </a:ext>
                  </a:extLst>
                </a:gridCol>
                <a:gridCol w="603504">
                  <a:extLst>
                    <a:ext uri="{9D8B030D-6E8A-4147-A177-3AD203B41FA5}">
                      <a16:colId xmlns:a16="http://schemas.microsoft.com/office/drawing/2014/main" val="20008"/>
                    </a:ext>
                  </a:extLst>
                </a:gridCol>
                <a:gridCol w="658368">
                  <a:extLst>
                    <a:ext uri="{9D8B030D-6E8A-4147-A177-3AD203B41FA5}">
                      <a16:colId xmlns:a16="http://schemas.microsoft.com/office/drawing/2014/main" val="20009"/>
                    </a:ext>
                  </a:extLst>
                </a:gridCol>
                <a:gridCol w="530352">
                  <a:extLst>
                    <a:ext uri="{9D8B030D-6E8A-4147-A177-3AD203B41FA5}">
                      <a16:colId xmlns:a16="http://schemas.microsoft.com/office/drawing/2014/main" val="20010"/>
                    </a:ext>
                  </a:extLst>
                </a:gridCol>
              </a:tblGrid>
              <a:tr h="457200">
                <a:tc>
                  <a:txBody>
                    <a:bodyPr/>
                    <a:lstStyle/>
                    <a:p>
                      <a:pPr algn="l">
                        <a:spcAft>
                          <a:spcPts val="0"/>
                        </a:spcAft>
                      </a:pPr>
                      <a:r>
                        <a:rPr sz="10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Cảm biến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Thao tác người dùng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RIR</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Trễ (ms)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RAM (KB)</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Flash (KB)</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Thu (mJ/s)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Suy luận (mJ)</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000" b="1" i="0">
                          <a:solidFill>
                            <a:srgbClr val="FFFFFF"/>
                          </a:solidFill>
                          <a:latin typeface="Lato"/>
                        </a:rPr>
                        <a:t>Giờ pin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38328">
                <a:tc>
                  <a:txBody>
                    <a:bodyPr/>
                    <a:lstStyle/>
                    <a:p>
                      <a:pPr algn="l">
                        <a:spcAft>
                          <a:spcPts val="0"/>
                        </a:spcAft>
                      </a:pPr>
                      <a:r>
                        <a:rPr sz="105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3.107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38328">
                <a:tc>
                  <a:txBody>
                    <a:bodyPr/>
                    <a:lstStyle/>
                    <a:p>
                      <a:pPr algn="l">
                        <a:spcAft>
                          <a:spcPts val="0"/>
                        </a:spcAft>
                      </a:pPr>
                      <a:r>
                        <a:rPr sz="105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15.50%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2.599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extLst>
                  <a:ext uri="{0D108BD9-81ED-4DB2-BD59-A6C34878D82A}">
                    <a16:rowId xmlns:a16="http://schemas.microsoft.com/office/drawing/2014/main" val="10002"/>
                  </a:ext>
                </a:extLst>
              </a:tr>
              <a:tr h="338328">
                <a:tc>
                  <a:txBody>
                    <a:bodyPr/>
                    <a:lstStyle/>
                    <a:p>
                      <a:pPr algn="l">
                        <a:spcAft>
                          <a:spcPts val="0"/>
                        </a:spcAft>
                      </a:pPr>
                      <a:r>
                        <a:rPr sz="105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IMU / đồng hồ</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14.92%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2.504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extLst>
                  <a:ext uri="{0D108BD9-81ED-4DB2-BD59-A6C34878D82A}">
                    <a16:rowId xmlns:a16="http://schemas.microsoft.com/office/drawing/2014/main" val="10003"/>
                  </a:ext>
                </a:extLst>
              </a:tr>
              <a:tr h="338328">
                <a:tc>
                  <a:txBody>
                    <a:bodyPr/>
                    <a:lstStyle/>
                    <a:p>
                      <a:pPr algn="l">
                        <a:spcAft>
                          <a:spcPts val="0"/>
                        </a:spcAft>
                      </a:pPr>
                      <a:r>
                        <a:rPr sz="105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nhập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15.06%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2.512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extLst>
                  <a:ext uri="{0D108BD9-81ED-4DB2-BD59-A6C34878D82A}">
                    <a16:rowId xmlns:a16="http://schemas.microsoft.com/office/drawing/2014/main" val="10004"/>
                  </a:ext>
                </a:extLst>
              </a:tr>
              <a:tr h="338328">
                <a:tc>
                  <a:txBody>
                    <a:bodyPr/>
                    <a:lstStyle/>
                    <a:p>
                      <a:pPr algn="l">
                        <a:spcAft>
                          <a:spcPts val="0"/>
                        </a:spcAft>
                      </a:pPr>
                      <a:r>
                        <a:rPr sz="1050" b="1" i="0">
                          <a:solidFill>
                            <a:srgbClr val="262626"/>
                          </a:solidFill>
                          <a:latin typeface="Lato"/>
                        </a:rPr>
                        <a:t>Rep-count, ngoại suy</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nhập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13.90%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2.260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extLst>
                  <a:ext uri="{0D108BD9-81ED-4DB2-BD59-A6C34878D82A}">
                    <a16:rowId xmlns:a16="http://schemas.microsoft.com/office/drawing/2014/main" val="10005"/>
                  </a:ext>
                </a:extLst>
              </a:tr>
              <a:tr h="338328">
                <a:tc>
                  <a:txBody>
                    <a:bodyPr/>
                    <a:lstStyle/>
                    <a:p>
                      <a:pPr algn="l">
                        <a:spcAft>
                          <a:spcPts val="0"/>
                        </a:spcAft>
                      </a:pPr>
                      <a:r>
                        <a:rPr sz="1050" b="1" i="0">
                          <a:solidFill>
                            <a:srgbClr val="262626"/>
                          </a:solidFill>
                          <a:latin typeface="Lato"/>
                        </a:rPr>
                        <a:t>Rep-count (k, tải,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nhập tải,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12.67%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262626"/>
                          </a:solidFill>
                          <a:latin typeface="Lato"/>
                        </a:rPr>
                        <a:t>2.132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extLst>
                  <a:ext uri="{0D108BD9-81ED-4DB2-BD59-A6C34878D82A}">
                    <a16:rowId xmlns:a16="http://schemas.microsoft.com/office/drawing/2014/main" val="10006"/>
                  </a:ext>
                </a:extLst>
              </a:tr>
              <a:tr h="338328">
                <a:tc>
                  <a:txBody>
                    <a:bodyPr/>
                    <a:lstStyle/>
                    <a:p>
                      <a:pPr algn="l">
                        <a:spcAft>
                          <a:spcPts val="0"/>
                        </a:spcAft>
                      </a:pPr>
                      <a:r>
                        <a:rPr sz="1050" b="1" i="0">
                          <a:solidFill>
                            <a:srgbClr val="262626"/>
                          </a:solidFill>
                          <a:latin typeface="Lato"/>
                        </a:rPr>
                        <a:t>sEMG, theo MVIC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C02034"/>
                          </a:solidFill>
                          <a:latin typeface="Lato"/>
                        </a:rPr>
                        <a:t>sEMG + 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C02034"/>
                          </a:solidFill>
                          <a:latin typeface="Lato"/>
                        </a:rPr>
                        <a:t>đo MVIC đầu buổi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C02034"/>
                          </a:solidFill>
                          <a:latin typeface="Lato"/>
                        </a:rPr>
                        <a:t>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C02034"/>
                          </a:solidFill>
                          <a:latin typeface="Lato"/>
                        </a:rPr>
                        <a:t>2.861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extLst>
                  <a:ext uri="{0D108BD9-81ED-4DB2-BD59-A6C34878D82A}">
                    <a16:rowId xmlns:a16="http://schemas.microsoft.com/office/drawing/2014/main" val="10007"/>
                  </a:ext>
                </a:extLst>
              </a:tr>
              <a:tr h="338328">
                <a:tc>
                  <a:txBody>
                    <a:bodyPr/>
                    <a:lstStyle/>
                    <a:p>
                      <a:pPr algn="l">
                        <a:spcAft>
                          <a:spcPts val="0"/>
                        </a:spcAft>
                      </a:pPr>
                      <a:r>
                        <a:rPr sz="105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C02034"/>
                          </a:solidFill>
                          <a:latin typeface="Lato"/>
                        </a:rPr>
                        <a:t>sEMG + 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C02034"/>
                          </a:solidFill>
                          <a:latin typeface="Lato"/>
                        </a:rPr>
                        <a:t>3 rep đầu sạch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C02034"/>
                          </a:solidFill>
                          <a:latin typeface="Lato"/>
                        </a:rPr>
                        <a:t>20.62%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050" b="0" i="0">
                          <a:solidFill>
                            <a:srgbClr val="C02034"/>
                          </a:solidFill>
                          <a:latin typeface="Lato"/>
                        </a:rPr>
                        <a:t>2.589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2F2F2"/>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365760" y="5257800"/>
            <a:ext cx="8412480" cy="1005840"/>
          </a:xfrm>
          <a:prstGeom prst="rect">
            <a:avLst/>
          </a:prstGeom>
          <a:noFill/>
        </p:spPr>
        <p:txBody>
          <a:bodyPr wrap="square" lIns="36576" tIns="36576" rIns="36576" bIns="36576" anchor="t">
            <a:spAutoFit/>
          </a:bodyPr>
          <a:lstStyle/>
          <a:p>
            <a:pPr marL="164592" indent="-164592" algn="l">
              <a:lnSpc>
                <a:spcPct val="105000"/>
              </a:lnSpc>
              <a:spcAft>
                <a:spcPts val="300"/>
              </a:spcAft>
              <a:buClr>
                <a:srgbClr val="7F7F7F"/>
              </a:buClr>
              <a:buChar char="•"/>
            </a:pPr>
            <a:r>
              <a:rPr sz="1300" b="0" i="0">
                <a:solidFill>
                  <a:srgbClr val="262626"/>
                </a:solidFill>
                <a:latin typeface="Lato"/>
              </a:rPr>
              <a:t>Ô xám: con số phần cứng sẽ đo trên ESP32-S3 + ADS1292R, cùng board, cùng xung nhịp, cùng cách biên dịch.</a:t>
            </a:r>
          </a:p>
          <a:p>
            <a:pPr marL="164592" indent="-164592" algn="l">
              <a:lnSpc>
                <a:spcPct val="105000"/>
              </a:lnSpc>
              <a:spcAft>
                <a:spcPts val="300"/>
              </a:spcAft>
              <a:buClr>
                <a:srgbClr val="7F7F7F"/>
              </a:buClr>
              <a:buChar char="•"/>
            </a:pPr>
            <a:r>
              <a:rPr sz="1300" b="0" i="0">
                <a:solidFill>
                  <a:srgbClr val="262626"/>
                </a:solidFill>
                <a:latin typeface="Lato"/>
              </a:rPr>
              <a:t>Rep-count baseline không miễn phí: IMU chạy liên tục cộng thuật toán tách rep.</a:t>
            </a:r>
          </a:p>
          <a:p>
            <a:pPr marL="164592" indent="-164592" algn="l">
              <a:lnSpc>
                <a:spcPct val="105000"/>
              </a:lnSpc>
              <a:spcAft>
                <a:spcPts val="300"/>
              </a:spcAft>
              <a:buClr>
                <a:srgbClr val="7F7F7F"/>
              </a:buClr>
              <a:buChar char="•"/>
            </a:pPr>
            <a:r>
              <a:rPr sz="1300" b="0" i="0">
                <a:solidFill>
                  <a:srgbClr val="262626"/>
                </a:solidFill>
                <a:latin typeface="Lato"/>
              </a:rPr>
              <a:t>Năng lượng sEMG chủ yếu do mạch thu chạy liên tục, không do một lần suy luận mỗi 3 giây.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GIAI ĐOẠN PHẦN CỨNG</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PHÂN CÔNG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65</a:t>
            </a:r>
          </a:p>
        </p:txBody>
      </p:sp>
      <p:graphicFrame>
        <p:nvGraphicFramePr>
          <p:cNvPr id="17" name="Table 16"/>
          <p:cNvGraphicFramePr>
            <a:graphicFrameLocks noGrp="1"/>
          </p:cNvGraphicFramePr>
          <p:nvPr/>
        </p:nvGraphicFramePr>
        <p:xfrm>
          <a:off x="365760" y="1737360"/>
          <a:ext cx="8412480" cy="384048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65760">
                <a:tc>
                  <a:txBody>
                    <a:bodyPr/>
                    <a:lstStyle/>
                    <a:p>
                      <a:pPr algn="l">
                        <a:spcAft>
                          <a:spcPts val="0"/>
                        </a:spcAft>
                      </a:pPr>
                      <a:r>
                        <a:rPr sz="1300" b="1" i="0">
                          <a:solidFill>
                            <a:srgbClr val="FFFFFF"/>
                          </a:solidFill>
                          <a:latin typeface="Lato"/>
                        </a:rPr>
                        <a:t>Giai đoạn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Moi · phần cứng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Bình · nhúng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Trí · ML, viết, hỗ trợ</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868680">
                <a:tc>
                  <a:txBody>
                    <a:bodyPr/>
                    <a:lstStyle/>
                    <a:p>
                      <a:pPr algn="l">
                        <a:spcAft>
                          <a:spcPts val="0"/>
                        </a:spcAft>
                      </a:pPr>
                      <a:r>
                        <a:rPr sz="1300" b="1" i="0">
                          <a:solidFill>
                            <a:srgbClr val="262626"/>
                          </a:solidFill>
                          <a:latin typeface="Lato"/>
                        </a:rPr>
                        <a:t>Tuần 1–2</a:t>
                      </a:r>
                    </a:p>
                    <a:p>
                      <a:pPr algn="l">
                        <a:spcAft>
                          <a:spcPts val="0"/>
                        </a:spcAft>
                      </a:pPr>
                      <a:r>
                        <a:rPr sz="1300" b="1" i="0">
                          <a:solidFill>
                            <a:srgbClr val="262626"/>
                          </a:solidFill>
                          <a:latin typeface="Lato"/>
                        </a:rPr>
                        <a:t>21/9 → 4/10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Bring-up ADS1292R qua 4 tầng</a:t>
                      </a:r>
                    </a:p>
                    <a:p>
                      <a:pPr algn="l">
                        <a:spcAft>
                          <a:spcPts val="0"/>
                        </a:spcAft>
                      </a:pPr>
                      <a:r>
                        <a:rPr sz="1300" b="0" i="0">
                          <a:solidFill>
                            <a:srgbClr val="262626"/>
                          </a:solidFill>
                          <a:latin typeface="Lato"/>
                        </a:rPr>
                        <a:t>Đo dòng mạch thu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Driver đọc mẫu theo ngắt</a:t>
                      </a:r>
                    </a:p>
                    <a:p>
                      <a:pPr algn="l">
                        <a:spcAft>
                          <a:spcPts val="0"/>
                        </a:spcAft>
                      </a:pPr>
                      <a:r>
                        <a:rPr sz="1300" b="0" i="0">
                          <a:solidFill>
                            <a:srgbClr val="262626"/>
                          </a:solidFill>
                          <a:latin typeface="Lato"/>
                        </a:rPr>
                        <a:t>Cùng Moi gỡ lỗi giao tiếp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Giao định nghĩa và thông số</a:t>
                      </a:r>
                    </a:p>
                    <a:p>
                      <a:pPr algn="l">
                        <a:spcAft>
                          <a:spcPts val="0"/>
                        </a:spcAft>
                      </a:pPr>
                      <a:r>
                        <a:rPr sz="1300" b="0" i="0">
                          <a:solidFill>
                            <a:srgbClr val="262626"/>
                          </a:solidFill>
                          <a:latin typeface="Lato"/>
                        </a:rPr>
                        <a:t>Soạn email đạo đức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868680">
                <a:tc>
                  <a:txBody>
                    <a:bodyPr/>
                    <a:lstStyle/>
                    <a:p>
                      <a:pPr algn="l">
                        <a:spcAft>
                          <a:spcPts val="0"/>
                        </a:spcAft>
                      </a:pPr>
                      <a:r>
                        <a:rPr sz="1300" b="1" i="0">
                          <a:solidFill>
                            <a:srgbClr val="262626"/>
                          </a:solidFill>
                          <a:latin typeface="Lato"/>
                        </a:rPr>
                        <a:t>Tuần 3–5</a:t>
                      </a:r>
                    </a:p>
                    <a:p>
                      <a:pPr algn="l">
                        <a:spcAft>
                          <a:spcPts val="0"/>
                        </a:spcAft>
                      </a:pPr>
                      <a:r>
                        <a:rPr sz="1300" b="1" i="0">
                          <a:solidFill>
                            <a:srgbClr val="262626"/>
                          </a:solidFill>
                          <a:latin typeface="Lato"/>
                        </a:rPr>
                        <a:t>5/10 → 25/10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Đo nhiễu, CMRR, đáp ứng tần số</a:t>
                      </a:r>
                    </a:p>
                    <a:p>
                      <a:pPr algn="l">
                        <a:spcAft>
                          <a:spcPts val="0"/>
                        </a:spcAft>
                      </a:pPr>
                      <a:r>
                        <a:rPr sz="1300" b="0" i="0">
                          <a:solidFill>
                            <a:srgbClr val="262626"/>
                          </a:solidFill>
                          <a:latin typeface="Lato"/>
                        </a:rPr>
                        <a:t>Dựng và kiểm rig phát lại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54 đặc trưng bằng C</a:t>
                      </a:r>
                    </a:p>
                    <a:p>
                      <a:pPr algn="l">
                        <a:spcAft>
                          <a:spcPts val="0"/>
                        </a:spcAft>
                      </a:pPr>
                      <a:r>
                        <a:rPr sz="1300" b="0" i="0">
                          <a:solidFill>
                            <a:srgbClr val="262626"/>
                          </a:solidFill>
                          <a:latin typeface="Lato"/>
                        </a:rPr>
                        <a:t>Random Forest và baseline trên chip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Checklist chuyển giao; khoá ngưỡng G3</a:t>
                      </a:r>
                    </a:p>
                    <a:p>
                      <a:pPr algn="l">
                        <a:spcAft>
                          <a:spcPts val="0"/>
                        </a:spcAft>
                      </a:pPr>
                      <a:r>
                        <a:rPr sz="1300" b="0" i="0">
                          <a:solidFill>
                            <a:srgbClr val="262626"/>
                          </a:solidFill>
                          <a:latin typeface="Lato"/>
                        </a:rPr>
                        <a:t>Bảng điểm dự đoán; hình, bảng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868680">
                <a:tc>
                  <a:txBody>
                    <a:bodyPr/>
                    <a:lstStyle/>
                    <a:p>
                      <a:pPr algn="l">
                        <a:spcAft>
                          <a:spcPts val="0"/>
                        </a:spcAft>
                      </a:pPr>
                      <a:r>
                        <a:rPr sz="1300" b="1" i="0">
                          <a:solidFill>
                            <a:srgbClr val="262626"/>
                          </a:solidFill>
                          <a:latin typeface="Lato"/>
                        </a:rPr>
                        <a:t>Tuần 6–8</a:t>
                      </a:r>
                    </a:p>
                    <a:p>
                      <a:pPr algn="l">
                        <a:spcAft>
                          <a:spcPts val="0"/>
                        </a:spcAft>
                      </a:pPr>
                      <a:r>
                        <a:rPr sz="1300" b="1" i="0">
                          <a:solidFill>
                            <a:srgbClr val="262626"/>
                          </a:solidFill>
                          <a:latin typeface="Lato"/>
                        </a:rPr>
                        <a:t>26/10 → 15/11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Phát lại WSD qua mạch</a:t>
                      </a:r>
                    </a:p>
                    <a:p>
                      <a:pPr algn="l">
                        <a:spcAft>
                          <a:spcPts val="0"/>
                        </a:spcAft>
                      </a:pPr>
                      <a:r>
                        <a:rPr sz="1300" b="0" i="0">
                          <a:solidFill>
                            <a:srgbClr val="262626"/>
                          </a:solidFill>
                          <a:latin typeface="Lato"/>
                        </a:rPr>
                        <a:t>Đo năng lượng bốn chế độ</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Firmware bốn chế độ, đo tài nguyên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Viết Methods và Results</a:t>
                      </a:r>
                    </a:p>
                    <a:p>
                      <a:pPr algn="l">
                        <a:spcAft>
                          <a:spcPts val="0"/>
                        </a:spcAft>
                      </a:pPr>
                      <a:r>
                        <a:rPr sz="1300" b="0" i="0">
                          <a:solidFill>
                            <a:srgbClr val="262626"/>
                          </a:solidFill>
                          <a:latin typeface="Lato"/>
                        </a:rPr>
                        <a:t>Chạy G3 trên dữ liệu phát lại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868680">
                <a:tc>
                  <a:txBody>
                    <a:bodyPr/>
                    <a:lstStyle/>
                    <a:p>
                      <a:pPr algn="l">
                        <a:spcAft>
                          <a:spcPts val="0"/>
                        </a:spcAft>
                      </a:pPr>
                      <a:r>
                        <a:rPr sz="1300" b="1" i="0">
                          <a:solidFill>
                            <a:srgbClr val="262626"/>
                          </a:solidFill>
                          <a:latin typeface="Lato"/>
                        </a:rPr>
                        <a:t>Tuần 9–10</a:t>
                      </a:r>
                    </a:p>
                    <a:p>
                      <a:pPr algn="l">
                        <a:spcAft>
                          <a:spcPts val="0"/>
                        </a:spcAft>
                      </a:pPr>
                      <a:r>
                        <a:rPr sz="1300" b="1" i="0">
                          <a:solidFill>
                            <a:srgbClr val="262626"/>
                          </a:solidFill>
                          <a:latin typeface="Lato"/>
                        </a:rPr>
                        <a:t>16/11 → 29/11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Viết mục đặc tả phần cứng</a:t>
                      </a:r>
                    </a:p>
                    <a:p>
                      <a:pPr algn="l">
                        <a:spcAft>
                          <a:spcPts val="0"/>
                        </a:spcAft>
                      </a:pPr>
                      <a:r>
                        <a:rPr sz="1300" b="0" i="0">
                          <a:solidFill>
                            <a:srgbClr val="262626"/>
                          </a:solidFill>
                          <a:latin typeface="Lato"/>
                        </a:rPr>
                        <a:t>Đọc chéo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Viết mục triển khai nhúng</a:t>
                      </a:r>
                    </a:p>
                    <a:p>
                      <a:pPr algn="l">
                        <a:spcAft>
                          <a:spcPts val="0"/>
                        </a:spcAft>
                      </a:pPr>
                      <a:r>
                        <a:rPr sz="1300" b="0" i="0">
                          <a:solidFill>
                            <a:srgbClr val="262626"/>
                          </a:solidFill>
                          <a:latin typeface="Lato"/>
                        </a:rPr>
                        <a:t>Đọc chéo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Ghép bài: mở đầu, thảo luận, hạn chế</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CÁCH LÀM VIỆC VỚI AGENT AI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66</a:t>
            </a:r>
          </a:p>
        </p:txBody>
      </p:sp>
      <p:graphicFrame>
        <p:nvGraphicFramePr>
          <p:cNvPr id="17" name="Table 16"/>
          <p:cNvGraphicFramePr>
            <a:graphicFrameLocks noGrp="1"/>
          </p:cNvGraphicFramePr>
          <p:nvPr/>
        </p:nvGraphicFramePr>
        <p:xfrm>
          <a:off x="365760" y="1371600"/>
          <a:ext cx="8412480" cy="3218688"/>
        </p:xfrm>
        <a:graphic>
          <a:graphicData uri="http://schemas.openxmlformats.org/drawingml/2006/table">
            <a:tbl>
              <a:tblPr/>
              <a:tblGrid>
                <a:gridCol w="40233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384048">
                <a:tc>
                  <a:txBody>
                    <a:bodyPr/>
                    <a:lstStyle/>
                    <a:p>
                      <a:pPr algn="l">
                        <a:spcAft>
                          <a:spcPts val="0"/>
                        </a:spcAft>
                      </a:pPr>
                      <a:r>
                        <a:rPr sz="1400" b="1" i="0">
                          <a:solidFill>
                            <a:srgbClr val="FFFFFF"/>
                          </a:solidFill>
                          <a:latin typeface="Lato"/>
                        </a:rPr>
                        <a:t>Cơ chế kiểm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Sinh ra từ lỗi nào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66928">
                <a:tc>
                  <a:txBody>
                    <a:bodyPr/>
                    <a:lstStyle/>
                    <a:p>
                      <a:pPr algn="l">
                        <a:spcAft>
                          <a:spcPts val="0"/>
                        </a:spcAft>
                      </a:pPr>
                      <a:r>
                        <a:rPr sz="1400" b="1" i="0">
                          <a:solidFill>
                            <a:srgbClr val="262626"/>
                          </a:solidFill>
                          <a:latin typeface="Lato"/>
                        </a:rPr>
                        <a:t>Văn bản khai báo trước, có ngày; chỉ nối thêm kết quả</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Bốn phân tích post-hoc trên Zenodo, mỗi cái nghe hợp lý lúc xuất hiện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66928">
                <a:tc>
                  <a:txBody>
                    <a:bodyPr/>
                    <a:lstStyle/>
                    <a:p>
                      <a:pPr algn="l">
                        <a:spcAft>
                          <a:spcPts val="0"/>
                        </a:spcAft>
                      </a:pPr>
                      <a:r>
                        <a:rPr sz="1400" b="1" i="0">
                          <a:solidFill>
                            <a:srgbClr val="262626"/>
                          </a:solidFill>
                          <a:latin typeface="Lato"/>
                        </a:rPr>
                        <a:t>Hàm phán quyết bắt khai chiều dự đoán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Ba bug ở đoạn in phán quyết: đọc sai khoá, điều kiện một chiều nuốt hiệu đổi dấu, kiểm p mà không kiểm dấu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566928">
                <a:tc>
                  <a:txBody>
                    <a:bodyPr/>
                    <a:lstStyle/>
                    <a:p>
                      <a:pPr algn="l">
                        <a:spcAft>
                          <a:spcPts val="0"/>
                        </a:spcAft>
                      </a:pPr>
                      <a:r>
                        <a:rPr sz="1400" b="1" i="0">
                          <a:solidFill>
                            <a:srgbClr val="262626"/>
                          </a:solidFill>
                          <a:latin typeface="Lato"/>
                        </a:rPr>
                        <a:t>Kiểm cấu trúc (số rep, cột, lượt) trước khi in phán quyết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Cùng ba bug trên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566928">
                <a:tc>
                  <a:txBody>
                    <a:bodyPr/>
                    <a:lstStyle/>
                    <a:p>
                      <a:pPr algn="l">
                        <a:spcAft>
                          <a:spcPts val="0"/>
                        </a:spcAft>
                      </a:pPr>
                      <a:r>
                        <a:rPr sz="1400" b="1" i="0">
                          <a:solidFill>
                            <a:srgbClr val="262626"/>
                          </a:solidFill>
                          <a:latin typeface="Lato"/>
                        </a:rPr>
                        <a:t>Chặn data leakage ngay ở chữ ký hàm dự đoán; kiểm 612/612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Nguy cơ baseline ngoại suy đọc nhầm N_total của người test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566928">
                <a:tc>
                  <a:txBody>
                    <a:bodyPr/>
                    <a:lstStyle/>
                    <a:p>
                      <a:pPr algn="l">
                        <a:spcAft>
                          <a:spcPts val="0"/>
                        </a:spcAft>
                      </a:pPr>
                      <a:r>
                        <a:rPr sz="1400" b="1" i="0">
                          <a:solidFill>
                            <a:srgbClr val="262626"/>
                          </a:solidFill>
                          <a:latin typeface="Lato"/>
                        </a:rPr>
                        <a:t>Không ghi đè file kết quả</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Nguy cơ mất khả năng tái lập các con số đã báo cáo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
        <p:nvSpPr>
          <p:cNvPr id="18" name="TextBox 17"/>
          <p:cNvSpPr txBox="1"/>
          <p:nvPr/>
        </p:nvSpPr>
        <p:spPr>
          <a:xfrm>
            <a:off x="365760" y="4818888"/>
            <a:ext cx="8412480" cy="1280160"/>
          </a:xfrm>
          <a:prstGeom prst="rect">
            <a:avLst/>
          </a:prstGeom>
          <a:noFill/>
        </p:spPr>
        <p:txBody>
          <a:bodyPr wrap="square" lIns="36576" tIns="36576" rIns="36576" bIns="36576" anchor="t">
            <a:spAutoFit/>
          </a:bodyPr>
          <a:lstStyle/>
          <a:p>
            <a:pPr algn="l">
              <a:lnSpc>
                <a:spcPct val="105000"/>
              </a:lnSpc>
              <a:spcAft>
                <a:spcPts val="1000"/>
              </a:spcAft>
            </a:pPr>
            <a:r>
              <a:rPr sz="1500" b="0" i="0">
                <a:solidFill>
                  <a:srgbClr val="262626"/>
                </a:solidFill>
                <a:latin typeface="Lato"/>
              </a:rPr>
              <a:t>Bảng điểm dự đoán (</a:t>
            </a:r>
            <a:r>
              <a:rPr sz="1500" b="1" i="0">
                <a:solidFill>
                  <a:srgbClr val="262626"/>
                </a:solidFill>
                <a:latin typeface="Lato"/>
              </a:rPr>
              <a:t>số sơ bộ</a:t>
            </a:r>
            <a:r>
              <a:rPr sz="1500" b="0" i="0">
                <a:solidFill>
                  <a:srgbClr val="262626"/>
                </a:solidFill>
                <a:latin typeface="Lato"/>
              </a:rPr>
              <a:t>): trên WSD, 35 dự đoán khai trước, 27 sai; trong 14 dự đoán sai về sEMG so với phương án đơn giản, 12 lệch cùng một chiều: đánh giá thấp rep-count baseline.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ĐỀ XUẤT VÀ CÂU HỎI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67</a:t>
            </a:r>
          </a:p>
        </p:txBody>
      </p:sp>
      <p:sp>
        <p:nvSpPr>
          <p:cNvPr id="17" name="TextBox 16"/>
          <p:cNvSpPr txBox="1"/>
          <p:nvPr/>
        </p:nvSpPr>
        <p:spPr>
          <a:xfrm>
            <a:off x="365760" y="1371600"/>
            <a:ext cx="4023360" cy="411480"/>
          </a:xfrm>
          <a:prstGeom prst="rect">
            <a:avLst/>
          </a:prstGeom>
          <a:noFill/>
        </p:spPr>
        <p:txBody>
          <a:bodyPr wrap="square" lIns="36576" tIns="36576" rIns="36576" bIns="36576" anchor="t">
            <a:spAutoFit/>
          </a:bodyPr>
          <a:lstStyle/>
          <a:p>
            <a:pPr algn="l">
              <a:spcAft>
                <a:spcPts val="400"/>
              </a:spcAft>
            </a:pPr>
            <a:r>
              <a:rPr sz="1900" b="1" i="0">
                <a:solidFill>
                  <a:srgbClr val="1F3864"/>
                </a:solidFill>
                <a:latin typeface="Lato"/>
              </a:rPr>
              <a:t>Ba đề xuất</a:t>
            </a:r>
          </a:p>
        </p:txBody>
      </p:sp>
      <p:sp>
        <p:nvSpPr>
          <p:cNvPr id="18" name="Oval 17"/>
          <p:cNvSpPr/>
          <p:nvPr/>
        </p:nvSpPr>
        <p:spPr>
          <a:xfrm>
            <a:off x="365760" y="1993391"/>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i="0">
                <a:solidFill>
                  <a:srgbClr val="FFFFFF"/>
                </a:solidFill>
                <a:latin typeface="Lato"/>
              </a:rPr>
              <a:t>1</a:t>
            </a:r>
          </a:p>
        </p:txBody>
      </p:sp>
      <p:sp>
        <p:nvSpPr>
          <p:cNvPr id="19" name="TextBox 18"/>
          <p:cNvSpPr txBox="1"/>
          <p:nvPr/>
        </p:nvSpPr>
        <p:spPr>
          <a:xfrm>
            <a:off x="914400" y="1965960"/>
            <a:ext cx="3520440" cy="118872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Chuyển thành bài phương pháp, đích nộp BSPC.</a:t>
            </a:r>
          </a:p>
        </p:txBody>
      </p:sp>
      <p:sp>
        <p:nvSpPr>
          <p:cNvPr id="20" name="Oval 19"/>
          <p:cNvSpPr/>
          <p:nvPr/>
        </p:nvSpPr>
        <p:spPr>
          <a:xfrm>
            <a:off x="365760" y="3273551"/>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i="0">
                <a:solidFill>
                  <a:srgbClr val="FFFFFF"/>
                </a:solidFill>
                <a:latin typeface="Lato"/>
              </a:rPr>
              <a:t>2</a:t>
            </a:r>
          </a:p>
        </p:txBody>
      </p:sp>
      <p:sp>
        <p:nvSpPr>
          <p:cNvPr id="21" name="TextBox 20"/>
          <p:cNvSpPr txBox="1"/>
          <p:nvPr/>
        </p:nvSpPr>
        <p:spPr>
          <a:xfrm>
            <a:off x="914400" y="3246120"/>
            <a:ext cx="3520440" cy="118872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Chốt cấu trúc bảng chi phí: dòng, cột, đơn vị.</a:t>
            </a:r>
          </a:p>
        </p:txBody>
      </p:sp>
      <p:sp>
        <p:nvSpPr>
          <p:cNvPr id="22" name="Oval 21"/>
          <p:cNvSpPr/>
          <p:nvPr/>
        </p:nvSpPr>
        <p:spPr>
          <a:xfrm>
            <a:off x="365760" y="4553712"/>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i="0">
                <a:solidFill>
                  <a:srgbClr val="FFFFFF"/>
                </a:solidFill>
                <a:latin typeface="Lato"/>
              </a:rPr>
              <a:t>3</a:t>
            </a:r>
          </a:p>
        </p:txBody>
      </p:sp>
      <p:sp>
        <p:nvSpPr>
          <p:cNvPr id="23" name="TextBox 22"/>
          <p:cNvSpPr txBox="1"/>
          <p:nvPr/>
        </p:nvSpPr>
        <p:spPr>
          <a:xfrm>
            <a:off x="914400" y="4526279"/>
            <a:ext cx="3520440" cy="118872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Khoá ngưỡng checkpoint G3 trước lần phát lại đầu tiên, hạn 18/10.</a:t>
            </a:r>
          </a:p>
        </p:txBody>
      </p:sp>
      <p:sp>
        <p:nvSpPr>
          <p:cNvPr id="24" name="TextBox 23"/>
          <p:cNvSpPr txBox="1"/>
          <p:nvPr/>
        </p:nvSpPr>
        <p:spPr>
          <a:xfrm>
            <a:off x="4663440" y="1371600"/>
            <a:ext cx="4023360" cy="411480"/>
          </a:xfrm>
          <a:prstGeom prst="rect">
            <a:avLst/>
          </a:prstGeom>
          <a:noFill/>
        </p:spPr>
        <p:txBody>
          <a:bodyPr wrap="square" lIns="36576" tIns="36576" rIns="36576" bIns="36576" anchor="t">
            <a:spAutoFit/>
          </a:bodyPr>
          <a:lstStyle/>
          <a:p>
            <a:pPr algn="l">
              <a:spcAft>
                <a:spcPts val="400"/>
              </a:spcAft>
            </a:pPr>
            <a:r>
              <a:rPr sz="1900" b="1" i="0">
                <a:solidFill>
                  <a:srgbClr val="C02034"/>
                </a:solidFill>
                <a:latin typeface="Lato"/>
              </a:rPr>
              <a:t>Ba câu hỏi cho thầy</a:t>
            </a:r>
          </a:p>
        </p:txBody>
      </p:sp>
      <p:sp>
        <p:nvSpPr>
          <p:cNvPr id="25" name="Oval 24"/>
          <p:cNvSpPr/>
          <p:nvPr/>
        </p:nvSpPr>
        <p:spPr>
          <a:xfrm>
            <a:off x="4663440" y="1993391"/>
            <a:ext cx="411480" cy="41148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i="0">
                <a:solidFill>
                  <a:srgbClr val="FFFFFF"/>
                </a:solidFill>
                <a:latin typeface="Lato"/>
              </a:rPr>
              <a:t>1</a:t>
            </a:r>
          </a:p>
        </p:txBody>
      </p:sp>
      <p:sp>
        <p:nvSpPr>
          <p:cNvPr id="26" name="TextBox 25"/>
          <p:cNvSpPr txBox="1"/>
          <p:nvPr/>
        </p:nvSpPr>
        <p:spPr>
          <a:xfrm>
            <a:off x="5212079" y="1965960"/>
            <a:ext cx="3520440" cy="118872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Kết quả âm có đủ làm phát hiện chính, hay cần thêm một kết quả dương trước khi nộp?</a:t>
            </a:r>
          </a:p>
        </p:txBody>
      </p:sp>
      <p:sp>
        <p:nvSpPr>
          <p:cNvPr id="27" name="Oval 26"/>
          <p:cNvSpPr/>
          <p:nvPr/>
        </p:nvSpPr>
        <p:spPr>
          <a:xfrm>
            <a:off x="4663440" y="3273551"/>
            <a:ext cx="411480" cy="41148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i="0">
                <a:solidFill>
                  <a:srgbClr val="FFFFFF"/>
                </a:solidFill>
                <a:latin typeface="Lato"/>
              </a:rPr>
              <a:t>2</a:t>
            </a:r>
          </a:p>
        </p:txBody>
      </p:sp>
      <p:sp>
        <p:nvSpPr>
          <p:cNvPr id="28" name="TextBox 27"/>
          <p:cNvSpPr txBox="1"/>
          <p:nvPr/>
        </p:nvSpPr>
        <p:spPr>
          <a:xfrm>
            <a:off x="5212079" y="3246120"/>
            <a:ext cx="3520440" cy="118872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Có nên thử thu dữ liệu nhỏ ở tải cao, nhịp tự do, hay dừng hẳn việc thu 24 người?</a:t>
            </a:r>
          </a:p>
        </p:txBody>
      </p:sp>
      <p:sp>
        <p:nvSpPr>
          <p:cNvPr id="29" name="Oval 28"/>
          <p:cNvSpPr/>
          <p:nvPr/>
        </p:nvSpPr>
        <p:spPr>
          <a:xfrm>
            <a:off x="4663440" y="4553712"/>
            <a:ext cx="411480" cy="41148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500" b="1" i="0">
                <a:solidFill>
                  <a:srgbClr val="FFFFFF"/>
                </a:solidFill>
                <a:latin typeface="Lato"/>
              </a:rPr>
              <a:t>3</a:t>
            </a:r>
          </a:p>
        </p:txBody>
      </p:sp>
      <p:sp>
        <p:nvSpPr>
          <p:cNvPr id="30" name="TextBox 29"/>
          <p:cNvSpPr txBox="1"/>
          <p:nvPr/>
        </p:nvSpPr>
        <p:spPr>
          <a:xfrm>
            <a:off x="5212079" y="4526279"/>
            <a:ext cx="3520440" cy="118872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Dữ liệu công khai và dữ liệu tự đo trên chính tác giả có cần hồ sơ đạo đức không?</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r>
              <a:rPr lang="en-US"/>
              <a:t>68</a:t>
            </a:r>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572000"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600">
                <a:latin typeface="Lato"/>
              </a:rPr>
              <a:t>XIN CẢM ƠN!</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18463</Words>
  <Application>Microsoft Office PowerPoint</Application>
  <PresentationFormat>On-screen Show (4:3)</PresentationFormat>
  <Paragraphs>1301</Paragraphs>
  <Slides>68</Slides>
  <Notes>67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Arial</vt:lpstr>
      <vt:lpstr>Calibri</vt:lpstr>
      <vt:lpstr>Cambria Math</vt:lpstr>
      <vt:lpstr>Lato</vt:lpstr>
      <vt:lpstr>Office Theme</vt:lpstr>
      <vt:lpstr>PowerPoint Presentation</vt:lpstr>
      <vt:lpstr>ĐỊNH NGHĨA BÀI TOÁN</vt:lpstr>
      <vt:lpstr>THÔNG TIN NHẬN ĐƯỢC TỪ SEMG</vt:lpstr>
      <vt:lpstr>THÔNG TIN NHẬN ĐƯỢC TỪ SEMG</vt:lpstr>
      <vt:lpstr>CÁC NGHIÊN CỨU LIÊN QUAN</vt:lpstr>
      <vt:lpstr>NOVELTY</vt:lpstr>
      <vt:lpstr>HƯỚNG TIẾP CẬN</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QUÁ TRÌNH KIỂM ĐỊNH</vt:lpstr>
      <vt:lpstr>QUÁ TRÌNH KIỂM ĐỊNH</vt:lpstr>
      <vt:lpstr>QUÁ TRÌNH KIỂM ĐỊNH</vt:lpstr>
      <vt:lpstr>QUÁ TRÌNH KIỂM ĐỊNH</vt:lpstr>
      <vt:lpstr>QUÁ TRÌNH KIỂM ĐỊNH</vt:lpstr>
      <vt:lpstr>QUÁ TRÌNH KIỂM ĐỊNH</vt:lpstr>
      <vt:lpstr>KẾT QUẢ</vt:lpstr>
      <vt:lpstr>KẾT QUẢ</vt:lpstr>
      <vt:lpstr>KẾT QUẢ</vt:lpstr>
      <vt:lpstr>KẾT QUẢ</vt:lpstr>
      <vt:lpstr>KẾT QUẢ</vt:lpstr>
      <vt:lpstr>KẾT QUẢ</vt:lpstr>
      <vt:lpstr>ĐÁNH GIÁ GIAI ĐOẠN ZENODO</vt:lpstr>
      <vt:lpstr>ĐÁNH GIÁ GIAI ĐOẠN ZENODO</vt:lpstr>
      <vt:lpstr>XỬ LÍ SỐ LIỆU TRÊN CÁC DATASET CÔNG KHAI</vt:lpstr>
      <vt:lpstr>XỬ LÍ SỐ LIỆU TRÊN CÁC DATASET CÔNG KHAI</vt:lpstr>
      <vt:lpstr>XỬ LÍ SỐ LIỆU TRÊN CÁC DATASET CÔNG KHAI</vt:lpstr>
      <vt:lpstr>XỬ LÍ SỐ LIỆU TRÊN CÁC DATASET CÔNG KHAI</vt:lpstr>
      <vt:lpstr>KẾT QUẢ</vt:lpstr>
      <vt:lpstr>KẾT QUẢ</vt:lpstr>
      <vt:lpstr>KẾT QUẢ</vt:lpstr>
      <vt:lpstr>KẾT QUẢ</vt:lpstr>
      <vt:lpstr>KẾT QUẢ</vt:lpstr>
      <vt:lpstr>KẾT QUẢ</vt:lpstr>
      <vt:lpstr>KẾT QUẢ</vt:lpstr>
      <vt:lpstr>KẾT QUẢ</vt:lpstr>
      <vt:lpstr>KẾT QUẢ</vt:lpstr>
      <vt:lpstr>ĐỘ TIN CẬY CỦA KẾT QUẢ</vt:lpstr>
      <vt:lpstr>ĐỘ TIN CẬY CỦA KẾT QUẢ</vt:lpstr>
      <vt:lpstr>ĐỘ TIN CẬY CỦA KẾT QUẢ</vt:lpstr>
      <vt:lpstr>TỔNG KẾT</vt:lpstr>
      <vt:lpstr>TỔNG KẾT</vt:lpstr>
      <vt:lpstr>DÒNG THỜI GIAN</vt:lpstr>
      <vt:lpstr>ĐỊNH HƯỚNG TIẾP THEO</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CÁCH LÀM VIỆC VỚI AGENT AI</vt:lpstr>
      <vt:lpstr>ĐỀ XUẤT VÀ CÂU HỎI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Blizzard 123</cp:lastModifiedBy>
  <cp:revision>3</cp:revision>
  <dcterms:created xsi:type="dcterms:W3CDTF">2021-05-28T04:32:29Z</dcterms:created>
  <dcterms:modified xsi:type="dcterms:W3CDTF">2026-10-02T02:40:46Z</dcterms:modified>
</cp:coreProperties>
</file>